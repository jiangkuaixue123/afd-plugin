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dfed185c7c44b6" /><Relationship Type="http://schemas.openxmlformats.org/officeDocument/2006/relationships/extended-properties" Target="/docProps/app.xml" Id="R2e1e0f1c0a6c4ec4" /><Relationship Type="http://schemas.openxmlformats.org/officeDocument/2006/relationships/officeDocument" Target="/ppt/presentation.xml" Id="R689e916d0f594a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743239b2b47cc"/>
  </p:sldMasterIdLst>
  <p:notesMasterIdLst>
    <p:notesMasterId xmlns:r="http://schemas.openxmlformats.org/officeDocument/2006/relationships" r:id="Re80fedf6f89d4fa7"/>
  </p:notesMasterIdLst>
  <p:sldIdLst>
    <p:sldId xmlns:r="http://schemas.openxmlformats.org/officeDocument/2006/relationships" id="256" r:id="R6e3ab547831046a4"/>
    <p:sldId xmlns:r="http://schemas.openxmlformats.org/officeDocument/2006/relationships" id="257" r:id="Re447c4fe08d74bc6"/>
    <p:sldId xmlns:r="http://schemas.openxmlformats.org/officeDocument/2006/relationships" id="258" r:id="R4c11f24ab8c74a1b"/>
    <p:sldId xmlns:r="http://schemas.openxmlformats.org/officeDocument/2006/relationships" id="259" r:id="Rd5daccabd43c4b0f"/>
    <p:sldId xmlns:r="http://schemas.openxmlformats.org/officeDocument/2006/relationships" id="260" r:id="Rd68873d97553471e"/>
    <p:sldId xmlns:r="http://schemas.openxmlformats.org/officeDocument/2006/relationships" id="261" r:id="Rf7492c6bbe174dcc"/>
    <p:sldId xmlns:r="http://schemas.openxmlformats.org/officeDocument/2006/relationships" id="262" r:id="R4146f4264e6747f4"/>
    <p:sldId xmlns:r="http://schemas.openxmlformats.org/officeDocument/2006/relationships" id="263" r:id="R96699fa806834a79"/>
    <p:sldId xmlns:r="http://schemas.openxmlformats.org/officeDocument/2006/relationships" id="264" r:id="R65fbc4c6d38b4ab2"/>
    <p:sldId xmlns:r="http://schemas.openxmlformats.org/officeDocument/2006/relationships" id="265" r:id="R2e2af7f5904d49e5"/>
    <p:sldId xmlns:r="http://schemas.openxmlformats.org/officeDocument/2006/relationships" id="266" r:id="Rdb4d39373261463f"/>
    <p:sldId xmlns:r="http://schemas.openxmlformats.org/officeDocument/2006/relationships" id="267" r:id="Rb11ca968340a4d11"/>
    <p:sldId xmlns:r="http://schemas.openxmlformats.org/officeDocument/2006/relationships" id="268" r:id="R340f52d56ab84634"/>
    <p:sldId xmlns:r="http://schemas.openxmlformats.org/officeDocument/2006/relationships" id="269" r:id="R6953693879594ec9"/>
    <p:sldId xmlns:r="http://schemas.openxmlformats.org/officeDocument/2006/relationships" id="270" r:id="Rb69c548f289243d0"/>
    <p:sldId xmlns:r="http://schemas.openxmlformats.org/officeDocument/2006/relationships" id="271" r:id="Rb867b294d0a04045"/>
    <p:sldId xmlns:r="http://schemas.openxmlformats.org/officeDocument/2006/relationships" id="272" r:id="Rf8e044aebbd54bef"/>
    <p:sldId xmlns:r="http://schemas.openxmlformats.org/officeDocument/2006/relationships" id="273" r:id="R543ffd39f6144321"/>
    <p:sldId xmlns:r="http://schemas.openxmlformats.org/officeDocument/2006/relationships" id="274" r:id="R538994c8ff46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82f6f54bc4c4f" /><Relationship Type="http://schemas.openxmlformats.org/officeDocument/2006/relationships/slideMaster" Target="/ppt/slideMasters/slideMaster1.xml" Id="Rf05743239b2b47cc" /><Relationship Type="http://schemas.openxmlformats.org/officeDocument/2006/relationships/notesMaster" Target="/ppt/notesMasters/notesMaster1.xml" Id="Re80fedf6f89d4fa7" /><Relationship Type="http://schemas.openxmlformats.org/officeDocument/2006/relationships/presProps" Target="/ppt/presProps.xml" Id="R780f393224f14cf7" /><Relationship Type="http://schemas.openxmlformats.org/officeDocument/2006/relationships/viewProps" Target="/ppt/viewProps.xml" Id="R2c1ef587e7624df1" /><Relationship Type="http://schemas.openxmlformats.org/officeDocument/2006/relationships/tableStyles" Target="/ppt/tableStyles.xml" Id="R7e3f35da635d4182" /><Relationship Type="http://schemas.openxmlformats.org/officeDocument/2006/relationships/slide" Target="/ppt/slides/slide1.xml" Id="R6e3ab547831046a4" /><Relationship Type="http://schemas.openxmlformats.org/officeDocument/2006/relationships/slide" Target="/ppt/slides/slide2.xml" Id="Re447c4fe08d74bc6" /><Relationship Type="http://schemas.openxmlformats.org/officeDocument/2006/relationships/slide" Target="/ppt/slides/slide3.xml" Id="R4c11f24ab8c74a1b" /><Relationship Type="http://schemas.openxmlformats.org/officeDocument/2006/relationships/slide" Target="/ppt/slides/slide4.xml" Id="Rd5daccabd43c4b0f" /><Relationship Type="http://schemas.openxmlformats.org/officeDocument/2006/relationships/slide" Target="/ppt/slides/slide5.xml" Id="Rd68873d97553471e" /><Relationship Type="http://schemas.openxmlformats.org/officeDocument/2006/relationships/slide" Target="/ppt/slides/slide6.xml" Id="Rf7492c6bbe174dcc" /><Relationship Type="http://schemas.openxmlformats.org/officeDocument/2006/relationships/slide" Target="/ppt/slides/slide7.xml" Id="R4146f4264e6747f4" /><Relationship Type="http://schemas.openxmlformats.org/officeDocument/2006/relationships/slide" Target="/ppt/slides/slide8.xml" Id="R96699fa806834a79" /><Relationship Type="http://schemas.openxmlformats.org/officeDocument/2006/relationships/slide" Target="/ppt/slides/slide9.xml" Id="R65fbc4c6d38b4ab2" /><Relationship Type="http://schemas.openxmlformats.org/officeDocument/2006/relationships/slide" Target="/ppt/slides/slide10.xml" Id="R2e2af7f5904d49e5" /><Relationship Type="http://schemas.openxmlformats.org/officeDocument/2006/relationships/slide" Target="/ppt/slides/slide11.xml" Id="Rdb4d39373261463f" /><Relationship Type="http://schemas.openxmlformats.org/officeDocument/2006/relationships/slide" Target="/ppt/slides/slide12.xml" Id="Rb11ca968340a4d11" /><Relationship Type="http://schemas.openxmlformats.org/officeDocument/2006/relationships/slide" Target="/ppt/slides/slide13.xml" Id="R340f52d56ab84634" /><Relationship Type="http://schemas.openxmlformats.org/officeDocument/2006/relationships/slide" Target="/ppt/slides/slide14.xml" Id="R6953693879594ec9" /><Relationship Type="http://schemas.openxmlformats.org/officeDocument/2006/relationships/slide" Target="/ppt/slides/slide15.xml" Id="Rb69c548f289243d0" /><Relationship Type="http://schemas.openxmlformats.org/officeDocument/2006/relationships/slide" Target="/ppt/slides/slide16.xml" Id="Rb867b294d0a04045" /><Relationship Type="http://schemas.openxmlformats.org/officeDocument/2006/relationships/slide" Target="/ppt/slides/slide17.xml" Id="Rf8e044aebbd54bef" /><Relationship Type="http://schemas.openxmlformats.org/officeDocument/2006/relationships/slide" Target="/ppt/slides/slide18.xml" Id="R543ffd39f6144321" /><Relationship Type="http://schemas.openxmlformats.org/officeDocument/2006/relationships/slide" Target="/ppt/slides/slide19.xml" Id="R538994c8ff46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7ae37d2b1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e415350f34936" /><Relationship Type="http://schemas.openxmlformats.org/officeDocument/2006/relationships/notesMaster" Target="/ppt/notesMasters/notesMaster1.xml" Id="R9f15d3b0e125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d41af5c72486d" /><Relationship Type="http://schemas.openxmlformats.org/officeDocument/2006/relationships/notesMaster" Target="/ppt/notesMasters/notesMaster1.xml" Id="R5f520ab39ee7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8c9a7b92984a20" /><Relationship Type="http://schemas.openxmlformats.org/officeDocument/2006/relationships/notesMaster" Target="/ppt/notesMasters/notesMaster1.xml" Id="Rfef596fc91c7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b4d59c65b04362" /><Relationship Type="http://schemas.openxmlformats.org/officeDocument/2006/relationships/notesMaster" Target="/ppt/notesMasters/notesMaster1.xml" Id="R24c49d56d5934a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6a2fda2b0c4429" /><Relationship Type="http://schemas.openxmlformats.org/officeDocument/2006/relationships/notesMaster" Target="/ppt/notesMasters/notesMaster1.xml" Id="R0fe54bfe22d94d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bfae1988a34bed" /><Relationship Type="http://schemas.openxmlformats.org/officeDocument/2006/relationships/notesMaster" Target="/ppt/notesMasters/notesMaster1.xml" Id="R9c2d167b66ce43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704b53bb44774" /><Relationship Type="http://schemas.openxmlformats.org/officeDocument/2006/relationships/notesMaster" Target="/ppt/notesMasters/notesMaster1.xml" Id="Rf181ba946d43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688b062224adc" /><Relationship Type="http://schemas.openxmlformats.org/officeDocument/2006/relationships/notesMaster" Target="/ppt/notesMasters/notesMaster1.xml" Id="R205106549beb49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b3230dffc14097" /><Relationship Type="http://schemas.openxmlformats.org/officeDocument/2006/relationships/notesMaster" Target="/ppt/notesMasters/notesMaster1.xml" Id="Raa830e8cbf6a47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51b3be8d0848e5" /><Relationship Type="http://schemas.openxmlformats.org/officeDocument/2006/relationships/notesMaster" Target="/ppt/notesMasters/notesMaster1.xml" Id="R9cdf574c499e47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22a56c3bfa4d31" /><Relationship Type="http://schemas.openxmlformats.org/officeDocument/2006/relationships/notesMaster" Target="/ppt/notesMasters/notesMaster1.xml" Id="R3f22891cc32a41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f142f598964555" /><Relationship Type="http://schemas.openxmlformats.org/officeDocument/2006/relationships/notesMaster" Target="/ppt/notesMasters/notesMaster1.xml" Id="Ra8b1ccb89af044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8ac71c1fa44087" /><Relationship Type="http://schemas.openxmlformats.org/officeDocument/2006/relationships/notesMaster" Target="/ppt/notesMasters/notesMaster1.xml" Id="Rec1b655f6fd34f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ef1b46f1644ad5" /><Relationship Type="http://schemas.openxmlformats.org/officeDocument/2006/relationships/notesMaster" Target="/ppt/notesMasters/notesMaster1.xml" Id="R8d84e79ba0e7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b3ffe9bb9c411b" /><Relationship Type="http://schemas.openxmlformats.org/officeDocument/2006/relationships/notesMaster" Target="/ppt/notesMasters/notesMaster1.xml" Id="Rdf71597e35fc4b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d335259f3045e5" /><Relationship Type="http://schemas.openxmlformats.org/officeDocument/2006/relationships/notesMaster" Target="/ppt/notesMasters/notesMaster1.xml" Id="Re7f62e3f10cd45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f20df74e9e45cf" /><Relationship Type="http://schemas.openxmlformats.org/officeDocument/2006/relationships/notesMaster" Target="/ppt/notesMasters/notesMaster1.xml" Id="R8d4b8ab93a444c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20d9f2e12c4ce6" /><Relationship Type="http://schemas.openxmlformats.org/officeDocument/2006/relationships/notesMaster" Target="/ppt/notesMasters/notesMaster1.xml" Id="R53d4f4716c9e4a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27afc36b1c4fbb" /><Relationship Type="http://schemas.openxmlformats.org/officeDocument/2006/relationships/notesMaster" Target="/ppt/notesMasters/notesMaster1.xml" Id="Re0c102a086d1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 </a:t>
            </a:r>
            <a:r>
              <a:t>MoE </a:t>
            </a:r>
            <a:r>
              <a:t>模型的一项主要挑战，在于 </a:t>
            </a:r>
            <a:r>
              <a:t>Attention </a:t>
            </a:r>
            <a:r>
              <a:t>与 </a:t>
            </a:r>
            <a:r>
              <a:t>MoE </a:t>
            </a:r>
            <a:r>
              <a:t>层之间存在异构性。</a:t>
            </a:r>
            <a:endParaRPr/>
          </a:p>
          <a:p xmlns:a="http://schemas.openxmlformats.org/drawingml/2006/main">
            <a:r>
              <a:t>Attention </a:t>
            </a:r>
            <a:r>
              <a:t>受限于 </a:t>
            </a:r>
            <a:r>
              <a:t>KV Cache </a:t>
            </a:r>
            <a:r>
              <a:t>容量：随着上下文长度增加，一个解码批次能够容纳的活跃请求会越来越少。相比之下，</a:t>
            </a:r>
            <a:r>
              <a:t>MoE </a:t>
            </a:r>
            <a:r>
              <a:t>层需要足够大的批次，才能保证专家 </a:t>
            </a:r>
            <a:r>
              <a:t>GEMM </a:t>
            </a:r>
            <a:r>
              <a:t>运算的效率。</a:t>
            </a:r>
            <a:endParaRPr/>
          </a:p>
          <a:p xmlns:a="http://schemas.openxmlformats.org/drawingml/2006/main">
            <a:r>
              <a:t>因此，随着上下文变长，活跃解码批次逐渐缩小，</a:t>
            </a:r>
            <a:r>
              <a:t>Attention </a:t>
            </a:r>
            <a:r>
              <a:t>的开销主要由 </a:t>
            </a:r>
            <a:r>
              <a:t>KV Cache </a:t>
            </a:r>
            <a:r>
              <a:t>读取主导；与此同时，</a:t>
            </a:r>
            <a:r>
              <a:t>MoE </a:t>
            </a:r>
            <a:r>
              <a:t>无法获得高效执行专家计算所需的足够 </a:t>
            </a:r>
            <a:r>
              <a:t>Token </a:t>
            </a:r>
            <a:r>
              <a:t>数量。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AFD-Plugin.pptx, source slide 4 (architecture diagram, legend, component labels, and grouping).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/Users/jiangkuaixue/Desktop/vllm-afd-plugin-architecture.svg</a:t>
            </a:r>
          </a:p>
          <a:p xmlns:a="http://schemas.openxmlformats.org/drawingml/2006/main"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/Users/jiangkuaixue/Desktop/afd-connector-base-diagram-v2.png (built-in ImageGen output)</a:t>
            </a:r>
          </a:p>
          <a:p xmlns:a="http://schemas.openxmlformats.org/drawingml/2006/main">
            <a:r>
              <a:t>- /Users/jiangkuaixue/code/afd-plugin/afd_plugin/connectors/base.py</a:t>
            </a:r>
          </a:p>
          <a:p xmlns:a="http://schemas.openxmlformats.org/drawingml/2006/main"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</a:t>
            </a:r>
            <a:r>
              <a:t>补充基础方案的问题总结，引导推到到下一页</a:t>
            </a:r>
            <a:br/>
            <a:r>
              <a:t>P6</a:t>
            </a:r>
            <a:r>
              <a:t>华为云的性能结果分析补充一些总结描述</a:t>
            </a:r>
            <a:br/>
            <a:r>
              <a:t>增加一个跟</a:t>
            </a:r>
            <a:r>
              <a:t>VLLM</a:t>
            </a:r>
            <a:r>
              <a:t>当前的配合状态，放在华为云之前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https://github.com/vllm-project/afd-plugin/pull/186</a:t>
            </a:r>
          </a:p>
          <a:p xmlns:a="http://schemas.openxmlformats.org/drawingml/2006/main">
            <a:r>
              <a:t>https://github.com/vllm-project/afd-plugin/issues/169</a:t>
            </a:r>
          </a:p>
          <a:p xmlns:a="http://schemas.openxmlformats.org/drawingml/2006/main">
            <a:r>
              <a:t>https://github.com/vllm-project/afd-plugin/issues/179</a:t>
            </a:r>
          </a:p>
          <a:p xmlns:a="http://schemas.openxmlformats.org/drawingml/2006/main">
            <a:r>
              <a:t>https://github.com/vllm-project/afd-plugin/pull/191</a:t>
            </a:r>
          </a:p>
          <a:p xmlns:a="http://schemas.openxmlformats.org/drawingml/2006/main">
            <a:r>
              <a:t>https://github.com/vllm-project/afd-plugin/issues/202</a:t>
            </a:r>
          </a:p>
          <a:p xmlns:a="http://schemas.openxmlformats.org/drawingml/2006/main">
            <a:r>
              <a:t>https://github.com/vllm-project/afd-plugin/pull/205</a:t>
            </a:r>
          </a:p>
          <a:p xmlns:a="http://schemas.openxmlformats.org/drawingml/2006/main">
            <a:r>
              <a:t>https://github.com/vllm-project/afd-plugin/pull/216</a:t>
            </a:r>
          </a:p>
          <a:p xmlns:a="http://schemas.openxmlformats.org/drawingml/2006/main">
            <a:r>
              <a:t>https://github.com/vllm-project/afd-plugin/pull/222</a:t>
            </a:r>
          </a:p>
          <a:p xmlns:a="http://schemas.openxmlformats.org/drawingml/2006/main">
            <a:r>
              <a:t>https://github.com/vllm-project/afd-plugin/issues/224</a:t>
            </a:r>
          </a:p>
          <a:p xmlns:a="http://schemas.openxmlformats.org/drawingml/2006/main">
            <a:r>
              <a:t>https://github.com/vllm-project/afd-plugin/issues/227</a:t>
            </a:r>
          </a:p>
          <a:p xmlns:a="http://schemas.openxmlformats.org/drawingml/2006/main">
            <a:r>
              <a:t>https://github.com/vllm-project/afd-plugin/issues/228</a:t>
            </a:r>
          </a:p>
          <a:p xmlns:a="http://schemas.openxmlformats.org/drawingml/2006/main">
            <a:r>
              <a:t>Accessed 2026-08-12.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formal_0_1_2_vllm_bench.jsonl; SHA-256 1ebccbd149bc8f28568d3d5eced3911d2a9473fb015bdb829b898a26abf63d08</a:t>
            </a:r>
          </a:p>
          <a:p xmlns:a="http://schemas.openxmlformats.org/drawingml/2006/main">
            <a:r>
              <a:t>- scripts/dsv4-flash/run_bench_sweep.sh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/a3_inference/itask/workdir/wb02075298/jcz_afd7/code/bench_results/dsv4-flash/afd_dp6tp4_mbt16384_afd1_2_sharedcomp_nodsa_nomultistream_20260901_repeat</a:t>
            </a:r>
          </a:p>
          <a:p xmlns:a="http://schemas.openxmlformats.org/drawingml/2006/main">
            <a:r>
              <a:t>- /a3_inference/itask/workdir/wb02075298/jcz_afd7/code/bench_results/dsv4-flash/afd_dp6tp4_mbt32768_afd1_2_sharedcomp_nodsa_nomultistream_20260901</a:t>
            </a:r>
          </a:p>
          <a:p xmlns:a="http://schemas.openxmlformats.org/drawingml/2006/main">
            <a:r>
              <a:t>- /a3_inference/itask/workdir/wb02075298/jcz_afd7/code/bench_results/dsv4-flash/afd_dp6tp4_mbt65536_afd3_4_sharedcomp_nodsa_nomultistream_20260901_retry1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/a3_inference/itask/workdir/wb02075298/jcz_afd7/code/bench_results/dsv4-flash/ep16_mbt4096_afd3_4_sharedcomp_nodsa_nomultistream_rps234_20260901</a:t>
            </a:r>
          </a:p>
          <a:p xmlns:a="http://schemas.openxmlformats.org/drawingml/2006/main">
            <a:r>
              <a:t>- /a3_inference/itask/workdir/wb02075298/jcz_afd7/code/bench_results/dsv4-flash/ep16_mbt8192_afd4_sharedcomp_nodsa_nomultistream_rps234_20260901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/var/folders/h7/8sm59vvn3nscpn2gy243qc480000gp/T/codex-clipboard-0fc18eb8-63ae-4947-b576-28b726046282.png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d6fc49bc046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6086a47eb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A9DE2F-4C5D-4F54-8D75-358C5B605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15E28A5-5ABC-4701-89E8-6BB5D36552B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8838E39-B3FB-41E9-B1EE-873337794E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D54069-291D-447F-B856-DCA867DA8A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099F23A-CF44-4D74-B56F-56261B1687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0fa396bfa408b" /><Relationship Type="http://schemas.openxmlformats.org/officeDocument/2006/relationships/slideLayout" Target="/ppt/slideLayouts/slideLayout1.xml" Id="Re434f22dc9414140" /><Relationship Type="http://schemas.openxmlformats.org/officeDocument/2006/relationships/slideLayout" Target="/ppt/slideLayouts/slideLayout2.xml" Id="R2f252e9533fd4be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34f22dc9414140"/>
    <p:sldLayoutId xmlns:r="http://schemas.openxmlformats.org/officeDocument/2006/relationships" id="2147483650" r:id="R2f252e9533fd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5d673a2034f7b" /><Relationship Type="http://schemas.openxmlformats.org/officeDocument/2006/relationships/notesSlide" Target="/ppt/notesSlides/notesSlide1.xml" Id="Rd6a065d168d042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7821a7d84ac9" /><Relationship Type="http://schemas.openxmlformats.org/officeDocument/2006/relationships/image" Target="/ppt/media/image.png" Id="Rc474038c10f74c0d" /><Relationship Type="http://schemas.openxmlformats.org/officeDocument/2006/relationships/notesSlide" Target="/ppt/notesSlides/notesSlide2.xml" Id="Ra7bf463e57b9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d366307df4be8" /><Relationship Type="http://schemas.openxmlformats.org/officeDocument/2006/relationships/image" Target="/ppt/media/image2.png" Id="Rfca7266997ff42a0" /><Relationship Type="http://schemas.openxmlformats.org/officeDocument/2006/relationships/image" Target="/ppt/media/image3.png" Id="R1b5cc1471210416b" /><Relationship Type="http://schemas.openxmlformats.org/officeDocument/2006/relationships/image" Target="/ppt/media/image4.png" Id="R0462ebd178584782" /><Relationship Type="http://schemas.openxmlformats.org/officeDocument/2006/relationships/image" Target="/ppt/media/image5.png" Id="R0b04e85aadae4936" /><Relationship Type="http://schemas.openxmlformats.org/officeDocument/2006/relationships/image" Target="/ppt/media/image6.png" Id="Rd48ad234829f438e" /><Relationship Type="http://schemas.openxmlformats.org/officeDocument/2006/relationships/notesSlide" Target="/ppt/notesSlides/notesSlide3.xml" Id="R03bce3018e01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c8dd620554cf9" /><Relationship Type="http://schemas.openxmlformats.org/officeDocument/2006/relationships/image" Target="/ppt/media/image7.png" Id="R2118b75aaba3417d" /><Relationship Type="http://schemas.openxmlformats.org/officeDocument/2006/relationships/notesSlide" Target="/ppt/notesSlides/notesSlide4.xml" Id="R86675b715eea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ee3c3b8d414a" /><Relationship Type="http://schemas.openxmlformats.org/officeDocument/2006/relationships/image" Target="/ppt/media/image8.png" Id="Rfe59871b064f4ba5" /><Relationship Type="http://schemas.openxmlformats.org/officeDocument/2006/relationships/notesSlide" Target="/ppt/notesSlides/notesSlide5.xml" Id="Rbb2592690e4748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e53bfba004fc5" /><Relationship Type="http://schemas.openxmlformats.org/officeDocument/2006/relationships/image" Target="/ppt/media/image9.png" Id="Rf870622e44074b64" /><Relationship Type="http://schemas.openxmlformats.org/officeDocument/2006/relationships/notesSlide" Target="/ppt/notesSlides/notesSlide6.xml" Id="R9ab9e0d02361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c59c4bbc242fb" /><Relationship Type="http://schemas.openxmlformats.org/officeDocument/2006/relationships/image" Target="/ppt/media/image10.png" Id="R918ba08461df4b11" /><Relationship Type="http://schemas.openxmlformats.org/officeDocument/2006/relationships/notesSlide" Target="/ppt/notesSlides/notesSlide7.xml" Id="Rfcc4f013ca904a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72ac63e84f37" /><Relationship Type="http://schemas.openxmlformats.org/officeDocument/2006/relationships/image" Target="/ppt/media/image11.png" Id="R295e3e9fe4284621" /><Relationship Type="http://schemas.openxmlformats.org/officeDocument/2006/relationships/notesSlide" Target="/ppt/notesSlides/notesSlide8.xml" Id="R45984f7b9efc4a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0151698b6c4c00" /><Relationship Type="http://schemas.openxmlformats.org/officeDocument/2006/relationships/image" Target="/ppt/media/image12.png" Id="Rcbb67c9eae5f439b" /><Relationship Type="http://schemas.openxmlformats.org/officeDocument/2006/relationships/image" Target="/ppt/media/image13.png" Id="R08f26007bb7941a2" /><Relationship Type="http://schemas.openxmlformats.org/officeDocument/2006/relationships/image" Target="/ppt/media/image14.png" Id="R8042ae5e1737498e" /><Relationship Type="http://schemas.openxmlformats.org/officeDocument/2006/relationships/notesSlide" Target="/ppt/notesSlides/notesSlide9.xml" Id="Rdc02ba5b3a00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08a0484c94680" /><Relationship Type="http://schemas.openxmlformats.org/officeDocument/2006/relationships/image" Target="/ppt/media/image12.png" Id="R3f3c6be9076d46c5" /><Relationship Type="http://schemas.openxmlformats.org/officeDocument/2006/relationships/image" Target="/ppt/media/image13.png" Id="R8239823480134e78" /><Relationship Type="http://schemas.openxmlformats.org/officeDocument/2006/relationships/image" Target="/ppt/media/image14.png" Id="R64bc6128911943a2" /><Relationship Type="http://schemas.openxmlformats.org/officeDocument/2006/relationships/notesSlide" Target="/ppt/notesSlides/notesSlide10.xml" Id="Raa600a997c5540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840b25ba242bf" /><Relationship Type="http://schemas.openxmlformats.org/officeDocument/2006/relationships/image" Target="/ppt/media/image15.png" Id="R6a8285028f724c2e" /><Relationship Type="http://schemas.openxmlformats.org/officeDocument/2006/relationships/image" Target="/ppt/media/image16.png" Id="Rf00f3c6063c0486b" /><Relationship Type="http://schemas.openxmlformats.org/officeDocument/2006/relationships/notesSlide" Target="/ppt/notesSlides/notesSlide11.xml" Id="R3e110c14c7de44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e1680ede047c4" /><Relationship Type="http://schemas.openxmlformats.org/officeDocument/2006/relationships/image" Target="/ppt/media/image17.png" Id="R8eee58196d5d4021" /><Relationship Type="http://schemas.openxmlformats.org/officeDocument/2006/relationships/image" Target="/ppt/media/image18.png" Id="R3cc8b73d7a434d0f" /><Relationship Type="http://schemas.openxmlformats.org/officeDocument/2006/relationships/notesSlide" Target="/ppt/notesSlides/notesSlide12.xml" Id="R31311d2655a74a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7607d2aff43f1" /><Relationship Type="http://schemas.openxmlformats.org/officeDocument/2006/relationships/notesSlide" Target="/ppt/notesSlides/notesSlide13.xml" Id="R4aeb38e00b0f4e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b8a155d464ccc" /><Relationship Type="http://schemas.openxmlformats.org/officeDocument/2006/relationships/image" Target="/ppt/media/image19.png" Id="Rfd1de596645d40b0" /><Relationship Type="http://schemas.openxmlformats.org/officeDocument/2006/relationships/hyperlink" Target="https://github.com/vllm-project/afd-plugin" TargetMode="External" Id="R40835ce485494dee" /><Relationship Type="http://schemas.openxmlformats.org/officeDocument/2006/relationships/image" Target="/ppt/media/image20.png" Id="R913cd87dbe404670" /><Relationship Type="http://schemas.openxmlformats.org/officeDocument/2006/relationships/hyperlink" Target="https://vllm-dev.slack.com/archives/C0B4C1D84GG" TargetMode="External" Id="Rb6ddeb0e9be14855" /><Relationship Type="http://schemas.openxmlformats.org/officeDocument/2006/relationships/image" Target="/ppt/media/image21.png" Id="R66c0e7b14fdd4713" /><Relationship Type="http://schemas.openxmlformats.org/officeDocument/2006/relationships/notesSlide" Target="/ppt/notesSlides/notesSlide14.xml" Id="Rbbab61499c5342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cc13ef3ad499b" /><Relationship Type="http://schemas.openxmlformats.org/officeDocument/2006/relationships/notesSlide" Target="/ppt/notesSlides/notesSlide15.xml" Id="R4cfad149f6244d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1cdb7a17c4642" /><Relationship Type="http://schemas.openxmlformats.org/officeDocument/2006/relationships/notesSlide" Target="/ppt/notesSlides/notesSlide16.xml" Id="R3b9d67cca32043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bbe983dc34504" /><Relationship Type="http://schemas.openxmlformats.org/officeDocument/2006/relationships/chart" Target="/ppt/slides/charts/chart1.xml" Id="Rdda376e4ca474555" /><Relationship Type="http://schemas.openxmlformats.org/officeDocument/2006/relationships/chart" Target="/ppt/slides/charts/chart2.xml" Id="R8f2c2c3c41784a36" /><Relationship Type="http://schemas.openxmlformats.org/officeDocument/2006/relationships/notesSlide" Target="/ppt/notesSlides/notesSlide17.xml" Id="Rd08d5d5145a945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16fdcb244275" /><Relationship Type="http://schemas.openxmlformats.org/officeDocument/2006/relationships/chart" Target="/ppt/slides/charts/chart3.xml" Id="R288dd9347ec649e2" /><Relationship Type="http://schemas.openxmlformats.org/officeDocument/2006/relationships/chart" Target="/ppt/slides/charts/chart4.xml" Id="R74a4eb9fc72b4005" /><Relationship Type="http://schemas.openxmlformats.org/officeDocument/2006/relationships/notesSlide" Target="/ppt/notesSlides/notesSlide18.xml" Id="Rc41cebd1cb9143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e7438e7a24fc2" /><Relationship Type="http://schemas.openxmlformats.org/officeDocument/2006/relationships/notesSlide" Target="/ppt/notesSlides/notesSlide19.xml" Id="R3f8edce8f23e4d5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MBT 16k</c:v>
          </c:tx>
          <c:spPr>
            <a:ln xmlns:a="http://schemas.openxmlformats.org/drawingml/2006/main" w="28575">
              <a:solidFill>
                <a:srgbClr val="C000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00000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0.0</c:formatCode>
              <c:ptCount val="3"/>
              <c:pt idx="0">
                <c:v>3.8996</c:v>
              </c:pt>
              <c:pt idx="1">
                <c:v>4.3391</c:v>
              </c:pt>
              <c:pt idx="2">
                <c:v>4.3707</c:v>
              </c:pt>
            </c:numLit>
          </c:val>
          <c:smooth val="0"/>
        </c:ser>
        <c:ser>
          <c:idx val="1"/>
          <c:order val="1"/>
          <c:tx>
            <c:v>MBT 32k</c:v>
          </c:tx>
          <c:spPr>
            <a:ln xmlns:a="http://schemas.openxmlformats.org/drawingml/2006/main" w="28575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0.0</c:formatCode>
              <c:ptCount val="3"/>
              <c:pt idx="0">
                <c:v>3.9313</c:v>
              </c:pt>
              <c:pt idx="1">
                <c:v>5.7772</c:v>
              </c:pt>
              <c:pt idx="2">
                <c:v>6.3566</c:v>
              </c:pt>
            </c:numLit>
          </c:val>
          <c:smooth val="0"/>
        </c:ser>
        <c:ser>
          <c:idx val="2"/>
          <c:order val="2"/>
          <c:tx>
            <c:v>MBT 64k</c:v>
          </c:tx>
          <c:spPr>
            <a:ln xmlns:a="http://schemas.openxmlformats.org/drawingml/2006/main" w="28575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0.0</c:formatCode>
              <c:ptCount val="3"/>
              <c:pt idx="0">
                <c:v>3.9477</c:v>
              </c:pt>
              <c:pt idx="1">
                <c:v>5.8034</c:v>
              </c:pt>
              <c:pt idx="2">
                <c:v>6.8957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.2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F63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MBT 16k</c:v>
          </c:tx>
          <c:spPr>
            <a:ln xmlns:a="http://schemas.openxmlformats.org/drawingml/2006/main" w="28575">
              <a:solidFill>
                <a:srgbClr val="C000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00000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</c:formatCode>
              <c:ptCount val="3"/>
              <c:pt idx="0">
                <c:v>28.27</c:v>
              </c:pt>
              <c:pt idx="1">
                <c:v>110.09</c:v>
              </c:pt>
              <c:pt idx="2">
                <c:v>162.75</c:v>
              </c:pt>
            </c:numLit>
          </c:val>
          <c:smooth val="0"/>
        </c:ser>
        <c:ser>
          <c:idx val="1"/>
          <c:order val="1"/>
          <c:tx>
            <c:v>MBT 32k</c:v>
          </c:tx>
          <c:spPr>
            <a:ln xmlns:a="http://schemas.openxmlformats.org/drawingml/2006/main" w="28575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</c:formatCode>
              <c:ptCount val="3"/>
              <c:pt idx="0">
                <c:v>10.82</c:v>
              </c:pt>
              <c:pt idx="1">
                <c:v>17.67</c:v>
              </c:pt>
              <c:pt idx="2">
                <c:v>56.69</c:v>
              </c:pt>
            </c:numLit>
          </c:val>
          <c:smooth val="0"/>
        </c:ser>
        <c:ser>
          <c:idx val="2"/>
          <c:order val="2"/>
          <c:tx>
            <c:v>MBT 64k</c:v>
          </c:tx>
          <c:spPr>
            <a:ln xmlns:a="http://schemas.openxmlformats.org/drawingml/2006/main" w="28575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strLit>
              <c:ptCount val="3"/>
              <c:pt idx="0">
                <c:v>RPS 4</c:v>
              </c:pt>
              <c:pt idx="1">
                <c:v>RPS 6</c:v>
              </c:pt>
              <c:pt idx="2">
                <c:v>RPS 8</c:v>
              </c:pt>
            </c:strLit>
          </c:cat>
          <c:val>
            <c:numLit>
              <c:formatCode>0</c:formatCode>
              <c:ptCount val="3"/>
              <c:pt idx="0">
                <c:v>10.78</c:v>
              </c:pt>
              <c:pt idx="1">
                <c:v>17.36</c:v>
              </c:pt>
              <c:pt idx="2">
                <c:v>39.93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F63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MBT 4k</c:v>
          </c:tx>
          <c:spPr>
            <a:ln xmlns:a="http://schemas.openxmlformats.org/drawingml/2006/main" w="28575">
              <a:solidFill>
                <a:srgbClr val="C000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00000"/>
              </a:solidFill>
            </c:spPr>
          </c:marker>
          <c:cat>
            <c:strLit>
              <c:ptCount val="3"/>
              <c:pt idx="0">
                <c:v>RPS 2</c:v>
              </c:pt>
              <c:pt idx="1">
                <c:v>RPS 3</c:v>
              </c:pt>
              <c:pt idx="2">
                <c:v>RPS 4</c:v>
              </c:pt>
            </c:strLit>
          </c:cat>
          <c:val>
            <c:numLit>
              <c:formatCode>0.0</c:formatCode>
              <c:ptCount val="3"/>
              <c:pt idx="0">
                <c:v>1.9857</c:v>
              </c:pt>
              <c:pt idx="1">
                <c:v>2.9547</c:v>
              </c:pt>
              <c:pt idx="2">
                <c:v>2.9104</c:v>
              </c:pt>
            </c:numLit>
          </c:val>
          <c:smooth val="0"/>
        </c:ser>
        <c:ser>
          <c:idx val="1"/>
          <c:order val="1"/>
          <c:tx>
            <c:v>MBT 8k</c:v>
          </c:tx>
          <c:spPr>
            <a:ln xmlns:a="http://schemas.openxmlformats.org/drawingml/2006/main" w="28575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strLit>
              <c:ptCount val="3"/>
              <c:pt idx="0">
                <c:v>RPS 2</c:v>
              </c:pt>
              <c:pt idx="1">
                <c:v>RPS 3</c:v>
              </c:pt>
              <c:pt idx="2">
                <c:v>RPS 4</c:v>
              </c:pt>
            </c:strLit>
          </c:cat>
          <c:val>
            <c:numLit>
              <c:formatCode>0.0</c:formatCode>
              <c:ptCount val="3"/>
              <c:pt idx="0">
                <c:v>1.9894</c:v>
              </c:pt>
              <c:pt idx="1">
                <c:v>2.9631</c:v>
              </c:pt>
              <c:pt idx="2">
                <c:v>3.7411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.2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F63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MBT 4k</c:v>
          </c:tx>
          <c:spPr>
            <a:ln xmlns:a="http://schemas.openxmlformats.org/drawingml/2006/main" w="28575">
              <a:solidFill>
                <a:srgbClr val="C000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00000"/>
              </a:solidFill>
            </c:spPr>
          </c:marker>
          <c:cat>
            <c:strLit>
              <c:ptCount val="3"/>
              <c:pt idx="0">
                <c:v>RPS 2</c:v>
              </c:pt>
              <c:pt idx="1">
                <c:v>RPS 3</c:v>
              </c:pt>
              <c:pt idx="2">
                <c:v>RPS 4</c:v>
              </c:pt>
            </c:strLit>
          </c:cat>
          <c:val>
            <c:numLit>
              <c:formatCode>0</c:formatCode>
              <c:ptCount val="3"/>
              <c:pt idx="0">
                <c:v>11.28</c:v>
              </c:pt>
              <c:pt idx="1">
                <c:v>23.11</c:v>
              </c:pt>
              <c:pt idx="2">
                <c:v>144.89</c:v>
              </c:pt>
            </c:numLit>
          </c:val>
          <c:smooth val="0"/>
        </c:ser>
        <c:ser>
          <c:idx val="1"/>
          <c:order val="1"/>
          <c:tx>
            <c:v>MBT 8k</c:v>
          </c:tx>
          <c:spPr>
            <a:ln xmlns:a="http://schemas.openxmlformats.org/drawingml/2006/main" w="28575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strLit>
              <c:ptCount val="3"/>
              <c:pt idx="0">
                <c:v>RPS 2</c:v>
              </c:pt>
              <c:pt idx="1">
                <c:v>RPS 3</c:v>
              </c:pt>
              <c:pt idx="2">
                <c:v>RPS 4</c:v>
              </c:pt>
            </c:strLit>
          </c:cat>
          <c:val>
            <c:numLit>
              <c:formatCode>0</c:formatCode>
              <c:ptCount val="3"/>
              <c:pt idx="0">
                <c:v>10.69</c:v>
              </c:pt>
              <c:pt idx="1">
                <c:v>13.48</c:v>
              </c:pt>
              <c:pt idx="2">
                <c:v>32.04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B7B7B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F63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E17CCAC-3A61-468B-AE96-27E4E8EB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59FD76-402A-41D3-ADFE-D690BAE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vLLM EXTERNAL PLUGIN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30A8742-74C6-4A74-8C5F-55A07E16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2918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</a:t>
            </a:r>
            <a:endParaRPr sz="5400" b="1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181F610-3709-4DE5-A837-9B23C80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765" y="3053080"/>
            <a:ext cx="66675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latin typeface="微软雅黑"/>
                <a:ea typeface="微软雅黑"/>
                <a:cs typeface="微软雅黑"/>
              </a:rPr>
              <a:t>vLLM </a:t>
            </a:r>
            <a:r>
              <a:rPr sz="3200" b="1">
                <a:latin typeface="微软雅黑"/>
                <a:ea typeface="微软雅黑"/>
                <a:cs typeface="微软雅黑"/>
              </a:rPr>
              <a:t>中的 </a:t>
            </a:r>
            <a:r>
              <a:rPr sz="3200" b="1">
                <a:latin typeface="微软雅黑"/>
                <a:ea typeface="微软雅黑"/>
                <a:cs typeface="微软雅黑"/>
              </a:rPr>
              <a:t>A</a:t>
            </a:r>
            <a:r>
              <a:rPr sz="3200" b="1">
                <a:latin typeface="微软雅黑"/>
                <a:ea typeface="微软雅黑"/>
                <a:cs typeface="微软雅黑"/>
              </a:rPr>
              <a:t>ttention</a:t>
            </a:r>
            <a:r>
              <a:rPr sz="3200" b="1">
                <a:latin typeface="微软雅黑"/>
                <a:ea typeface="微软雅黑"/>
                <a:cs typeface="微软雅黑"/>
              </a:rPr>
              <a:t>–FFN 解耦</a:t>
            </a:r>
            <a:endParaRPr sz="3200" b="1"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6D01C4E-1153-4EEA-9D48-56CEC2C7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0C97042F-7F22-49FC-922A-9B53FF45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3881755"/>
            <a:ext cx="346900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江晨舟</a:t>
            </a:r>
            <a:r>
              <a:rPr sz="2000" b="1">
                <a:latin typeface="微软雅黑"/>
                <a:ea typeface="微软雅黑"/>
                <a:cs typeface="微软雅黑"/>
              </a:rPr>
              <a:t>     </a:t>
            </a:r>
            <a:endParaRPr sz="2000" b="1"/>
          </a:p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蒲削</a:t>
            </a:r>
            <a:r>
              <a:rPr sz="2000" b="1">
                <a:latin typeface="微软雅黑"/>
                <a:ea typeface="微软雅黑"/>
                <a:cs typeface="微软雅黑"/>
              </a:rPr>
              <a:t>锟</a:t>
            </a:r>
            <a:endParaRPr sz="20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08E595D4-AD37-4CEB-9B6B-66FCC629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0" y="4050665"/>
            <a:ext cx="2138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@</a:t>
            </a:r>
            <a:r>
              <a:rPr>
                <a:latin typeface="微软雅黑"/>
                <a:ea typeface="微软雅黑"/>
                <a:cs typeface="微软雅黑"/>
              </a:rPr>
              <a:t>huawei</a:t>
            </a:r>
            <a:endParaRPr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116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0635A6-6730-4F03-8DE7-9D24C4F1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  <a:endParaRPr sz="1100" b="1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FF62AB9-8E05-47B9-8486-8A07007C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  <a:endParaRPr sz="29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5560FD-84BE-4D9C-A10D-8A4C045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33AE86-10EF-4770-874A-D4BF0A3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  <a:endParaRPr sz="1550" b="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4038c10f74c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1671320"/>
            <a:ext cx="9619615" cy="4244975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BE648FE-8EF7-4F8C-936F-080B4E68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60143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970">
            <a:solidFill>
              <a:srgbClr val="1F5F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  <a:endParaRPr sz="1500" b="1">
              <a:solidFill>
                <a:srgbClr val="1F5FB8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A56DDE7-B47F-497A-BDB7-837AC25B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8EC"/>
          </a:solidFill>
          <a:ln xmlns:a="http://schemas.openxmlformats.org/drawingml/2006/main" w="13970">
            <a:solidFill>
              <a:srgbClr val="4F8D2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  <a:endParaRPr sz="150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  <a:endParaRPr sz="1050">
              <a:solidFill>
                <a:srgbClr val="67676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D8E3AA4-5E57-468B-96BF-F0D195D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53312"/>
            <a:ext cx="3383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  <a:endParaRPr sz="1250" b="1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391BEFB-5C87-4AC4-A344-2D6BA948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86" y="3325876"/>
            <a:ext cx="2633472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397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  <a:endParaRPr sz="13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4F11FC-0E44-4382-8CB8-888C78B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567" y="5886831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  <a:endParaRPr sz="1150" b="1">
              <a:solidFill>
                <a:srgbClr val="4F8D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12BA04-5E4F-4515-ABD2-E37304B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278" y="589762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  <a:endParaRPr sz="1150" b="1">
              <a:solidFill>
                <a:srgbClr val="B265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6A78B49-F3BB-4187-BB04-E6AF40EF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959" y="588619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  <a:endParaRPr sz="115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4767D95-01E6-46A4-99A8-DD7C60A9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144768"/>
            <a:ext cx="109728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  <a:endParaRPr sz="14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88A9A2-72B3-4E3F-85D3-FC3C25D2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01968"/>
            <a:ext cx="4572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  <a:endParaRPr sz="800" b="0">
              <a:solidFill>
                <a:srgbClr val="8D8D8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C24CC8-BBB9-4E27-A4CC-7F19A880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56248"/>
            <a:ext cx="182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  <a:endParaRPr sz="850" b="0">
              <a:solidFill>
                <a:srgbClr val="797979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916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ED3D015-D37B-415E-BC3C-E11F25C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4AFE780-C098-435E-B420-86897A8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0F87EE7-AEB1-48A3-8C26-4F01EA73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2F3600-E54F-440F-852D-A9F858E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5A54073-DFEE-4026-92EC-38DCD14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FDA17B-480C-43C8-957A-8733259B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  <a:endParaRPr sz="1500" b="1">
              <a:solidFill>
                <a:srgbClr val="C00000"/>
              </a:solidFill>
            </a:endParaRPr>
          </a:p>
        </p:txBody>
      </p:sp>
      <p:pic>
        <p:nvPicPr>
          <p:cNvPr id="57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7266997ff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2969" y="1657350"/>
            <a:ext cx="2315563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A96C11-B963-45A5-A91A-D7D67AF5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41BD714-7745-405F-8A40-9C666FC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464A484-41E8-4E37-B5E3-35815A71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  <a:endParaRPr sz="1125" b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  <a:endParaRPr sz="1125" b="0">
              <a:solidFill>
                <a:srgbClr val="555757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1712DB-B793-4602-A0DC-C2DFC1D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62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cc1471210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1542" y="4171950"/>
            <a:ext cx="2854766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6D3DA46-DBC6-42FA-BF29-5726FB24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43000"/>
            <a:ext cx="6267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5E7BF95-F414-4ED6-ADBB-7ECF9326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4FE8C22-83CA-43FD-8C03-4E207E5F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763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47C605-232C-45D3-92E1-D4A0034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AAD37E2-53D7-4DD9-BAEF-5F5EBCB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  <a:endParaRPr sz="975" b="1">
              <a:solidFill>
                <a:srgbClr val="C00000"/>
              </a:solidFill>
            </a:endParaRPr>
          </a:p>
        </p:txBody>
      </p:sp>
      <p:pic>
        <p:nvPicPr>
          <p:cNvPr id="68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2ebd17858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7434" y="1752600"/>
            <a:ext cx="1517333" cy="1028700"/>
          </a:xfrm>
          <a:prstGeom xmlns:a="http://schemas.openxmlformats.org/drawingml/2006/main" prst="rect">
            <a:avLst/>
          </a:prstGeom>
        </p:spPr>
      </p:pic>
      <p:pic>
        <p:nvPicPr>
          <p:cNvPr id="6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4e85aadae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8727" y="1752600"/>
            <a:ext cx="1539296" cy="10287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A592FDC-1773-4206-A383-01F9245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626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012A80-2A35-4E02-9D1A-F39C6808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  <a:endParaRPr sz="1425" b="1">
              <a:solidFill>
                <a:srgbClr val="C00000"/>
              </a:solidFill>
            </a:endParaRPr>
          </a:p>
        </p:txBody>
      </p:sp>
      <p:pic>
        <p:nvPicPr>
          <p:cNvPr id="72" name="图片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ad234829f43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0420" y="3467100"/>
            <a:ext cx="3545811" cy="1066800"/>
          </a:xfrm>
          <a:prstGeom xmlns:a="http://schemas.openxmlformats.org/drawingml/2006/main" prst="rect">
            <a:avLst/>
          </a:prstGeom>
        </p:spPr>
      </p:pic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7271D1B-B39E-4EA6-8B4A-F01E058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99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  <a:endParaRPr sz="975" b="0">
              <a:solidFill>
                <a:srgbClr val="555757"/>
              </a:solidFill>
            </a:endParaRPr>
          </a:p>
          <a:p xmlns:a="http://schemas.openxmlformats.org/drawingml/2006/main">
            <a:endParaRPr sz="975"/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  <a:endParaRPr sz="975" b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291AFA1-9100-49D9-8879-86D7731A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38700"/>
            <a:ext cx="6267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2F677E-F546-415B-8DBA-2ED63597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  <a:endParaRPr sz="1425" b="1">
              <a:solidFill>
                <a:srgbClr val="C00000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A4B40D1-FA80-4322-9289-B257CA01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  <a:endParaRPr sz="900" b="1">
              <a:solidFill>
                <a:srgbClr val="555757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AD4B9E3-0F95-4C56-B41C-E382A8B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81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  <a:endParaRPr sz="900" b="1">
              <a:solidFill>
                <a:srgbClr val="C00000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0F5DBF6-C46A-4B7C-9DB9-3140F9D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EF846A3-2DA6-4252-900C-F26AC25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2A8FB14-58FF-4A15-9356-E2C6415B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299C2AB-3B3F-4807-BCD3-3C847B5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08EACB1-4D15-4864-94B3-3C3EF7F2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AF4714B-E884-4FC1-BF3A-13940BA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1628F87-D6B2-4B4C-B621-82143ED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9ED1776-6CE9-4532-9D67-6AD4F7A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  <a:endParaRPr sz="750" b="0">
              <a:solidFill>
                <a:srgbClr val="898989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F4C8B56-03D9-414D-AE76-2E59F04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B4F41B9-C49F-4287-BE7E-54F4C90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07AC5B4-BA36-4E32-B293-020C1386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292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8E5F87E-2920-403E-B31F-8F02FE4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CD778C1-1FFD-4A8F-AA0D-11E07D28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6F0FF13-2A77-46CB-8160-B1972D83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C316DA3-D609-4F5C-B64D-E489CD46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6F40E6C-BFFB-4CAD-A18E-E55DD08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  <a:endParaRPr sz="975" b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51219EE-77D0-44F7-98ED-E0B1E5C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03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AF43772-C9D4-48C8-AFA7-FD131D1A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86ED6F-E22D-4256-BA8D-518C3EE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88BF7-E767-4689-8137-4E52B84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8A8B72-AD5B-407E-BF1B-BD55AC23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745C803-B50C-4CB8-91B6-DAF4375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  <a:endParaRPr sz="1500" b="1">
              <a:solidFill>
                <a:srgbClr val="0969DA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E81EFC1-17A4-4E6F-B71B-A4CD644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A0594D-1B2E-4660-BFD4-305BB84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  <a:endParaRPr sz="1275" b="0">
              <a:solidFill>
                <a:srgbClr val="555757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D24EAA9-DBBB-4C5E-9602-07116FEA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6A0"/>
          </a:solidFill>
          <a:ln xmlns:a="http://schemas.openxmlformats.org/drawingml/2006/main" w="0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AF7DEC6-BEDA-451A-88D1-046C783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  <a:endParaRPr sz="1200" b="1">
              <a:solidFill>
                <a:srgbClr val="2046A0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6A8095C-412F-41DC-ACB3-70A38F8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194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E32E86-80D4-40F4-9092-0EB86414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7B5"/>
          </a:solidFill>
          <a:ln xmlns:a="http://schemas.openxmlformats.org/drawingml/2006/main" w="0">
            <a:solidFill>
              <a:srgbClr val="775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F838FF6-78D7-4E14-916E-6BA4077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  <a:endParaRPr sz="1200" b="1">
              <a:solidFill>
                <a:srgbClr val="7757B5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C3BD5C6-262C-4744-BEA5-4046380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195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EC47834-C07B-47F0-BF41-CECBDCB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70C"/>
          </a:solidFill>
          <a:ln xmlns:a="http://schemas.openxmlformats.org/drawingml/2006/main" w="0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3F7215E-8F12-499C-8DDB-F1866FA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  <a:endParaRPr sz="1200" b="1">
              <a:solidFill>
                <a:srgbClr val="56870C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0B3431-7FB3-4D8E-8A24-BBA9652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96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</a:t>
            </a:r>
            <a:r>
              <a:rPr sz="975" b="0">
                <a:solidFill>
                  <a:srgbClr val="555757"/>
                </a:solidFill>
              </a:rPr>
              <a:t>/vLLM-Ascend</a:t>
            </a:r>
            <a:r>
              <a:rPr sz="975" b="0">
                <a:solidFill>
                  <a:srgbClr val="555757"/>
                </a:solidFill>
              </a:rPr>
              <a:t> source tree。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363434-FA5F-4B49-93D4-6656EAC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66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BBE0E1D-45A2-43F3-A149-9CFF1A2B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  <a:endParaRPr sz="975" b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F8C4BC3-BA32-46BD-A51B-C66091B3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9245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8b75aaba3417d"/>
          <a:srcRect xmlns:a="http://schemas.openxmlformats.org/drawingml/2006/main" l="3296" t="0" r="3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295400"/>
            <a:ext cx="5619750" cy="455295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59E8065-3FA0-426B-8B5C-D306EE3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82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A755449-AED6-4D39-A71F-620A6895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9E4A9E-BB28-4B94-8860-93850385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2EF7212-D16F-4AA9-A39A-0BD0AE8B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  <a:endParaRPr sz="825" b="0">
              <a:solidFill>
                <a:srgbClr val="898989"/>
              </a:solidFill>
            </a:endParaRPr>
          </a:p>
        </p:txBody>
      </p:sp>
      <p:pic>
        <p:nvPicPr>
          <p:cNvPr id="3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9871b064f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248" y="1247775"/>
            <a:ext cx="7332155" cy="4124325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A50A580-E4A7-4BCA-AA51-60172600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</a:t>
            </a:r>
            <a:r>
              <a:rPr sz="1125" b="1">
                <a:solidFill>
                  <a:srgbClr val="1B1D21"/>
                </a:solidFill>
              </a:rPr>
              <a:t>Role</a:t>
            </a:r>
            <a:r>
              <a:rPr sz="1125" b="1">
                <a:solidFill>
                  <a:srgbClr val="1B1D21"/>
                </a:solidFill>
              </a:rPr>
              <a:t>｜负责调度、KV Cache 与注意力计算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10287B1-72BF-4760-AB37-5B499AFE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3E8EB8F-B508-48D3-ADD0-C989158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ECDA51-00E2-48C1-B22E-0CB8A3D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69290E4-B09F-49EF-B436-0E8775E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</a:t>
            </a:r>
            <a:r>
              <a:rPr sz="865" b="0">
                <a:solidFill>
                  <a:srgbClr val="555757"/>
                </a:solidFill>
              </a:rPr>
              <a:t>GPU </a:t>
            </a:r>
            <a:r>
              <a:rPr sz="865" b="0">
                <a:solidFill>
                  <a:srgbClr val="555757"/>
                </a:solidFill>
              </a:rPr>
              <a:t>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</a:t>
            </a:r>
            <a:r>
              <a:rPr sz="865" b="0">
                <a:solidFill>
                  <a:srgbClr val="555757"/>
                </a:solidFill>
              </a:rPr>
              <a:t>NPU，</a:t>
            </a:r>
            <a:r>
              <a:rPr sz="865" b="0">
                <a:solidFill>
                  <a:srgbClr val="555757"/>
                </a:solidFill>
              </a:rPr>
              <a:t>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</a:t>
            </a:r>
            <a:r>
              <a:rPr sz="865" b="0">
                <a:solidFill>
                  <a:srgbClr val="555757"/>
                </a:solidFill>
              </a:rPr>
              <a:t>NPU</a:t>
            </a:r>
            <a:r>
              <a:rPr sz="865" b="0">
                <a:solidFill>
                  <a:srgbClr val="555757"/>
                </a:solidFill>
              </a:rPr>
              <a:t>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</a:t>
            </a:r>
            <a:r>
              <a:rPr sz="865" b="0">
                <a:solidFill>
                  <a:srgbClr val="555757"/>
                </a:solidFill>
              </a:rPr>
              <a:t>未来可</a:t>
            </a:r>
            <a:r>
              <a:rPr sz="865" b="0">
                <a:solidFill>
                  <a:srgbClr val="555757"/>
                </a:solidFill>
              </a:rPr>
              <a:t>新增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E7B7007-71CA-4F1E-B79A-0BF1690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54DC1EB-3EFA-47A2-9500-E510FF1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</a:t>
            </a:r>
            <a:r>
              <a:rPr sz="1125" b="1">
                <a:solidFill>
                  <a:srgbClr val="1B1D21"/>
                </a:solidFill>
              </a:rPr>
              <a:t>Role</a:t>
            </a:r>
            <a:r>
              <a:rPr sz="1125" b="1">
                <a:solidFill>
                  <a:srgbClr val="1B1D21"/>
                </a:solidFill>
              </a:rPr>
              <a:t>｜负责专家计算与结果回传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7F94C61-5644-4F3F-ADF8-0389A87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7C8CE1A-0BD2-4D95-A4EA-01726E1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7A3A68C-2701-443C-8131-D94AB7F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757D7A5-7DA4-4C61-8EA5-815D0D6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B3FA3FC-FD4A-492E-83AF-55DE638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042405F-A44A-4FA0-9614-FD1A9CAB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462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95AB55C-B692-4CBE-A44B-5E62205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CABD0B2-ADC4-4A60-8EAF-597AEB4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B9F87A-5E7E-44EA-BF84-657071F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78901CB-5736-4BF1-A9DA-82C2F3B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B26A2E2-584C-4CFF-9995-B62F955C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0622e44074b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06034"/>
            <a:ext cx="11277600" cy="4598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34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46B135E-2654-411A-A461-1D8D7127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547DE8-3CE6-4104-9CA6-257A9998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9F5FEA-8975-4B54-BC37-5C276554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8CE1CA-1726-4996-AD99-623CEEF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59474C4-79A3-4DD9-BECF-ED1D643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94E960D-7F37-4622-AC68-853E25D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3F757EC-24EC-419B-8350-2C0E2E8D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8C2EAA-E354-4371-94AF-A7FF98C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C4E2E9B-56A4-4EC6-811B-99D6DC65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AA56ED4-0C08-4F2B-90B3-AA1AB53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277864-1A5B-4378-A923-98229E55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06D0C97-15C8-4F0D-9290-7140F57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D23585A-3F71-47FE-A90E-2268CBC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C51082-C17E-4139-80A1-748C0C8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63FF5C2-BB0A-4BC0-8EE7-8F3A850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1EA1AC6-C5A2-4711-A435-0E43A91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ba08461df4b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475" y="1247775"/>
            <a:ext cx="7311701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96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E7D0A2A-8833-4F08-8E92-4AAAAD17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9693E-4320-4862-87D9-5B5D31A4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6DFBC4B-0534-4E79-A5C0-6189178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17C8BD-30AD-45BE-BD25-37E0BD9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35DF94D-7A92-48C4-AC07-552E84B1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AE1B3A8-FF48-4D69-9A04-6E73C41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  <a:endParaRPr sz="1275" b="0" i="0">
              <a:solidFill>
                <a:srgbClr val="555757"/>
              </a:solidFill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49459CE0-4FA4-4538-8C7D-03F15BE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42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e3e9fe4284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03408"/>
            <a:ext cx="7200900" cy="2879634"/>
          </a:xfrm>
          <a:prstGeom xmlns:a="http://schemas.openxmlformats.org/drawingml/2006/main" prst="rect">
            <a:avLst/>
          </a:prstGeom>
        </p:spPr>
      </p:pic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DF9ACB60-406A-4934-BD97-C5C48CF9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3314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A4D835A-09AB-41B3-A219-4E953026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2BCA07B-5197-4B8C-837B-8EACA66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  <a:endParaRPr sz="900" b="0" i="0">
              <a:solidFill>
                <a:srgbClr val="898989"/>
              </a:solidFill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84FCDA86-5B8A-4781-8AFA-824501AF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D36AF24-B99B-41A1-8AB1-35EBCA33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893EDBF-2DDE-4B59-8BE7-8C68B04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AB0CA2BE-A5B9-43C5-BB25-276A676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F03B964A-4529-4F91-9CC8-714F3255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32A5E57-9A73-4ACD-BB41-58AF9517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04E3837-4485-4AFB-9285-1B16ED0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D9EBE42-020B-408D-B486-C570ABF1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0FDEDB3-F5B7-475A-86D5-527BF33C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575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B50F1332-69EA-47CF-8678-3557DB8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4AF978E-49EE-43C6-85B6-03313D65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2BDE3E8-0AF9-4EB0-8838-B4ACE955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  <a:endParaRPr sz="975" b="0" i="0">
              <a:solidFill>
                <a:srgbClr val="555757"/>
              </a:solidFill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B4BE0280-1EAA-4616-A733-9F9D2FB6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9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0D926A7-1050-4D0E-9570-37E8ABB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2082097-82B7-4856-A2A1-F95D7BE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4CD4D66-60AF-42E8-A199-1C10D94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  <a:endParaRPr sz="1125" b="0" i="0">
              <a:solidFill>
                <a:srgbClr val="5557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771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3A90F39-7E05-4486-8709-EAA8AC5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100C183-86AC-42E1-833C-2170551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</a:t>
            </a:r>
            <a:r>
              <a:rPr sz="2250" b="1" i="0">
                <a:solidFill>
                  <a:srgbClr val="C70000"/>
                </a:solidFill>
              </a:rPr>
              <a:t>Prefill </a:t>
            </a:r>
            <a:r>
              <a:rPr sz="2250" b="1" i="0">
                <a:solidFill>
                  <a:srgbClr val="C70000"/>
                </a:solidFill>
              </a:rPr>
              <a:t>分离异步方案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0E0FAC3F-3EB7-4FB0-8678-E8AB8CA0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896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0B0B538-6186-46BA-815D-C4CBB3D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76D54E-0F28-422E-B013-B2C96FA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477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38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67c9eae5f43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8595" y="1352550"/>
            <a:ext cx="5902960" cy="1066800"/>
          </a:xfrm>
          <a:prstGeom xmlns:a="http://schemas.openxmlformats.org/drawingml/2006/main" prst="rect">
            <a:avLst/>
          </a:prstGeom>
        </p:spPr>
      </p:pic>
      <p:pic>
        <p:nvPicPr>
          <p:cNvPr id="39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26007bb79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725" y="1181100"/>
            <a:ext cx="2819400" cy="129540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655A6CA-67A1-4B77-8E66-6201A952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9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512DB1B-6F07-4A60-BA79-BAD2441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FCEC57-9862-4A07-B5FA-E0D7350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622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  <a:endParaRPr sz="1350" b="1" i="0">
              <a:solidFill>
                <a:srgbClr val="1D1D1A"/>
              </a:solidFill>
            </a:endParaRPr>
          </a:p>
        </p:txBody>
      </p:sp>
      <p:pic>
        <p:nvPicPr>
          <p:cNvPr id="43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2ae5e1737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980" y="3086100"/>
            <a:ext cx="654269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E01C13D-3A15-4F84-8E5E-C855ABE2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71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3E05C2-9B4A-4A3B-9355-EB3783E3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956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BEB78DA-BDB4-4017-87B9-FF3DBA6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809299B-ED76-4829-AB5F-7981D353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D6075A-A9D9-44A5-B95B-DC8C1161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DAD589-8BDB-45A0-B20F-D93B88C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1E9302C-323D-4143-89AB-44568128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F680AB5-CE40-4FA9-8EC7-868C8621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3CF8EC0-A99C-4D7C-9F4D-89E278E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098EE53-F962-42C5-B6C8-DA037421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675978-E9AD-4FEE-BB24-DBD4DB9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52CFD21-73E3-4443-A764-F9F88103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4E16AF0-883F-4D04-8514-CA38E96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CFCA0B2-1F69-46F9-893B-29383808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B71EE74-154F-4A16-BB76-93DA4BF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60E9516-4898-4116-AFDF-D3308AF2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6B4FD1A-8772-4522-891D-8A0876B9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  <a:endParaRPr sz="825" b="0" i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3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4BBAE8-475C-4AA3-B065-D77FCC5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1FF2726-5CA1-4672-83BC-45DFC630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9BB6FFF8-43A5-40F9-99AC-041E82B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22669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3D221F-BE6F-4535-B87B-3FBACEF6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C9833E7-9441-4223-BEE1-0D0C4822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0" name="图片 33">
            <a:extLst xmlns:a="http://schemas.openxmlformats.org/drawingml/2006/main">
              <a:ext uri="{FF2B5EF4-FFF2-40B4-BE49-F238E27FC236}">
                <a16:creationId xmlns:a16="http://schemas.microsoft.com/office/drawing/2014/main" id="{44379D97-F1B8-4C34-B10A-9AF16D2D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c6be9076d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31" name="图片 34">
            <a:extLst xmlns:a="http://schemas.openxmlformats.org/drawingml/2006/main">
              <a:ext uri="{FF2B5EF4-FFF2-40B4-BE49-F238E27FC236}">
                <a16:creationId xmlns:a16="http://schemas.microsoft.com/office/drawing/2014/main" id="{A28F9759-23DD-4824-85A2-0B0351D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982348013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09F69F7-3190-4E96-A5F8-BE345D78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896600" cy="236220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95EAC6-9F43-4480-9944-9CAE6E7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  <a:endParaRPr sz="1425" b="1" i="0">
              <a:solidFill>
                <a:srgbClr val="15608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21BA6FA-2566-4FB4-8CD6-83B27B4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32" name="图片 38">
            <a:extLst xmlns:a="http://schemas.openxmlformats.org/drawingml/2006/main">
              <a:ext uri="{FF2B5EF4-FFF2-40B4-BE49-F238E27FC236}">
                <a16:creationId xmlns:a16="http://schemas.microsoft.com/office/drawing/2014/main" id="{8AC240B5-7011-48CC-BF64-2FB3F61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c61289119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832DD18-D6E3-4299-B9CB-F11A541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8E7925-23D4-480C-AB42-8075FE9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426E49F-FD0D-412B-B560-B14FBB0F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F36D36-076D-4D19-BB2B-60F463B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FD8BE-F3E6-45BD-B555-0A59A04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8449FBB-A939-4F7A-9EE8-B406B51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0C00883-7EBB-4AE4-BB01-818C07C1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6E1E2-3903-4C4C-A63C-E51F4DB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CFA9B32-2124-4B86-ACBF-DB847607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3DAA78A-8B3A-475F-ABB5-924AD4B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55F9C40-2533-4015-9E9E-D7533FB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3BF11C1-EFB7-449F-A993-4202FA3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FFDA41D-AD31-4FD5-A1B8-1DEC776C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62853F-A35D-4B46-9667-46549D5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244BB41-145F-4EE1-9978-D4872FE1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D299E25-80BF-4DED-A9F0-BD9203F8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106648E-B945-4551-9185-91EFDA8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  <a:endParaRPr sz="825" b="0" i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4363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1EE3646-DF5E-41DA-A5AD-145E077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2AA577-0BE3-4500-99D5-86A5EE8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62F7F-F700-47AE-AE00-C256063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27E69F6-EB9B-4302-A3B5-9EA23F2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E9D91A-A3A7-4890-8CFC-BFEC9F0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7943CE-076E-4699-9CF9-D0ACB5B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  <a:endParaRPr sz="940" b="0">
              <a:solidFill>
                <a:srgbClr val="555757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151DAA-C99C-4F11-941E-A78B08A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88CF29-C76F-4EE5-8D92-8DD97C4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  <a:endParaRPr sz="1125" b="1">
              <a:solidFill>
                <a:srgbClr val="56870C"/>
              </a:solidFill>
            </a:endParaRPr>
          </a:p>
        </p:txBody>
      </p:sp>
      <p:pic>
        <p:nvPicPr>
          <p:cNvPr id="2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285028f72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300" y="1752600"/>
            <a:ext cx="4462226" cy="2266950"/>
          </a:xfrm>
          <a:prstGeom xmlns:a="http://schemas.openxmlformats.org/drawingml/2006/main" prst="rect">
            <a:avLst/>
          </a:prstGeom>
        </p:spPr>
      </p:pic>
      <p:pic>
        <p:nvPicPr>
          <p:cNvPr id="29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f3c6063c048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475" y="1752600"/>
            <a:ext cx="4462226" cy="2266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FA845D7-0F4B-406B-AD67-E35F7F6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6E5100-4636-41F1-9673-59D78505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DF6A15-DDDF-4D09-A663-82AFCD2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360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C5F2B5E-ED54-40BB-B4FC-7EA705C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8DB9EC-5D34-449A-9BF0-407D75FB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64D2CB-B256-4025-B605-A9D02B9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A541E85-F475-46C5-8490-761E3CB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5EA1B98-AB5A-4288-8184-8A12129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D31289-7B23-4363-B7E0-8D3B555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  <a:endParaRPr sz="1050" b="1">
              <a:solidFill>
                <a:srgbClr val="2046A0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29B5CC-9F35-462E-9C55-544B171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95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  <a:endParaRPr sz="1050" b="1">
              <a:solidFill>
                <a:srgbClr val="56870C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FB84E6-180E-4C12-95D9-6115DED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95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  <a:endParaRPr sz="1050" b="1">
              <a:solidFill>
                <a:srgbClr val="ED6D00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04AAE5A-3362-4D54-AF0A-071CEF9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  <a:endParaRPr sz="1200" b="1">
              <a:solidFill>
                <a:srgbClr val="1B1D21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96ED9F-10FB-4B0E-84CE-1570697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  <a:endParaRPr sz="1200" b="1">
              <a:solidFill>
                <a:srgbClr val="1B1D21"/>
              </a:solidFill>
            </a:endParaRPr>
          </a:p>
        </p:txBody>
      </p:sp>
      <p:pic>
        <p:nvPicPr>
          <p:cNvPr id="36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58196d5d4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90235"/>
            <a:ext cx="5334000" cy="2582230"/>
          </a:xfrm>
          <a:prstGeom xmlns:a="http://schemas.openxmlformats.org/drawingml/2006/main" prst="rect">
            <a:avLst/>
          </a:prstGeom>
        </p:spPr>
      </p:pic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8b73d7a43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5153" y="1885950"/>
            <a:ext cx="5060494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83999C4-3F0C-4687-A486-44EC1C79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A34EE77-6DBE-45E6-9503-FE649B1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F50860-F897-4C3F-AA36-DDDB176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529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98C632C-FDF5-400E-B057-D22728E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01B3A3-7065-4E51-AA5D-E6C1CB3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  <a:endParaRPr sz="1125" b="1">
              <a:solidFill>
                <a:srgbClr val="56870C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9D5F942-C31A-4563-A60D-2720C77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529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44B26E2-0A3D-4FBD-AC43-427E865C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A889A5C-4912-4A50-AE17-268BF91B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39AE5E2-B2D0-492A-907F-6865D50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  <a:endParaRPr sz="1400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2FDDEA-17C6-48D0-A2C5-D1FBA19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92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814FF81-3983-4F31-946E-6F20A2B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  <a:endParaRPr sz="825" b="1" i="0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42A81AE-7C0C-43FE-A2F2-C809425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  <a:endParaRPr sz="2250" b="1" i="0">
              <a:solidFill>
                <a:srgbClr val="C70000"/>
              </a:solidFill>
            </a:endParaRP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0B26623F-FE13-486D-9440-2F27E0F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E1D57D-3084-424B-B59E-300D99B5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  <a:endParaRPr sz="1350" b="1" i="0">
              <a:solidFill>
                <a:srgbClr val="C70000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9E1FA87-8C48-4FBF-BDA8-F9D4FDBE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133475"/>
            <a:ext cx="918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  <a:endParaRPr sz="1125" b="1" i="0">
              <a:solidFill>
                <a:srgbClr val="102A43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3FD6AC-2D1C-4E9E-9A8E-7C2EB809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B97469-2AA0-4794-A54A-9F6C4EB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861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710EA02-A6F1-4D5C-AC81-9234A4B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AA0363F-727D-4A56-8770-B49CDBB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  <a:endParaRPr sz="1500" b="1" i="0">
              <a:solidFill>
                <a:srgbClr val="C70000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9BEBCC-5A73-4615-98B2-415E6B0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7F048F4-62CD-4A1B-8785-4FA4DEAB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3FE5E5-C8F7-4158-B57A-E5D44B3B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  <a:endParaRPr sz="1500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D3B1D95-C782-4DC8-AAE1-411058C9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B061CC4-C93D-4F05-AE92-73201CE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F13"/>
          </a:solidFill>
          <a:ln xmlns:a="http://schemas.openxmlformats.org/drawingml/2006/main" w="9525">
            <a:solidFill>
              <a:srgbClr val="4F8F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A81F30-B769-4EF2-8F6E-9BFCBD71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  <a:endParaRPr sz="1500" b="1" i="0">
              <a:solidFill>
                <a:srgbClr val="4F8F1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E79CFB3-7833-49C2-B048-23C77FF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621464A-DF03-450E-B115-AD299AD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C9"/>
          </a:solidFill>
          <a:ln xmlns:a="http://schemas.openxmlformats.org/drawingml/2006/main" w="9525">
            <a:solidFill>
              <a:srgbClr val="7652C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EA395E-91AE-46AD-9F6A-38FFC72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  <a:endParaRPr sz="1500" b="1" i="0">
              <a:solidFill>
                <a:srgbClr val="7652C9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8DEAD8-E0F6-4FCE-A182-9C3C164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FF40583E-674C-4E19-B5DB-09E508FB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278E29-6D7E-45B0-9FFE-83AC6AA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24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0A045DB-EC67-4463-BAE6-97AA7D8F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  <a:endParaRPr sz="825" b="0" i="0">
              <a:solidFill>
                <a:srgbClr val="555757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ED3CCE0-5540-4013-AF62-18D7E56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  <a:endParaRPr sz="675" b="0" i="1">
              <a:solidFill>
                <a:srgbClr val="898989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3CA7EA2-8DDE-42A5-A2B0-FAD442B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  <a:endParaRPr sz="825" b="0" i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861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534AE7-46CB-4387-834C-574ECC52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</a:t>
            </a: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Community </a:t>
            </a:r>
            <a:endParaRPr sz="2900" b="1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643EB0-313E-4552-8B00-7AEC5E2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C261B9-24A0-4BF2-BFAA-D1951E9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3649CA-36D7-45F5-843B-B565F79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8A0BDA-54F8-4AF4-BF9F-75D9B35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61ACC6-5869-4260-8C68-24F3EB7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690012-ED3E-4F0F-A137-B86F750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86C3C8-6E0B-4B88-8CD6-023FF733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e596645d40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9032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6DD688-F2FD-4FC0-9A63-724C61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/>
                <a:ea typeface="Arial"/>
                <a:cs typeface="Arial"/>
                <a:hlinkClick xmlns:r="http://schemas.openxmlformats.org/officeDocument/2006/relationships" r:id="R40835ce485494dee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9BA26F-7309-4C86-8033-BCACCB9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5459181-54AB-4476-A8DB-A81D102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6B95CD4-4FB5-49DA-9312-D416E71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4F7154E-9010-419E-BE85-1364266E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F15A99-93BF-4F1C-8255-5356269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58AE8FF-747C-4921-B8D3-4B961BB3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AB15182-FB4A-48BE-9272-61B56D63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cd87dbe4046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4064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0233DE-098E-4D5F-BB5A-0286276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/>
                <a:ea typeface="Arial"/>
                <a:cs typeface="Arial"/>
                <a:hlinkClick xmlns:r="http://schemas.openxmlformats.org/officeDocument/2006/relationships" r:id="Rb6ddeb0e9be14855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1A6B518-9043-47FF-B08B-5027AE49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C6431EF-4633-4547-A388-20FE944C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5ED7B79-479C-489D-82CD-728C2A1F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DA2ACE-9913-4F13-AC54-84D8980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E81C397-FCFE-4017-B777-31C8D45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  <a:endParaRPr sz="1800" b="1">
              <a:solidFill>
                <a:srgbClr val="2525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CC0CBA8-9D80-490E-8220-BA81DBB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  <a:endParaRPr sz="1050" b="0">
              <a:solidFill>
                <a:srgbClr val="89898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9FD3A9C-44FB-4C7B-AF87-0491636D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0e7b14fdd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9096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E6F4A7-068F-461F-A5CF-D39BF356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  <a:endParaRPr sz="1020" b="1">
              <a:solidFill>
                <a:srgbClr val="2DA4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A6847D7-4621-49DB-9787-AF08BB80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  <a:endParaRPr sz="1030" b="0">
              <a:solidFill>
                <a:srgbClr val="5557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7EAFDCD-C2DE-4D51-A7F6-8034A1F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5624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15</a:t>
            </a:r>
            <a:endParaRPr sz="850" b="0">
              <a:solidFill>
                <a:srgbClr val="89898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65016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698B480-1C76-4720-8DA5-8D89AE62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E223A9-4628-491B-9BF3-A6E10ECB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5C7F21-0FA1-4E10-984B-984FB54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87FFF50-378B-4BE7-ADDE-F565A31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5D2E31B-E8BA-414C-98F5-4B7ED53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/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500A4B2-78F5-48BD-91DB-7321125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F134394-CB00-49A4-B740-A61264C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366146F-0AC3-4FE3-9749-558B0FB6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/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E9EEC-CC16-4741-B8C2-AFB14DF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4CD6A7-4676-43DA-9B2D-A7FF887B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D5DBC20-A0B2-4DB5-B879-CFB3606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/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9833D6-94A1-4132-A42A-6911816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F6113A9-B6B9-4F15-A973-9CC3B9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2B9B207-9693-4B31-961B-893C2BC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/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552C0D6-7BEB-4CDF-916F-E96B3C4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D0FF94F-BAC1-464B-916F-64DD222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75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698B480-1C76-4720-8DA5-8D89AE62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DSV4 FLASH PREFILL EXPERIMENTS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E223A9-4628-491B-9BF3-A6E10ECB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统一固定口径，验证 AFD 大批次与 EP16 稳定区间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5C7F21-0FA1-4E10-984B-984FB54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16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87FFF50-378B-4BE7-ADDE-F565A31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工作负载｜MoonConv
正式 Prefill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5D2E31B-E8BA-414C-98F5-4B7ED53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DeepSeek V4 Flash；formal_0_1_2_vllm_bench.jsonl；1,536 requests
• 15,803,063 input tokens；output=1；open-loop offered load；每点 3 repeats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500A4B2-78F5-48BD-91DB-7321125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F134394-CB00-49A4-B740-A61264C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公共运行时｜
固定对照口径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366146F-0AC3-4FE3-9749-558B0FB6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max_model_len=65,536；max_num_seqs=16；block_size=128；gpu_memory_utilization=0.7
• chunked prefill + eager；prefix cache / KV connector / speculative decode 关闭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E9EEC-CC16-4741-B8C2-AFB14DF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4CD6A7-4676-43DA-9B2D-A7FF887B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AFD｜DP6TP4
+ FFN EP8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D5DBC20-A0B2-4DB5-B879-CFB3606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32 die；MBT 16k / 32k / 64k；RPS 4 / 6 / 8
• CAMAsync connector；async MoE ubatching=true；2 stages；token split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9833D6-94A1-4132-A42A-6911816C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F6113A9-B6B9-4F15-A973-9CC3B9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EP16｜大 EP
对照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2B9B207-9693-4B31-961B-893C2BC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16 die；MBT 4k / 8k；RPS 2 / 3 / 4
• shared compressor workspace=true；dsa_cp=false；multistream DSA overlap=false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552C0D6-7BEB-4CDF-916F-E96B3C4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统计口径：Achieved QPS、offered-rate 达成率与 TTFT；95% 达成率作为稳定阈值。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D0FF94F-BAC1-464B-916F-64DD222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来源：MoonConv formal workload；DSV4 Flash prefill 实验结果（2026-09-01）</a:t>
            </a:r>
            <a:endParaRPr sz="675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7574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1EE3646-DF5E-41DA-A5AD-145E077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DSV4 FLASH PREFILL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2AA577-0BE3-4500-99D5-86A5EE8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AFD：32k 是性能拐点，64k 在 RPS 8 继续拉开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62F7F-F700-47AE-AE00-C256063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27E69F6-EB9B-4302-A3B5-9EA23F2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E9D91A-A3A7-4890-8CFC-BFEC9F0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7943CE-076E-4699-9CF9-D0ACB5B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同拓扑 AFD DP6TP4 + FFN EP8；max_model_len=65,536；每点 3 repeats；16k / 32k / 64k 全部完成 9/9。</a:t>
            </a:r>
            <a:endParaRPr sz="940" b="0">
              <a:solidFill>
                <a:srgbClr val="555757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151DAA-C99C-4F11-941E-A78B08A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Achieved QPS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88CF29-C76F-4EE5-8D92-8DD97C4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P99 TTFT（秒）</a:t>
            </a:r>
            <a:endParaRPr sz="1125" b="1">
              <a:solidFill>
                <a:srgbClr val="56870C"/>
              </a:solidFill>
            </a:endParaRPr>
          </a:p>
        </p:txBody>
      </p:sp>
      <p:graphicFrame>
        <p:nvGraphicFramePr>
          <p:cNvPr id="28" name="表格 25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MBT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QPS @4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QPS @6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QPS @8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P50 @8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P99 @8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3.931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5.777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6.357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18.53s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56.69s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64k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3.948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5.803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6.896</a:t>
                      </a:r>
                      <a:endParaRPr sz="1200" b="1">
                        <a:solidFill>
                          <a:srgbClr val="555757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13.35s</a:t>
                      </a:r>
                      <a:endParaRPr sz="1125" b="0">
                        <a:solidFill>
                          <a:srgbClr val="1B1D21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39.93s</a:t>
                      </a:r>
                      <a:endParaRPr sz="1350" b="1">
                        <a:solidFill>
                          <a:srgbClr val="C00000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FA845D7-0F4B-406B-AD67-E35F7F6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6E5100-4636-41F1-9673-59D78505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≤6 RPS：32k 已吃满主要收益；接近 8 RPS：64k QPS +8.5%，P99 −29.6%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DF6A15-DDDF-4D09-A663-82AFCD2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MoonConv formal workload；单位：QPS / 秒；95% offered-rate 达成率作为稳定阈值。</a:t>
            </a:r>
            <a:endParaRPr sz="1400" b="0" i="1">
              <a:solidFill>
                <a:srgbClr val="898989"/>
              </a:solidFill>
            </a:endParaRP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069277" y="1752600"/>
          <a:ext xmlns:a="http://schemas.openxmlformats.org/drawingml/2006/main" cx="4462272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a376e4ca474555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660452" y="1752600"/>
          <a:ext xmlns:a="http://schemas.openxmlformats.org/drawingml/2006/main" cx="4462272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2c2c3c41784a36"/>
          </a:graphicData>
        </a:graphic>
      </p:graphicFrame>
    </p:spTree>
    <p:extLst>
      <p:ext uri="{BB962C8B-B14F-4D97-AF65-F5344CB8AC3E}">
        <p14:creationId xmlns:p14="http://schemas.microsoft.com/office/powerpoint/2010/main" val="1931360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C5F2B5E-ED54-40BB-B4FC-7EA705C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DSV4 FLASH PREFILL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8DB9EC-5D34-449A-9BF0-407D75FB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EP16：8k 在 RPS 3/4 明显降低尾延迟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64D2CB-B256-4025-B605-A9D02B9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A541E85-F475-46C5-8490-761E3CB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18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5EA1B98-AB5A-4288-8184-8A12129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D31289-7B23-4363-B7E0-8D3B555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 V4 Flash</a:t>
            </a:r>
            <a:endParaRPr sz="1050" b="1">
              <a:solidFill>
                <a:srgbClr val="2046A0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29B5CC-9F35-462E-9C55-544B171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95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对比：EP16 MBT 4k  vs.  8k</a:t>
            </a:r>
            <a:endParaRPr sz="1050" b="1">
              <a:solidFill>
                <a:srgbClr val="56870C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FB84E6-180E-4C12-95D9-6115DED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95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 × 16 die</a:t>
            </a:r>
            <a:endParaRPr sz="1050" b="1">
              <a:solidFill>
                <a:srgbClr val="ED6D00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04AAE5A-3362-4D54-AF0A-071CEF9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Achieved QPS：8k 在 RPS 4 更接近 offered load</a:t>
            </a:r>
            <a:endParaRPr sz="1200" b="1">
              <a:solidFill>
                <a:srgbClr val="1B1D21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96ED9F-10FB-4B0E-84CE-1570697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P99 TTFT：8k 在 RPS 3/4 显著领先</a:t>
            </a:r>
            <a:endParaRPr sz="1200" b="1">
              <a:solidFill>
                <a:srgbClr val="1B1D21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83999C4-3F0C-4687-A486-44EC1C79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A34EE77-6DBE-45E6-9503-FE649B1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稳定区间</a:t>
            </a:r>
            <a:endParaRPr sz="1125" b="1">
              <a:solidFill>
                <a:srgbClr val="2046A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F50860-F897-4C3F-AA36-DDDB176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529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RPS 2/3：两种 MBT 均 ≥98.6% 达成率；RPS 4 开始进入饱和区。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98C632C-FDF5-400E-B057-D22728E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01B3A3-7065-4E51-AA5D-E6C1CB3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EP16 8K</a:t>
            </a:r>
            <a:endParaRPr sz="1125" b="1">
              <a:solidFill>
                <a:srgbClr val="56870C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9D5F942-C31A-4563-A60D-2720C77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529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RPS 4：3.741 QPS、93.5% 达成率；P99 32.0s，较 4k 低约 78%。</a:t>
            </a:r>
            <a:endParaRPr sz="1050" b="0">
              <a:solidFill>
                <a:srgbClr val="1B1D21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44B26E2-0A3D-4FBD-AC43-427E865C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A889A5C-4912-4A50-AE17-268BF91B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EP16 稳定上限约为 RPS 3；当前配置优先 8k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39AE5E2-B2D0-492A-907F-6865D50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实验进度：4k / 8k 当前均为 8/9；已完成样本均纳入最新汇总。</a:t>
            </a:r>
            <a:endParaRPr sz="1400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2FDDEA-17C6-48D0-A2C5-D1FBA19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来源：MoonConv formal workload；DSV4 Flash EP16 prefill 实验（2026-09-01 14:18 CST）</a:t>
            </a:r>
            <a:endParaRPr sz="675" b="0" i="1">
              <a:solidFill>
                <a:srgbClr val="898989"/>
              </a:solidFill>
            </a:endParaRP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09600" y="1890236"/>
          <a:ext xmlns:a="http://schemas.openxmlformats.org/drawingml/2006/main" cx="5334000" cy="25822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8dd9347ec649e2"/>
          </a:graphicData>
        </a:graphic>
      </p:graphicFrame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6385179" y="1885950"/>
          <a:ext xmlns:a="http://schemas.openxmlformats.org/drawingml/2006/main" cx="5060537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4eb9fc72b4005"/>
          </a:graphicData>
        </a:graphic>
      </p:graphicFrame>
    </p:spTree>
    <p:extLst>
      <p:ext uri="{BB962C8B-B14F-4D97-AF65-F5344CB8AC3E}">
        <p14:creationId xmlns:p14="http://schemas.microsoft.com/office/powerpoint/2010/main" val="12089298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1EE3646-DF5E-41DA-A5AD-145E077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DSV4 PREFILL RAW RESULTS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2AA577-0BE3-4500-99D5-86A5EE8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原始实验明细：AFD 大批次与 EP16 对照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B62F7F-F700-47AE-AE00-C256063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27E69F6-EB9B-4302-A3B5-9EA23F2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19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E9D91A-A3A7-4890-8CFC-BFEC9F0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7943CE-076E-4699-9CF9-D0ACB5B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原始汇总口径；TTFT 单位为秒；n 为截图中记录的 repeats 数。</a:t>
            </a:r>
            <a:endParaRPr sz="940" b="0">
              <a:solidFill>
                <a:srgbClr val="555757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DF6A15-DDDF-4D09-A663-82AFCD2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数据来源：用户提供的原始汇总表；数值按截图原样录入。</a:t>
            </a:r>
            <a:endParaRPr sz="1400" b="0" i="1">
              <a:solidFill>
                <a:srgbClr val="898989"/>
              </a:solidFill>
            </a:endParaRP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685800"/>
                <a:gridCol w="571500"/>
                <a:gridCol w="476250"/>
                <a:gridCol w="857250"/>
                <a:gridCol w="857250"/>
                <a:gridCol w="2000250"/>
                <a:gridCol w="1333500"/>
                <a:gridCol w="1333500"/>
                <a:gridCol w="133350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拓扑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RPS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QPS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达成率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Input tok/s/NPU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P99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3.900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97.5%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1,253.8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8.36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17.92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28.27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3.931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98.3%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1,264.0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5.22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7.79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10.82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3.948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1,269.2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10.78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4.339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1,395.1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45.56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90.11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110.09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5.777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96.3%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1,857.4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7.63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13.01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17.67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5.803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96.7%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1,865.9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7.57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12.64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17.36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4.371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54.6%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1,405.3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78.21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138.56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162.75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6.357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79.5%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2,043.7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18.53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39.80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56.69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AFD DP6TP4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6.896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86.2%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2,217.1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13.35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26.68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39.93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4k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1.988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99.4%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1,278.2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2.77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6.76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11.39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1.989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99.5%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1,279.2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3.09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6.31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10.80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4k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2.959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98.6%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1,902.9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7.88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15.80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22.48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2.959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98.6%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1,902.9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4.28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8.72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13.77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4k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2.910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72.8%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1,871.5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64.58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108.83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144.89</a:t>
                      </a:r>
                    </a:p>
                  </a:txBody>
                  <a:tcPr marL="91440" marR="91440" marT="45720" marB="45720">
                    <a:solidFill>
                      <a:srgbClr val="FFF3F3"/>
                    </a:solidFill>
                  </a:tcPr>
                </a:tc>
              </a:tr>
              <a:tr h="280702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EP16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3.741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93.5%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2,405.6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19.14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27.24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32.04</a:t>
                      </a:r>
                    </a:p>
                  </a:txBody>
                  <a:tcPr marL="91440" marR="91440" marT="45720" marB="45720">
                    <a:solidFill>
                      <a:srgbClr val="FFF9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60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2026-09-01T06:27:57.9070000Z</dcterms:created>
  <dcterms:modified xsi:type="dcterms:W3CDTF">2026-09-01T06:27:57.9080000Z</dcterms:modified>
</coreProperties>
</file>