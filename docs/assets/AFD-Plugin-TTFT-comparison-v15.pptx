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8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21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notesSlides/notesSlide22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notesSlides/notesSlide23.xml" ContentType="application/vnd.openxmlformats-officedocument.presentationml.notesSlide+xml"/>
  <Override PartName="/ppt/charts/chart23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24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notesSlides/notesSlide30.xml" ContentType="application/vnd.openxmlformats-officedocument.presentationml.notesSlid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notesSlides/notesSlide31.xml" ContentType="application/vnd.openxmlformats-officedocument.presentationml.notesSlide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notesSlides/notesSlide32.xml" ContentType="application/vnd.openxmlformats-officedocument.presentationml.notesSlide+xml"/>
  <Override PartName="/ppt/charts/chart40.xml" ContentType="application/vnd.openxmlformats-officedocument.drawingml.chart+xml"/>
  <Override PartName="/ppt/notesSlides/notesSlide33.xml" ContentType="application/vnd.openxmlformats-officedocument.presentationml.notesSlide+xml"/>
  <Override PartName="/ppt/charts/chart41.xml" ContentType="application/vnd.openxmlformats-officedocument.drawingml.chart+xml"/>
  <Override PartName="/ppt/notesSlides/notesSlide34.xml" ContentType="application/vnd.openxmlformats-officedocument.presentationml.notesSlide+xml"/>
  <Override PartName="/ppt/charts/chart42.xml" ContentType="application/vnd.openxmlformats-officedocument.drawingml.chart+xml"/>
  <Override PartName="/ppt/notesSlides/notesSlide35.xml" ContentType="application/vnd.openxmlformats-officedocument.presentationml.notesSlide+xml"/>
  <Override PartName="/ppt/charts/chart43.xml" ContentType="application/vnd.openxmlformats-officedocument.drawingml.chart+xml"/>
  <Override PartName="/ppt/notesSlides/notesSlide36.xml" ContentType="application/vnd.openxmlformats-officedocument.presentationml.notesSlide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notesSlides/notesSlide37.xml" ContentType="application/vnd.openxmlformats-officedocument.presentationml.notesSlide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4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8" r:id="rId21"/>
    <p:sldId id="294" r:id="rId22"/>
    <p:sldId id="295" r:id="rId23"/>
    <p:sldId id="296" r:id="rId24"/>
    <p:sldId id="297" r:id="rId25"/>
    <p:sldId id="292" r:id="rId26"/>
    <p:sldId id="289" r:id="rId27"/>
    <p:sldId id="290" r:id="rId28"/>
    <p:sldId id="291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93" r:id="rId39"/>
    <p:sldId id="299" r:id="rId40"/>
    <p:sldId id="300" r:id="rId4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请求占比</c:f>
              <c:strCache>
                <c:ptCount val="1"/>
                <c:pt idx="0">
                  <c:v>请求占比</c:v>
                </c:pt>
              </c:strCache>
            </c:strRef>
          </c:tx>
          <c:spPr>
            <a:solidFill>
              <a:srgbClr val="4472C4"/>
            </a:solidFill>
            <a:ln w="9525">
              <a:solidFill>
                <a:srgbClr val="4472C4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676B-4285-B053-F19B7D2E254E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3-676B-4285-B053-F19B7D2E254E}"/>
              </c:ext>
            </c:extLst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5-676B-4285-B053-F19B7D2E254E}"/>
              </c:ext>
            </c:extLst>
          </c:dPt>
          <c:dPt>
            <c:idx val="3"/>
            <c:invertIfNegative val="0"/>
            <c:bubble3D val="0"/>
            <c:spPr>
              <a:solidFill>
                <a:srgbClr val="F2A900"/>
              </a:solidFill>
            </c:spPr>
            <c:extLst>
              <c:ext xmlns:c16="http://schemas.microsoft.com/office/drawing/2014/chart" uri="{C3380CC4-5D6E-409C-BE32-E72D297353CC}">
                <c16:uniqueId val="{00000007-676B-4285-B053-F19B7D2E254E}"/>
              </c:ext>
            </c:extLst>
          </c:dPt>
          <c:dPt>
            <c:idx val="4"/>
            <c:invertIfNegative val="0"/>
            <c:bubble3D val="0"/>
            <c:spPr>
              <a:solidFill>
                <a:srgbClr val="F2A900"/>
              </a:solidFill>
            </c:spPr>
            <c:extLst>
              <c:ext xmlns:c16="http://schemas.microsoft.com/office/drawing/2014/chart" uri="{C3380CC4-5D6E-409C-BE32-E72D297353CC}">
                <c16:uniqueId val="{00000009-676B-4285-B053-F19B7D2E254E}"/>
              </c:ext>
            </c:extLst>
          </c:dPt>
          <c:dPt>
            <c:idx val="5"/>
            <c:invertIfNegative val="0"/>
            <c:bubble3D val="0"/>
            <c:spPr>
              <a:solidFill>
                <a:srgbClr val="F2A900"/>
              </a:solidFill>
            </c:spPr>
            <c:extLst>
              <c:ext xmlns:c16="http://schemas.microsoft.com/office/drawing/2014/chart" uri="{C3380CC4-5D6E-409C-BE32-E72D297353CC}">
                <c16:uniqueId val="{0000000B-676B-4285-B053-F19B7D2E254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75" b="1" i="0" u="none" strike="noStrike" kern="1200" baseline="0">
                    <a:solidFill>
                      <a:srgbClr val="222222"/>
                    </a:solidFill>
                    <a:latin typeface="Calibri"/>
                    <a:ea typeface="Calibri"/>
                    <a:cs typeface="Calibr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1–1K</c:v>
                </c:pt>
                <c:pt idx="1">
                  <c:v>1K–4K</c:v>
                </c:pt>
                <c:pt idx="2">
                  <c:v>4K–8K</c:v>
                </c:pt>
                <c:pt idx="3">
                  <c:v>8K–16K</c:v>
                </c:pt>
                <c:pt idx="4">
                  <c:v>16K–32K</c:v>
                </c:pt>
                <c:pt idx="5">
                  <c:v>32K–64K</c:v>
                </c:pt>
              </c:strCache>
            </c:strRef>
          </c:cat>
          <c:val>
            <c:numRef>
              <c:f>'Chart Data'!$B$2:$B$7</c:f>
              <c:numCache>
                <c:formatCode>0"%"</c:formatCode>
                <c:ptCount val="6"/>
                <c:pt idx="0">
                  <c:v>11.7</c:v>
                </c:pt>
                <c:pt idx="1">
                  <c:v>23.1</c:v>
                </c:pt>
                <c:pt idx="2">
                  <c:v>22.3</c:v>
                </c:pt>
                <c:pt idx="3">
                  <c:v>22.7</c:v>
                </c:pt>
                <c:pt idx="4">
                  <c:v>15.5</c:v>
                </c:pt>
                <c:pt idx="5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76B-4285-B053-F19B7D2E25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4dfaeae-c6c8-442f-be57-79ef3fa9af97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4.8099999999999996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BD-43BA-9B73-8F8EE1B945F8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1.111</c:v>
                </c:pt>
                <c:pt idx="1">
                  <c:v>1.8380000000000001</c:v>
                </c:pt>
                <c:pt idx="2">
                  <c:v>22.172000000000001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BD-43BA-9B73-8F8EE1B945F8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1.23</c:v>
                </c:pt>
                <c:pt idx="1">
                  <c:v>1.5960000000000001</c:v>
                </c:pt>
                <c:pt idx="2">
                  <c:v>2.1680000000000001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4BD-43BA-9B73-8F8EE1B945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625de33-97b9-4e15-86da-c1ff105f38ea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1.9710000000000001</c:v>
                </c:pt>
                <c:pt idx="2">
                  <c:v>8.407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65-49A3-8D2C-70F75980BE1A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1.8160000000000001</c:v>
                </c:pt>
                <c:pt idx="1">
                  <c:v>3.1869999999999998</c:v>
                </c:pt>
                <c:pt idx="2">
                  <c:v>30.074000000000002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65-49A3-8D2C-70F75980BE1A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1.9750000000000001</c:v>
                </c:pt>
                <c:pt idx="1">
                  <c:v>2.532</c:v>
                </c:pt>
                <c:pt idx="2">
                  <c:v>3.4889999999999999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65-49A3-8D2C-70F75980BE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605e75c-7c00-46a7-ad6f-61979dd3b7fb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3.4380000000000002</c:v>
                </c:pt>
                <c:pt idx="1">
                  <c:v>6.5839999999999996</c:v>
                </c:pt>
                <c:pt idx="2">
                  <c:v>14.76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AD-4222-9CA4-24AAA77E4866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4.633</c:v>
                </c:pt>
                <c:pt idx="1">
                  <c:v>7.6159999999999997</c:v>
                </c:pt>
                <c:pt idx="2">
                  <c:v>47.337000000000003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AD-4222-9CA4-24AAA77E4866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5.125</c:v>
                </c:pt>
                <c:pt idx="1">
                  <c:v>6.2149999999999999</c:v>
                </c:pt>
                <c:pt idx="2">
                  <c:v>8.1440000000000001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AD-4222-9CA4-24AAA77E48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fe422872-0fcb-41a6-8164-94440b652c1e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59-4C64-82B2-E4414C19E74F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6.0090000000000003</c:v>
                </c:pt>
                <c:pt idx="1">
                  <c:v>9.1969999999999992</c:v>
                </c:pt>
                <c:pt idx="2">
                  <c:v>51.255000000000003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59-4C64-82B2-E4414C19E74F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6.484</c:v>
                </c:pt>
                <c:pt idx="1">
                  <c:v>8.0239999999999991</c:v>
                </c:pt>
                <c:pt idx="2">
                  <c:v>10.185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159-4C64-82B2-E4414C19E7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082297e-b5dd-42b1-99de-1c002a64867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6.9770000000000003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8D-438B-AA35-F5458189D30F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8.3019999999999996</c:v>
                </c:pt>
                <c:pt idx="1">
                  <c:v>12.909000000000001</c:v>
                </c:pt>
                <c:pt idx="2">
                  <c:v>56.95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8D-438B-AA35-F5458189D30F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10.238</c:v>
                </c:pt>
                <c:pt idx="1">
                  <c:v>11.163</c:v>
                </c:pt>
                <c:pt idx="2">
                  <c:v>12.986000000000001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8D-438B-AA35-F5458189D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03d6bfd6-091f-4777-8d8a-c1161c86cf36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4.8099999999999996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F7-45FF-AECE-3B95D356E547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1.7909999999999999</c:v>
                </c:pt>
                <c:pt idx="1">
                  <c:v>2.5779999999999998</c:v>
                </c:pt>
                <c:pt idx="2">
                  <c:v>5.96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F7-45FF-AECE-3B95D356E547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2.294</c:v>
                </c:pt>
                <c:pt idx="1">
                  <c:v>3.117</c:v>
                </c:pt>
                <c:pt idx="2">
                  <c:v>3.734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1F7-45FF-AECE-3B95D356E5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637dc868-ddc5-418b-a592-cdff26f6991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1.9710000000000001</c:v>
                </c:pt>
                <c:pt idx="2">
                  <c:v>8.407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3C-49DD-9467-A10CCAAFC1F4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2.5720000000000001</c:v>
                </c:pt>
                <c:pt idx="1">
                  <c:v>3.653</c:v>
                </c:pt>
                <c:pt idx="2">
                  <c:v>8.6240000000000006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3C-49DD-9467-A10CCAAFC1F4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3.2530000000000001</c:v>
                </c:pt>
                <c:pt idx="1">
                  <c:v>4.2080000000000002</c:v>
                </c:pt>
                <c:pt idx="2">
                  <c:v>5.1520000000000001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3C-49DD-9467-A10CCAAFC1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176649f0-116d-47c3-b318-1b845f46ac80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3.4380000000000002</c:v>
                </c:pt>
                <c:pt idx="1">
                  <c:v>6.5839999999999996</c:v>
                </c:pt>
                <c:pt idx="2">
                  <c:v>14.76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B7-48BE-97CD-2BCBAB1C78AE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5.2939999999999996</c:v>
                </c:pt>
                <c:pt idx="1">
                  <c:v>7.2489999999999997</c:v>
                </c:pt>
                <c:pt idx="2">
                  <c:v>15.063000000000001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B7-48BE-97CD-2BCBAB1C78AE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6.6639999999999997</c:v>
                </c:pt>
                <c:pt idx="1">
                  <c:v>8.3539999999999992</c:v>
                </c:pt>
                <c:pt idx="2">
                  <c:v>10.119999999999999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B7-48BE-97CD-2BCBAB1C78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f5f1739-79f6-4bb3-b6cf-8eee5ced26f8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C2-42A3-BDEB-EA274C094168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6.6219999999999999</c:v>
                </c:pt>
                <c:pt idx="1">
                  <c:v>8.5779999999999994</c:v>
                </c:pt>
                <c:pt idx="2">
                  <c:v>16.847000000000001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C2-42A3-BDEB-EA274C094168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8.2509999999999994</c:v>
                </c:pt>
                <c:pt idx="1">
                  <c:v>10.071999999999999</c:v>
                </c:pt>
                <c:pt idx="2">
                  <c:v>12.025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C2-42A3-BDEB-EA274C0941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7e07d98c-0d43-4bcf-a72f-8097d9ede3a1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6.9770000000000003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E3-4E17-811E-95ACC0E00223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8.8919999999999995</c:v>
                </c:pt>
                <c:pt idx="1">
                  <c:v>11.058</c:v>
                </c:pt>
                <c:pt idx="2">
                  <c:v>20.385999999999999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E3-4E17-811E-95ACC0E00223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11.976000000000001</c:v>
                </c:pt>
                <c:pt idx="1">
                  <c:v>13.45</c:v>
                </c:pt>
                <c:pt idx="2">
                  <c:v>15.901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4E3-4E17-811E-95ACC0E002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5972e544-3a88-470a-a033-696469baf3b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4.8099999999999996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2F-4F70-A057-96A3880A4895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3.552</c:v>
                </c:pt>
                <c:pt idx="1">
                  <c:v>4.6890000000000001</c:v>
                </c:pt>
                <c:pt idx="2">
                  <c:v>6.0890000000000004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2F-4F70-A057-96A3880A4895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5.4260000000000002</c:v>
                </c:pt>
                <c:pt idx="1">
                  <c:v>7.3460000000000001</c:v>
                </c:pt>
                <c:pt idx="2">
                  <c:v>7.4820000000000002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A2F-4F70-A057-96A3880A4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f326043-2c29-4664-b4fc-b65448917573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1.9710000000000001</c:v>
                </c:pt>
                <c:pt idx="2">
                  <c:v>8.407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78-432B-95A5-B4617B599E5A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4.6890000000000001</c:v>
                </c:pt>
                <c:pt idx="1">
                  <c:v>5.8230000000000004</c:v>
                </c:pt>
                <c:pt idx="2">
                  <c:v>8.4019999999999992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78-432B-95A5-B4617B599E5A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7.0620000000000003</c:v>
                </c:pt>
                <c:pt idx="1">
                  <c:v>8.8740000000000006</c:v>
                </c:pt>
                <c:pt idx="2">
                  <c:v>9.2110000000000003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78-432B-95A5-B4617B599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93a51928-a0f6-4d6d-90b1-6c887b507a8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3.4380000000000002</c:v>
                </c:pt>
                <c:pt idx="1">
                  <c:v>6.5839999999999996</c:v>
                </c:pt>
                <c:pt idx="2">
                  <c:v>14.76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2E-48E9-B9FE-D4F8589E2757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7.84</c:v>
                </c:pt>
                <c:pt idx="1">
                  <c:v>9.5990000000000002</c:v>
                </c:pt>
                <c:pt idx="2">
                  <c:v>13.611000000000001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2E-48E9-B9FE-D4F8589E2757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11.337999999999999</c:v>
                </c:pt>
                <c:pt idx="1">
                  <c:v>14.125</c:v>
                </c:pt>
                <c:pt idx="2">
                  <c:v>14.688000000000001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2E-48E9-B9FE-D4F8589E27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9daf9ae-61f1-4bd1-870f-b9fa18aaa26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1E-4EDC-9476-6CBA6D6D9D18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9.1620000000000008</c:v>
                </c:pt>
                <c:pt idx="1">
                  <c:v>11.048</c:v>
                </c:pt>
                <c:pt idx="2">
                  <c:v>15.119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1E-4EDC-9476-6CBA6D6D9D18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13.313000000000001</c:v>
                </c:pt>
                <c:pt idx="1">
                  <c:v>16.088000000000001</c:v>
                </c:pt>
                <c:pt idx="2">
                  <c:v>16.658999999999999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1E-4EDC-9476-6CBA6D6D9D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c28eb5a0-a226-4a0b-9f8d-a3a390397321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6.9770000000000003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90-476C-B387-1B9628B60285}"/>
            </c:ext>
          </c:extLst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12.012</c:v>
                </c:pt>
                <c:pt idx="1">
                  <c:v>14.082000000000001</c:v>
                </c:pt>
                <c:pt idx="2">
                  <c:v>18.245999999999999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C90-476C-B387-1B9628B60285}"/>
            </c:ext>
          </c:extLst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16.565000000000001</c:v>
                </c:pt>
                <c:pt idx="1">
                  <c:v>19.753</c:v>
                </c:pt>
                <c:pt idx="2">
                  <c:v>20.542000000000002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C90-476C-B387-1B9628B602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366a06d1-0c34-4df2-af85-f52bff704f3e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99.891492999999997</c:v>
                </c:pt>
                <c:pt idx="1">
                  <c:v>97.829860999999994</c:v>
                </c:pt>
                <c:pt idx="2">
                  <c:v>62.999132000000003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09-4E1A-83C3-203959243B91}"/>
            </c:ext>
          </c:extLst>
        </c:ser>
        <c:ser>
          <c:idx val="1"/>
          <c:order val="1"/>
          <c:tx>
            <c:strRef>
              <c:f>EP16 DP4TP4 4K</c:f>
              <c:strCache>
                <c:ptCount val="1"/>
                <c:pt idx="0">
                  <c:v>EP16 DP4TP4 4K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99.761285000000001</c:v>
                </c:pt>
                <c:pt idx="1">
                  <c:v>96.245660000000001</c:v>
                </c:pt>
                <c:pt idx="2">
                  <c:v>9.1796880000000005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09-4E1A-83C3-203959243B91}"/>
            </c:ext>
          </c:extLst>
        </c:ser>
        <c:ser>
          <c:idx val="2"/>
          <c:order val="2"/>
          <c:tx>
            <c:strRef>
              <c:f>EP16 DP8TP2 4K</c:f>
              <c:strCache>
                <c:ptCount val="1"/>
                <c:pt idx="0">
                  <c:v>EP16 DP8TP2 4K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98.741319000000004</c:v>
                </c:pt>
                <c:pt idx="1">
                  <c:v>97.699652999999998</c:v>
                </c:pt>
                <c:pt idx="2">
                  <c:v>94.726562999999999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09-4E1A-83C3-203959243B91}"/>
            </c:ext>
          </c:extLst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209-4E1A-83C3-203959243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13f1f24b-cf3b-474a-bbc1-f335b3c96b9b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99.978299000000007</c:v>
                </c:pt>
                <c:pt idx="1">
                  <c:v>99.978299000000007</c:v>
                </c:pt>
                <c:pt idx="2">
                  <c:v>99.978299000000007</c:v>
                </c:pt>
                <c:pt idx="3">
                  <c:v>99.978299000000007</c:v>
                </c:pt>
                <c:pt idx="4">
                  <c:v>99.978299000000007</c:v>
                </c:pt>
                <c:pt idx="5">
                  <c:v>99.978299000000007</c:v>
                </c:pt>
                <c:pt idx="6">
                  <c:v>99.978299000000007</c:v>
                </c:pt>
                <c:pt idx="7">
                  <c:v>99.869792000000004</c:v>
                </c:pt>
                <c:pt idx="8">
                  <c:v>98.415799000000007</c:v>
                </c:pt>
                <c:pt idx="9">
                  <c:v>90.256075999999993</c:v>
                </c:pt>
                <c:pt idx="10">
                  <c:v>62.999132000000003</c:v>
                </c:pt>
                <c:pt idx="11">
                  <c:v>26.714410000000001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B9-4240-9570-ED85223F2C15}"/>
            </c:ext>
          </c:extLst>
        </c:ser>
        <c:ser>
          <c:idx val="1"/>
          <c:order val="1"/>
          <c:tx>
            <c:strRef>
              <c:f>EP16 DP4TP4 4K</c:f>
              <c:strCache>
                <c:ptCount val="1"/>
                <c:pt idx="0">
                  <c:v>EP16 DP4TP4 4K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99.631075999999993</c:v>
                </c:pt>
                <c:pt idx="1">
                  <c:v>98.003472000000002</c:v>
                </c:pt>
                <c:pt idx="2">
                  <c:v>93.489582999999996</c:v>
                </c:pt>
                <c:pt idx="3">
                  <c:v>85.308160000000001</c:v>
                </c:pt>
                <c:pt idx="4">
                  <c:v>76.280382000000003</c:v>
                </c:pt>
                <c:pt idx="5">
                  <c:v>65.429687999999999</c:v>
                </c:pt>
                <c:pt idx="6">
                  <c:v>49.696181000000003</c:v>
                </c:pt>
                <c:pt idx="7">
                  <c:v>32.443576</c:v>
                </c:pt>
                <c:pt idx="8">
                  <c:v>21.571180999999999</c:v>
                </c:pt>
                <c:pt idx="9">
                  <c:v>15.668403</c:v>
                </c:pt>
                <c:pt idx="10">
                  <c:v>9.1796880000000005</c:v>
                </c:pt>
                <c:pt idx="11">
                  <c:v>3.1032989999999998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B9-4240-9570-ED85223F2C15}"/>
            </c:ext>
          </c:extLst>
        </c:ser>
        <c:ser>
          <c:idx val="2"/>
          <c:order val="2"/>
          <c:tx>
            <c:strRef>
              <c:f>EP16 DP8TP2 4K</c:f>
              <c:strCache>
                <c:ptCount val="1"/>
                <c:pt idx="0">
                  <c:v>EP16 DP8TP2 4K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99.978299000000007</c:v>
                </c:pt>
                <c:pt idx="9">
                  <c:v>99.500867999999997</c:v>
                </c:pt>
                <c:pt idx="10">
                  <c:v>94.726562999999999</c:v>
                </c:pt>
                <c:pt idx="11">
                  <c:v>69.379339999999999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B9-4240-9570-ED85223F2C15}"/>
            </c:ext>
          </c:extLst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5B9-4240-9570-ED85223F2C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c353e88b-b0de-4d3a-9ece-efae3cdb2a06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99.891492999999997</c:v>
                </c:pt>
                <c:pt idx="1">
                  <c:v>97.829860999999994</c:v>
                </c:pt>
                <c:pt idx="2">
                  <c:v>62.999132000000003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81-473B-96DE-3EFC36914808}"/>
            </c:ext>
          </c:extLst>
        </c:ser>
        <c:ser>
          <c:idx val="1"/>
          <c:order val="1"/>
          <c:tx>
            <c:strRef>
              <c:f>EP16 DP4TP4 8K</c:f>
              <c:strCache>
                <c:ptCount val="1"/>
                <c:pt idx="0">
                  <c:v>EP16 DP4TP4 8K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99.717882000000003</c:v>
                </c:pt>
                <c:pt idx="1">
                  <c:v>98.046875</c:v>
                </c:pt>
                <c:pt idx="2">
                  <c:v>62.521701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81-473B-96DE-3EFC36914808}"/>
            </c:ext>
          </c:extLst>
        </c:ser>
        <c:ser>
          <c:idx val="2"/>
          <c:order val="2"/>
          <c:tx>
            <c:strRef>
              <c:f>EP16 DP8TP2 8K</c:f>
              <c:strCache>
                <c:ptCount val="1"/>
                <c:pt idx="0">
                  <c:v>EP16 DP8TP2 8K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97.395832999999996</c:v>
                </c:pt>
                <c:pt idx="1">
                  <c:v>94.835069000000004</c:v>
                </c:pt>
                <c:pt idx="2">
                  <c:v>89.561632000000003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81-473B-96DE-3EFC36914808}"/>
            </c:ext>
          </c:extLst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181-473B-96DE-3EFC369148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9187a1cc-a7c2-46d6-bba9-6fbe0be64bb5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99.978299000000007</c:v>
                </c:pt>
                <c:pt idx="1">
                  <c:v>99.978299000000007</c:v>
                </c:pt>
                <c:pt idx="2">
                  <c:v>99.978299000000007</c:v>
                </c:pt>
                <c:pt idx="3">
                  <c:v>99.978299000000007</c:v>
                </c:pt>
                <c:pt idx="4">
                  <c:v>99.978299000000007</c:v>
                </c:pt>
                <c:pt idx="5">
                  <c:v>99.978299000000007</c:v>
                </c:pt>
                <c:pt idx="6">
                  <c:v>99.978299000000007</c:v>
                </c:pt>
                <c:pt idx="7">
                  <c:v>99.869792000000004</c:v>
                </c:pt>
                <c:pt idx="8">
                  <c:v>98.415799000000007</c:v>
                </c:pt>
                <c:pt idx="9">
                  <c:v>90.256075999999993</c:v>
                </c:pt>
                <c:pt idx="10">
                  <c:v>62.999132000000003</c:v>
                </c:pt>
                <c:pt idx="11">
                  <c:v>26.714410000000001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50-4EF1-96F2-55EAD231EC3C}"/>
            </c:ext>
          </c:extLst>
        </c:ser>
        <c:ser>
          <c:idx val="1"/>
          <c:order val="1"/>
          <c:tx>
            <c:strRef>
              <c:f>EP16 DP4TP4 8K</c:f>
              <c:strCache>
                <c:ptCount val="1"/>
                <c:pt idx="0">
                  <c:v>EP16 DP4TP4 8K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98.567707999999996</c:v>
                </c:pt>
                <c:pt idx="9">
                  <c:v>89.735242999999997</c:v>
                </c:pt>
                <c:pt idx="10">
                  <c:v>62.521701</c:v>
                </c:pt>
                <c:pt idx="11">
                  <c:v>17.1875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50-4EF1-96F2-55EAD231EC3C}"/>
            </c:ext>
          </c:extLst>
        </c:ser>
        <c:ser>
          <c:idx val="2"/>
          <c:order val="2"/>
          <c:tx>
            <c:strRef>
              <c:f>EP16 DP8TP2 8K</c:f>
              <c:strCache>
                <c:ptCount val="1"/>
                <c:pt idx="0">
                  <c:v>EP16 DP8TP2 8K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99.956597000000002</c:v>
                </c:pt>
                <c:pt idx="9">
                  <c:v>98.524305999999996</c:v>
                </c:pt>
                <c:pt idx="10">
                  <c:v>89.561632000000003</c:v>
                </c:pt>
                <c:pt idx="11">
                  <c:v>48.003472000000002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50-4EF1-96F2-55EAD231EC3C}"/>
            </c:ext>
          </c:extLst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550-4EF1-96F2-55EAD231E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ab216873-509e-457e-a7f9-79786b96e903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99.891492999999997</c:v>
                </c:pt>
                <c:pt idx="1">
                  <c:v>97.829860999999994</c:v>
                </c:pt>
                <c:pt idx="2">
                  <c:v>62.999132000000003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09-4010-8DBC-128FCE6D2625}"/>
            </c:ext>
          </c:extLst>
        </c:ser>
        <c:ser>
          <c:idx val="1"/>
          <c:order val="1"/>
          <c:tx>
            <c:strRef>
              <c:f>EP16 DP4TP4 16K</c:f>
              <c:strCache>
                <c:ptCount val="1"/>
                <c:pt idx="0">
                  <c:v>EP16 DP4TP4 16K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96.744792000000004</c:v>
                </c:pt>
                <c:pt idx="1">
                  <c:v>91.601562999999999</c:v>
                </c:pt>
                <c:pt idx="2">
                  <c:v>66.297742999999997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09-4010-8DBC-128FCE6D2625}"/>
            </c:ext>
          </c:extLst>
        </c:ser>
        <c:ser>
          <c:idx val="2"/>
          <c:order val="2"/>
          <c:tx>
            <c:strRef>
              <c:f>EP16 DP8TP2 16K</c:f>
              <c:strCache>
                <c:ptCount val="1"/>
                <c:pt idx="0">
                  <c:v>EP16 DP8TP2 16K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84.309895999999995</c:v>
                </c:pt>
                <c:pt idx="1">
                  <c:v>63.975693999999997</c:v>
                </c:pt>
                <c:pt idx="2">
                  <c:v>59.592013999999999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E09-4010-8DBC-128FCE6D2625}"/>
            </c:ext>
          </c:extLst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E09-4010-8DBC-128FCE6D26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636d9438-47e2-4ca0-b11a-67c18c5aa2dd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99.978299000000007</c:v>
                </c:pt>
                <c:pt idx="1">
                  <c:v>99.978299000000007</c:v>
                </c:pt>
                <c:pt idx="2">
                  <c:v>99.978299000000007</c:v>
                </c:pt>
                <c:pt idx="3">
                  <c:v>99.978299000000007</c:v>
                </c:pt>
                <c:pt idx="4">
                  <c:v>99.978299000000007</c:v>
                </c:pt>
                <c:pt idx="5">
                  <c:v>99.978299000000007</c:v>
                </c:pt>
                <c:pt idx="6">
                  <c:v>99.978299000000007</c:v>
                </c:pt>
                <c:pt idx="7">
                  <c:v>99.869792000000004</c:v>
                </c:pt>
                <c:pt idx="8">
                  <c:v>98.415799000000007</c:v>
                </c:pt>
                <c:pt idx="9">
                  <c:v>90.256075999999993</c:v>
                </c:pt>
                <c:pt idx="10">
                  <c:v>62.999132000000003</c:v>
                </c:pt>
                <c:pt idx="11">
                  <c:v>26.714410000000001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C-4C28-8C76-8152C7949BFA}"/>
            </c:ext>
          </c:extLst>
        </c:ser>
        <c:ser>
          <c:idx val="1"/>
          <c:order val="1"/>
          <c:tx>
            <c:strRef>
              <c:f>EP16 DP4TP4 16K</c:f>
              <c:strCache>
                <c:ptCount val="1"/>
                <c:pt idx="0">
                  <c:v>EP16 DP4TP4 16K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99.956597000000002</c:v>
                </c:pt>
                <c:pt idx="8">
                  <c:v>99.674479000000005</c:v>
                </c:pt>
                <c:pt idx="9">
                  <c:v>94.683160000000001</c:v>
                </c:pt>
                <c:pt idx="10">
                  <c:v>66.297742999999997</c:v>
                </c:pt>
                <c:pt idx="11">
                  <c:v>12.999131999999999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C-4C28-8C76-8152C7949BFA}"/>
            </c:ext>
          </c:extLst>
        </c:ser>
        <c:ser>
          <c:idx val="2"/>
          <c:order val="2"/>
          <c:tx>
            <c:strRef>
              <c:f>EP16 DP8TP2 16K</c:f>
              <c:strCache>
                <c:ptCount val="1"/>
                <c:pt idx="0">
                  <c:v>EP16 DP8TP2 16K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99.913194000000004</c:v>
                </c:pt>
                <c:pt idx="8">
                  <c:v>98.697917000000004</c:v>
                </c:pt>
                <c:pt idx="9">
                  <c:v>90.885417000000004</c:v>
                </c:pt>
                <c:pt idx="10">
                  <c:v>59.592013999999999</c:v>
                </c:pt>
                <c:pt idx="11">
                  <c:v>1.0416669999999999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C-4C28-8C76-8152C7949BFA}"/>
            </c:ext>
          </c:extLst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27C-4C28-8C76-8152C7949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2a59a1fc-c878-44d5-a351-0c910fdbdb52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8K</c:f>
              <c:strCache>
                <c:ptCount val="1"/>
                <c:pt idx="0">
                  <c:v>8K</c:v>
                </c:pt>
              </c:strCache>
            </c:strRef>
          </c:tx>
          <c:spPr>
            <a:ln w="19050" cap="rnd">
              <a:solidFill>
                <a:srgbClr val="C000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C00000"/>
              </a:solidFill>
            </c:spPr>
          </c:marker>
          <c:cat>
            <c:strRef>
              <c:f>'Chart Data'!$A$2:$A$4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1.9744409999999999</c:v>
                </c:pt>
                <c:pt idx="1">
                  <c:v>4.0049520000000003</c:v>
                </c:pt>
                <c:pt idx="2">
                  <c:v>32.115772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28-48B5-8700-259CADB157E5}"/>
            </c:ext>
          </c:extLst>
        </c:ser>
        <c:ser>
          <c:idx val="1"/>
          <c:order val="1"/>
          <c:tx>
            <c:strRef>
              <c:f>16K</c:f>
              <c:strCache>
                <c:ptCount val="1"/>
                <c:pt idx="0">
                  <c:v>16K</c:v>
                </c:pt>
              </c:strCache>
            </c:strRef>
          </c:tx>
          <c:spPr>
            <a:ln w="19050" cap="rnd">
              <a:solidFill>
                <a:srgbClr val="2B50A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2B50A4"/>
              </a:solidFill>
            </c:spPr>
          </c:marker>
          <c:cat>
            <c:strRef>
              <c:f>'Chart Data'!$C$2:$C$4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1.535552</c:v>
                </c:pt>
                <c:pt idx="1">
                  <c:v>2.6281729999999999</c:v>
                </c:pt>
                <c:pt idx="2">
                  <c:v>10.155533999999999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28-48B5-8700-259CADB157E5}"/>
            </c:ext>
          </c:extLst>
        </c:ser>
        <c:ser>
          <c:idx val="2"/>
          <c:order val="2"/>
          <c:tx>
            <c:strRef>
              <c:f>32K</c:f>
              <c:strCache>
                <c:ptCount val="1"/>
                <c:pt idx="0">
                  <c:v>32K</c:v>
                </c:pt>
              </c:strCache>
            </c:strRef>
          </c:tx>
          <c:spPr>
            <a:ln w="19050" cap="rnd">
              <a:solidFill>
                <a:srgbClr val="548A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A00"/>
              </a:solidFill>
            </c:spPr>
          </c:marker>
          <c:cat>
            <c:strRef>
              <c:f>'Chart Data'!$E$2:$E$4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1.671063</c:v>
                </c:pt>
                <c:pt idx="1">
                  <c:v>2.7673899999999998</c:v>
                </c:pt>
                <c:pt idx="2">
                  <c:v>7.5423999999999998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28-48B5-8700-259CADB157E5}"/>
            </c:ext>
          </c:extLst>
        </c:ser>
        <c:ser>
          <c:idx val="3"/>
          <c:order val="3"/>
          <c:tx>
            <c:strRef>
              <c:f>64K</c:f>
              <c:strCache>
                <c:ptCount val="1"/>
                <c:pt idx="0">
                  <c:v>64K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cat>
            <c:strRef>
              <c:f>'Chart Data'!$G$2:$G$4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1.6205799999999999</c:v>
                </c:pt>
                <c:pt idx="1">
                  <c:v>2.8964970000000001</c:v>
                </c:pt>
                <c:pt idx="2">
                  <c:v>8.5552650000000003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C28-48B5-8700-259CADB157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5"/>
      </c:valAx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/>
              </a:solidFill>
              <a:latin typeface="微软雅黑"/>
              <a:ea typeface="微软雅黑"/>
              <a:cs typeface="微软雅黑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26d55a2-f581-4fae-84ae-08a61a2b3a63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RPS 3</c:f>
              <c:strCache>
                <c:ptCount val="1"/>
                <c:pt idx="0">
                  <c:v>RPS 3</c:v>
                </c:pt>
              </c:strCache>
            </c:strRef>
          </c:tx>
          <c:spPr>
            <a:solidFill>
              <a:srgbClr val="2B50A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2.8964970000000001</c:v>
                </c:pt>
                <c:pt idx="1">
                  <c:v>1.970793</c:v>
                </c:pt>
                <c:pt idx="2">
                  <c:v>11.059542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6E-48F1-A5A3-50E4AA0F5378}"/>
            </c:ext>
          </c:extLst>
        </c:ser>
        <c:ser>
          <c:idx val="1"/>
          <c:order val="1"/>
          <c:tx>
            <c:strRef>
              <c:f>RPS 4</c:f>
              <c:strCache>
                <c:ptCount val="1"/>
                <c:pt idx="0">
                  <c:v>RPS 4</c:v>
                </c:pt>
              </c:strCache>
            </c:strRef>
          </c:tx>
          <c:spPr>
            <a:solidFill>
              <a:srgbClr val="F2A3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8.5552650000000003</c:v>
                </c:pt>
                <c:pt idx="1">
                  <c:v>8.4069199999999995</c:v>
                </c:pt>
                <c:pt idx="2">
                  <c:v>20.284884999999999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6E-48F1-A5A3-50E4AA0F53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5"/>
      </c:valAx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/>
              </a:solidFill>
              <a:latin typeface="微软雅黑"/>
              <a:ea typeface="微软雅黑"/>
              <a:cs typeface="微软雅黑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72079c3-f183-4842-8afd-3ef87c697534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A48A-4601-ADE8-01A338606763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A48A-4601-ADE8-01A338606763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A48A-4601-ADE8-01A338606763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2.2789999999999999</c:v>
                </c:pt>
                <c:pt idx="2">
                  <c:v>8.1760000000000002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48A-4601-ADE8-01A338606763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A48A-4601-ADE8-01A338606763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A48A-4601-ADE8-01A338606763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A48A-4601-ADE8-01A338606763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1.093</c:v>
                </c:pt>
                <c:pt idx="1">
                  <c:v>1.792</c:v>
                </c:pt>
                <c:pt idx="2">
                  <c:v>12.122999999999999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A48A-4601-ADE8-01A3386067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rgbClr val="222222"/>
              </a:solidFill>
              <a:latin typeface="Calibri"/>
              <a:ea typeface="Calibri"/>
              <a:cs typeface="Calibri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5ed0835-5dc8-48b3-8c06-2c6bee534a09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4435-487D-B1C5-8CB8A5512101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4435-487D-B1C5-8CB8A5512101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4435-487D-B1C5-8CB8A5512101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435-487D-B1C5-8CB8A5512101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4435-487D-B1C5-8CB8A5512101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4435-487D-B1C5-8CB8A5512101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4435-487D-B1C5-8CB8A5512101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1.7529999999999999</c:v>
                </c:pt>
                <c:pt idx="1">
                  <c:v>2.9590000000000001</c:v>
                </c:pt>
                <c:pt idx="2">
                  <c:v>17.853999999999999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4435-487D-B1C5-8CB8A5512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8391569-cd7c-4056-8d7d-a74e09d0c421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93BE-467D-94D4-E560D6EBFC93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93BE-467D-94D4-E560D6EBFC93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93BE-467D-94D4-E560D6EBFC93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4.0570000000000004</c:v>
                </c:pt>
                <c:pt idx="1">
                  <c:v>7.1820000000000004</c:v>
                </c:pt>
                <c:pt idx="2">
                  <c:v>17.824000000000002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93BE-467D-94D4-E560D6EBFC93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93BE-467D-94D4-E560D6EBFC93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93BE-467D-94D4-E560D6EBFC93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93BE-467D-94D4-E560D6EBFC93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4.524</c:v>
                </c:pt>
                <c:pt idx="1">
                  <c:v>6.7839999999999998</c:v>
                </c:pt>
                <c:pt idx="2">
                  <c:v>28.606000000000002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93BE-467D-94D4-E560D6EBFC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7c2ff57-c89b-4bfb-9e5e-7f394e123dd1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6134-47EE-A664-72D2EB9AEB7A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6134-47EE-A664-72D2EB9AEB7A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6134-47EE-A664-72D2EB9AEB7A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8.5120000000000005</c:v>
                </c:pt>
                <c:pt idx="2">
                  <c:v>20.010000000000002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134-47EE-A664-72D2EB9AEB7A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6134-47EE-A664-72D2EB9AEB7A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6134-47EE-A664-72D2EB9AEB7A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6134-47EE-A664-72D2EB9AEB7A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5.7619999999999996</c:v>
                </c:pt>
                <c:pt idx="1">
                  <c:v>8.2889999999999997</c:v>
                </c:pt>
                <c:pt idx="2">
                  <c:v>30.992999999999999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6134-47EE-A664-72D2EB9AEB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2ef52ef-3ba6-471b-8493-40d312c3c93a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B132-4675-BC5A-6EBBF0FA6AF4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B132-4675-BC5A-6EBBF0FA6AF4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B132-4675-BC5A-6EBBF0FA6AF4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7.1269999999999998</c:v>
                </c:pt>
                <c:pt idx="1">
                  <c:v>11.265000000000001</c:v>
                </c:pt>
                <c:pt idx="2">
                  <c:v>24.962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132-4675-BC5A-6EBBF0FA6AF4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B132-4675-BC5A-6EBBF0FA6AF4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B132-4675-BC5A-6EBBF0FA6AF4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B132-4675-BC5A-6EBBF0FA6AF4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8.1549999999999994</c:v>
                </c:pt>
                <c:pt idx="1">
                  <c:v>10.824</c:v>
                </c:pt>
                <c:pt idx="2">
                  <c:v>35.725000000000001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B132-4675-BC5A-6EBBF0FA6A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6b46d5d-170a-4a5b-a1ef-6b1aece83286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E544-4AD3-93D7-B52DB9DCBE30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E544-4AD3-93D7-B52DB9DCBE30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E544-4AD3-93D7-B52DB9DCBE30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2.2789999999999999</c:v>
                </c:pt>
                <c:pt idx="2">
                  <c:v>8.1760000000000002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544-4AD3-93D7-B52DB9DCBE30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E544-4AD3-93D7-B52DB9DCBE30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E544-4AD3-93D7-B52DB9DCBE30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E544-4AD3-93D7-B52DB9DCBE30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1.7749999999999999</c:v>
                </c:pt>
                <c:pt idx="1">
                  <c:v>2.5990000000000002</c:v>
                </c:pt>
                <c:pt idx="2">
                  <c:v>5.3940000000000001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E544-4AD3-93D7-B52DB9DCB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rgbClr val="222222"/>
              </a:solidFill>
              <a:latin typeface="Calibri"/>
              <a:ea typeface="Calibri"/>
              <a:cs typeface="Calibri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2f798b4-a820-4f3b-85a3-a8b570418dff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0FD3-464C-88A6-47938CEF185C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0FD3-464C-88A6-47938CEF185C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0FD3-464C-88A6-47938CEF185C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FD3-464C-88A6-47938CEF185C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0FD3-464C-88A6-47938CEF185C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0FD3-464C-88A6-47938CEF185C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0FD3-464C-88A6-47938CEF185C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2.5750000000000002</c:v>
                </c:pt>
                <c:pt idx="1">
                  <c:v>3.6120000000000001</c:v>
                </c:pt>
                <c:pt idx="2">
                  <c:v>7.423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0FD3-464C-88A6-47938CEF18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274b993-5e88-424a-8b0d-4d4690d5dbd4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3810-46DA-93F2-23719B612D8D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3810-46DA-93F2-23719B612D8D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3810-46DA-93F2-23719B612D8D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4.0570000000000004</c:v>
                </c:pt>
                <c:pt idx="1">
                  <c:v>7.1820000000000004</c:v>
                </c:pt>
                <c:pt idx="2">
                  <c:v>17.824000000000002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810-46DA-93F2-23719B612D8D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3810-46DA-93F2-23719B612D8D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3810-46DA-93F2-23719B612D8D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3810-46DA-93F2-23719B612D8D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5.2060000000000004</c:v>
                </c:pt>
                <c:pt idx="1">
                  <c:v>7.3650000000000002</c:v>
                </c:pt>
                <c:pt idx="2">
                  <c:v>12.161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3810-46DA-93F2-23719B612D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a372892-8b86-4850-8944-967d420d564e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D1AC-4B08-BB4F-0F943407080A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D1AC-4B08-BB4F-0F943407080A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D1AC-4B08-BB4F-0F943407080A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8.5120000000000005</c:v>
                </c:pt>
                <c:pt idx="2">
                  <c:v>20.010000000000002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1AC-4B08-BB4F-0F943407080A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D1AC-4B08-BB4F-0F943407080A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D1AC-4B08-BB4F-0F943407080A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D1AC-4B08-BB4F-0F943407080A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6.4820000000000002</c:v>
                </c:pt>
                <c:pt idx="1">
                  <c:v>8.8789999999999996</c:v>
                </c:pt>
                <c:pt idx="2">
                  <c:v>13.829000000000001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D1AC-4B08-BB4F-0F94340708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23651da6-e5e7-43ba-a0ba-3c65618eb789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80BC-4B0D-AC74-6E7E95A28209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80BC-4B0D-AC74-6E7E95A28209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80BC-4B0D-AC74-6E7E95A28209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7.1269999999999998</c:v>
                </c:pt>
                <c:pt idx="1">
                  <c:v>11.265000000000001</c:v>
                </c:pt>
                <c:pt idx="2">
                  <c:v>24.962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0BC-4B0D-AC74-6E7E95A28209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80BC-4B0D-AC74-6E7E95A28209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80BC-4B0D-AC74-6E7E95A28209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80BC-4B0D-AC74-6E7E95A28209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8.7550000000000008</c:v>
                </c:pt>
                <c:pt idx="1">
                  <c:v>11.46</c:v>
                </c:pt>
                <c:pt idx="2">
                  <c:v>16.79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80BC-4B0D-AC74-6E7E95A282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5e56fab-453b-4f40-a701-eba3c791edbf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A170-4A1C-B083-889FD833042D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A170-4A1C-B083-889FD833042D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A170-4A1C-B083-889FD833042D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2.2789999999999999</c:v>
                </c:pt>
                <c:pt idx="2">
                  <c:v>8.1760000000000002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170-4A1C-B083-889FD833042D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A170-4A1C-B083-889FD833042D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A170-4A1C-B083-889FD833042D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A170-4A1C-B083-889FD833042D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3.5710000000000002</c:v>
                </c:pt>
                <c:pt idx="1">
                  <c:v>4.7789999999999999</c:v>
                </c:pt>
                <c:pt idx="2">
                  <c:v>5.8979999999999997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A170-4A1C-B083-889FD8330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rgbClr val="222222"/>
              </a:solidFill>
              <a:latin typeface="Calibri"/>
              <a:ea typeface="Calibri"/>
              <a:cs typeface="Calibri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a92e33c-a1eb-47b7-ae9a-7cd7b8c33e63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6F13-4A66-BA47-B387E92059C5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6F13-4A66-BA47-B387E92059C5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6F13-4A66-BA47-B387E92059C5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F13-4A66-BA47-B387E92059C5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6F13-4A66-BA47-B387E92059C5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6F13-4A66-BA47-B387E92059C5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6F13-4A66-BA47-B387E92059C5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4.798</c:v>
                </c:pt>
                <c:pt idx="1">
                  <c:v>5.9359999999999999</c:v>
                </c:pt>
                <c:pt idx="2">
                  <c:v>7.859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6F13-4A66-BA47-B387E92059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dd78ea0-c52a-41e4-8b1e-6a972d1ee083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8F40-4AC5-B00E-03B08BC7CE44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8F40-4AC5-B00E-03B08BC7CE44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8F40-4AC5-B00E-03B08BC7CE44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4.0570000000000004</c:v>
                </c:pt>
                <c:pt idx="1">
                  <c:v>7.1820000000000004</c:v>
                </c:pt>
                <c:pt idx="2">
                  <c:v>17.824000000000002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F40-4AC5-B00E-03B08BC7CE44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8F40-4AC5-B00E-03B08BC7CE44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8F40-4AC5-B00E-03B08BC7CE44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8F40-4AC5-B00E-03B08BC7CE44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7.9809999999999999</c:v>
                </c:pt>
                <c:pt idx="1">
                  <c:v>9.9909999999999997</c:v>
                </c:pt>
                <c:pt idx="2">
                  <c:v>12.648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8F40-4AC5-B00E-03B08BC7CE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0e82bdb-4a69-4404-a21a-6ccf9edc7e5f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8195-4A2E-9D05-00D006D0BB86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8195-4A2E-9D05-00D006D0BB86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8195-4A2E-9D05-00D006D0BB86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8.5120000000000005</c:v>
                </c:pt>
                <c:pt idx="2">
                  <c:v>20.010000000000002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195-4A2E-9D05-00D006D0BB86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8195-4A2E-9D05-00D006D0BB86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8195-4A2E-9D05-00D006D0BB86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8195-4A2E-9D05-00D006D0BB86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9.5129999999999999</c:v>
                </c:pt>
                <c:pt idx="1">
                  <c:v>11.557</c:v>
                </c:pt>
                <c:pt idx="2">
                  <c:v>14.212999999999999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8195-4A2E-9D05-00D006D0BB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97c88a6-a6a3-48c2-9798-b760983ccec5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1-1FFA-4467-BF88-A1A53B3B41E9}"/>
              </c:ext>
            </c:extLst>
          </c:dPt>
          <c:dPt>
            <c:idx val="1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3-1FFA-4467-BF88-A1A53B3B41E9}"/>
              </c:ext>
            </c:extLst>
          </c:dPt>
          <c:dPt>
            <c:idx val="2"/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1FFA-4467-BF88-A1A53B3B41E9}"/>
              </c:ext>
            </c:extLst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7.1269999999999998</c:v>
                </c:pt>
                <c:pt idx="1">
                  <c:v>11.265000000000001</c:v>
                </c:pt>
                <c:pt idx="2">
                  <c:v>24.962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FFA-4467-BF88-A1A53B3B41E9}"/>
            </c:ext>
          </c:extLst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8-1FFA-4467-BF88-A1A53B3B41E9}"/>
              </c:ext>
            </c:extLst>
          </c:dPt>
          <c:dPt>
            <c:idx val="1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A-1FFA-4467-BF88-A1A53B3B41E9}"/>
              </c:ext>
            </c:extLst>
          </c:dPt>
          <c:dPt>
            <c:idx val="2"/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C-1FFA-4467-BF88-A1A53B3B41E9}"/>
              </c:ext>
            </c:extLst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12.266</c:v>
                </c:pt>
                <c:pt idx="1">
                  <c:v>14.676</c:v>
                </c:pt>
                <c:pt idx="2">
                  <c:v>17.253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1FFA-4467-BF88-A1A53B3B41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4c7e209-073e-435a-8873-cfc07cbfe7a8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>
              <a:solidFill>
                <a:srgbClr val="F2A300"/>
              </a:solidFill>
            </a:ln>
          </c:spPr>
          <c:marker>
            <c:symbol val="circle"/>
            <c:size val="6"/>
            <c:spPr>
              <a:solidFill>
                <a:srgbClr val="F2A300"/>
              </a:solidFill>
              <a:ln>
                <a:solidFill>
                  <a:srgbClr val="F2A3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0.451674560084939</c:v>
                </c:pt>
                <c:pt idx="1">
                  <c:v>0.81354261096566916</c:v>
                </c:pt>
                <c:pt idx="2">
                  <c:v>2.8646049782012901</c:v>
                </c:pt>
                <c:pt idx="3">
                  <c:v>6.0842285902860294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D3-4C54-8ED6-5D9CCE0343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>
              <a:solidFill>
                <a:srgbClr val="548235"/>
              </a:solidFill>
            </a:ln>
          </c:spPr>
          <c:marker>
            <c:symbol val="diamond"/>
            <c:size val="6"/>
            <c:spPr>
              <a:solidFill>
                <a:srgbClr val="548235"/>
              </a:solidFill>
              <a:ln>
                <a:solidFill>
                  <a:srgbClr val="54823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0.3731816156456868</c:v>
                </c:pt>
                <c:pt idx="1">
                  <c:v>0.82474814945211017</c:v>
                </c:pt>
                <c:pt idx="2">
                  <c:v>2.9279659449433288</c:v>
                </c:pt>
                <c:pt idx="3">
                  <c:v>5.9494828658178616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D3-4C54-8ED6-5D9CCE0343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>
              <a:solidFill>
                <a:srgbClr val="4472C4"/>
              </a:solidFill>
            </a:ln>
          </c:spPr>
          <c:marker>
            <c:symbol val="triangle"/>
            <c:size val="6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1.0758659859808783</c:v>
                </c:pt>
                <c:pt idx="1">
                  <c:v>1.8688688091933727</c:v>
                </c:pt>
                <c:pt idx="2">
                  <c:v>4.4641186973700924</c:v>
                </c:pt>
                <c:pt idx="3">
                  <c:v>7.696963504112019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D3-4C54-8ED6-5D9CCE03439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>
              <a:solidFill>
                <a:srgbClr val="7030A0"/>
              </a:solidFill>
            </a:ln>
          </c:spPr>
          <c:marker>
            <c:symbol val="square"/>
            <c:size val="6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2.3212486583118639</c:v>
                </c:pt>
                <c:pt idx="1">
                  <c:v>3.1715396021803222</c:v>
                </c:pt>
                <c:pt idx="2">
                  <c:v>6.2500400083760423</c:v>
                </c:pt>
                <c:pt idx="3">
                  <c:v>10.120470608801895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2D3-4C54-8ED6-5D9CCE0343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微软雅黑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>
              <a:solidFill>
                <a:srgbClr val="F2A300"/>
              </a:solidFill>
            </a:ln>
          </c:spPr>
          <c:marker>
            <c:symbol val="circle"/>
            <c:size val="6"/>
            <c:spPr>
              <a:solidFill>
                <a:srgbClr val="F2A300"/>
              </a:solidFill>
              <a:ln>
                <a:solidFill>
                  <a:srgbClr val="F2A3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0.73125155906503403</c:v>
                </c:pt>
                <c:pt idx="1">
                  <c:v>1.6245619437346857</c:v>
                </c:pt>
                <c:pt idx="2">
                  <c:v>5.1287328752999501</c:v>
                </c:pt>
                <c:pt idx="3">
                  <c:v>8.1077710776838234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82-4618-AD31-897C1049B7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>
              <a:solidFill>
                <a:srgbClr val="548235"/>
              </a:solidFill>
            </a:ln>
          </c:spPr>
          <c:marker>
            <c:symbol val="diamond"/>
            <c:size val="6"/>
            <c:spPr>
              <a:solidFill>
                <a:srgbClr val="548235"/>
              </a:solidFill>
              <a:ln>
                <a:solidFill>
                  <a:srgbClr val="54823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0.51651247497648001</c:v>
                </c:pt>
                <c:pt idx="1">
                  <c:v>1.2564860343312223</c:v>
                </c:pt>
                <c:pt idx="2">
                  <c:v>3.8107251084099212</c:v>
                </c:pt>
                <c:pt idx="3">
                  <c:v>6.7450176281854519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82-4618-AD31-897C1049B7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>
              <a:solidFill>
                <a:srgbClr val="4472C4"/>
              </a:solidFill>
            </a:ln>
          </c:spPr>
          <c:marker>
            <c:symbol val="triangle"/>
            <c:size val="6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2.1067303557259343</c:v>
                </c:pt>
                <c:pt idx="1">
                  <c:v>3.1814243827636042</c:v>
                </c:pt>
                <c:pt idx="2">
                  <c:v>6.7179520772770047</c:v>
                </c:pt>
                <c:pt idx="3">
                  <c:v>10.477637495597206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82-4618-AD31-897C1049B72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>
              <a:solidFill>
                <a:srgbClr val="7030A0"/>
              </a:solidFill>
            </a:ln>
          </c:spPr>
          <c:marker>
            <c:symbol val="square"/>
            <c:size val="6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3.1119579602964222</c:v>
                </c:pt>
                <c:pt idx="1">
                  <c:v>4.411507967549066</c:v>
                </c:pt>
                <c:pt idx="2">
                  <c:v>8.050450572185218</c:v>
                </c:pt>
                <c:pt idx="3">
                  <c:v>11.986870356357349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682-4618-AD31-897C1049B7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微软雅黑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>
              <a:solidFill>
                <a:srgbClr val="F2A300"/>
              </a:solidFill>
            </a:ln>
          </c:spPr>
          <c:marker>
            <c:symbol val="circle"/>
            <c:size val="6"/>
            <c:spPr>
              <a:solidFill>
                <a:srgbClr val="F2A300"/>
              </a:solidFill>
              <a:ln>
                <a:solidFill>
                  <a:srgbClr val="F2A3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3.1868803605126836</c:v>
                </c:pt>
                <c:pt idx="1">
                  <c:v>6.2865007963652415</c:v>
                </c:pt>
                <c:pt idx="2">
                  <c:v>11.704520077134172</c:v>
                </c:pt>
                <c:pt idx="3">
                  <c:v>16.562453073946156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C3-4B6F-8EC4-845C4F6FB3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>
              <a:solidFill>
                <a:srgbClr val="548235"/>
              </a:solidFill>
            </a:ln>
          </c:spPr>
          <c:marker>
            <c:symbol val="diamond"/>
            <c:size val="6"/>
            <c:spPr>
              <a:solidFill>
                <a:srgbClr val="548235"/>
              </a:solidFill>
              <a:ln>
                <a:solidFill>
                  <a:srgbClr val="54823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1.4982366596038144</c:v>
                </c:pt>
                <c:pt idx="1">
                  <c:v>3.0980358946447573</c:v>
                </c:pt>
                <c:pt idx="2">
                  <c:v>7.2806502111877007</c:v>
                </c:pt>
                <c:pt idx="3">
                  <c:v>10.710763782293855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C3-4B6F-8EC4-845C4F6FB3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>
              <a:solidFill>
                <a:srgbClr val="4472C4"/>
              </a:solidFill>
            </a:ln>
          </c:spPr>
          <c:marker>
            <c:symbol val="triangle"/>
            <c:size val="6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4.7363833811444538</c:v>
                </c:pt>
                <c:pt idx="1">
                  <c:v>7.4276184625923634</c:v>
                </c:pt>
                <c:pt idx="2">
                  <c:v>13.902370517452558</c:v>
                </c:pt>
                <c:pt idx="3">
                  <c:v>18.938207457525046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C3-4B6F-8EC4-845C4F6FB3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>
              <a:solidFill>
                <a:srgbClr val="7030A0"/>
              </a:solidFill>
            </a:ln>
          </c:spPr>
          <c:marker>
            <c:symbol val="square"/>
            <c:size val="6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11.218125834440192</c:v>
                </c:pt>
                <c:pt idx="1">
                  <c:v>15.674570052574078</c:v>
                </c:pt>
                <c:pt idx="2">
                  <c:v>24.922901740297675</c:v>
                </c:pt>
                <c:pt idx="3">
                  <c:v>32.361206072227411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C3-4B6F-8EC4-845C4F6FB3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微软雅黑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>
              <a:solidFill>
                <a:srgbClr val="F2A300"/>
              </a:solidFill>
            </a:ln>
          </c:spPr>
          <c:marker>
            <c:symbol val="circle"/>
            <c:size val="6"/>
            <c:spPr>
              <a:solidFill>
                <a:srgbClr val="F2A300"/>
              </a:solidFill>
              <a:ln>
                <a:solidFill>
                  <a:srgbClr val="F2A3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20.469021533305447</c:v>
                </c:pt>
                <c:pt idx="1">
                  <c:v>30.738564901364345</c:v>
                </c:pt>
                <c:pt idx="2">
                  <c:v>49.115679981497429</c:v>
                </c:pt>
                <c:pt idx="3">
                  <c:v>62.894523652487756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3F-412B-8EE7-DCD11D86BD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>
              <a:solidFill>
                <a:srgbClr val="548235"/>
              </a:solidFill>
            </a:ln>
          </c:spPr>
          <c:marker>
            <c:symbol val="diamond"/>
            <c:size val="6"/>
            <c:spPr>
              <a:solidFill>
                <a:srgbClr val="548235"/>
              </a:solidFill>
              <a:ln>
                <a:solidFill>
                  <a:srgbClr val="54823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14.175157040823251</c:v>
                </c:pt>
                <c:pt idx="1">
                  <c:v>22.286793170186382</c:v>
                </c:pt>
                <c:pt idx="2">
                  <c:v>38.297144318620362</c:v>
                </c:pt>
                <c:pt idx="3">
                  <c:v>48.358086843136711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3F-412B-8EE7-DCD11D86BD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>
              <a:solidFill>
                <a:srgbClr val="4472C4"/>
              </a:solidFill>
            </a:ln>
          </c:spPr>
          <c:marker>
            <c:symbol val="triangle"/>
            <c:size val="6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23.351881752877187</c:v>
                </c:pt>
                <c:pt idx="1">
                  <c:v>37.756422217004001</c:v>
                </c:pt>
                <c:pt idx="2">
                  <c:v>66.352929026819766</c:v>
                </c:pt>
                <c:pt idx="3">
                  <c:v>81.087690709127742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3F-412B-8EE7-DCD11D86BD2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>
              <a:solidFill>
                <a:srgbClr val="7030A0"/>
              </a:solidFill>
            </a:ln>
          </c:spPr>
          <c:marker>
            <c:symbol val="square"/>
            <c:size val="6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30.512614303268492</c:v>
                </c:pt>
                <c:pt idx="1">
                  <c:v>49.781713400036097</c:v>
                </c:pt>
                <c:pt idx="2">
                  <c:v>90.69887856580317</c:v>
                </c:pt>
                <c:pt idx="3">
                  <c:v>107.80794925475494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03F-412B-8EE7-DCD11D86BD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微软雅黑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400" b="1">
                <a:latin typeface="微软雅黑"/>
              </a:rPr>
              <a:t>P25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>
              <a:solidFill>
                <a:srgbClr val="F2A300"/>
              </a:solidFill>
            </a:ln>
          </c:spPr>
          <c:marker>
            <c:symbol val="circle"/>
            <c:size val="5"/>
            <c:spPr>
              <a:solidFill>
                <a:srgbClr val="F2A300"/>
              </a:solidFill>
              <a:ln>
                <a:solidFill>
                  <a:srgbClr val="F2A3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0.451674560084939</c:v>
                </c:pt>
                <c:pt idx="1">
                  <c:v>0.73125155906503403</c:v>
                </c:pt>
                <c:pt idx="2">
                  <c:v>3.1868803605126836</c:v>
                </c:pt>
                <c:pt idx="3">
                  <c:v>20.469021533305447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D3-45AD-8F52-EEC6886312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>
              <a:solidFill>
                <a:srgbClr val="548235"/>
              </a:solidFill>
            </a:ln>
          </c:spPr>
          <c:marker>
            <c:symbol val="circle"/>
            <c:size val="5"/>
            <c:spPr>
              <a:solidFill>
                <a:srgbClr val="548235"/>
              </a:solidFill>
              <a:ln>
                <a:solidFill>
                  <a:srgbClr val="54823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0.3731816156456868</c:v>
                </c:pt>
                <c:pt idx="1">
                  <c:v>0.51651247497648001</c:v>
                </c:pt>
                <c:pt idx="2">
                  <c:v>1.4982366596038144</c:v>
                </c:pt>
                <c:pt idx="3">
                  <c:v>14.175157040823251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D3-45AD-8F52-EEC6886312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>
              <a:solidFill>
                <a:srgbClr val="4472C4"/>
              </a:solidFill>
            </a:ln>
          </c:spPr>
          <c:marker>
            <c:symbol val="circle"/>
            <c:size val="5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1.0758659859808783</c:v>
                </c:pt>
                <c:pt idx="1">
                  <c:v>2.1067303557259343</c:v>
                </c:pt>
                <c:pt idx="2">
                  <c:v>4.7363833811444538</c:v>
                </c:pt>
                <c:pt idx="3">
                  <c:v>23.351881752877187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D3-45AD-8F52-EEC6886312E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2.3212486583118639</c:v>
                </c:pt>
                <c:pt idx="1">
                  <c:v>3.1119579602964222</c:v>
                </c:pt>
                <c:pt idx="2">
                  <c:v>11.218125834440192</c:v>
                </c:pt>
                <c:pt idx="3">
                  <c:v>30.512614303268492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5D3-45AD-8F52-EEC6886312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400" b="1">
                <a:latin typeface="微软雅黑"/>
              </a:rPr>
              <a:t>P50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>
              <a:solidFill>
                <a:srgbClr val="F2A300"/>
              </a:solidFill>
            </a:ln>
          </c:spPr>
          <c:marker>
            <c:symbol val="circle"/>
            <c:size val="5"/>
            <c:spPr>
              <a:solidFill>
                <a:srgbClr val="F2A300"/>
              </a:solidFill>
              <a:ln>
                <a:solidFill>
                  <a:srgbClr val="F2A3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0.81354261096566916</c:v>
                </c:pt>
                <c:pt idx="1">
                  <c:v>1.6245619437346857</c:v>
                </c:pt>
                <c:pt idx="2">
                  <c:v>6.2865007963652415</c:v>
                </c:pt>
                <c:pt idx="3">
                  <c:v>30.738564901364345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0C-4408-A57D-3603A6725A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>
              <a:solidFill>
                <a:srgbClr val="548235"/>
              </a:solidFill>
            </a:ln>
          </c:spPr>
          <c:marker>
            <c:symbol val="circle"/>
            <c:size val="5"/>
            <c:spPr>
              <a:solidFill>
                <a:srgbClr val="548235"/>
              </a:solidFill>
              <a:ln>
                <a:solidFill>
                  <a:srgbClr val="54823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0.82474814945211017</c:v>
                </c:pt>
                <c:pt idx="1">
                  <c:v>1.2564860343312223</c:v>
                </c:pt>
                <c:pt idx="2">
                  <c:v>3.0980358946447573</c:v>
                </c:pt>
                <c:pt idx="3">
                  <c:v>22.286793170186382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0C-4408-A57D-3603A6725A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>
              <a:solidFill>
                <a:srgbClr val="4472C4"/>
              </a:solidFill>
            </a:ln>
          </c:spPr>
          <c:marker>
            <c:symbol val="circle"/>
            <c:size val="5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1.8688688091933727</c:v>
                </c:pt>
                <c:pt idx="1">
                  <c:v>3.1814243827636042</c:v>
                </c:pt>
                <c:pt idx="2">
                  <c:v>7.4276184625923634</c:v>
                </c:pt>
                <c:pt idx="3">
                  <c:v>37.756422217004001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50C-4408-A57D-3603A6725AC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3.1715396021803222</c:v>
                </c:pt>
                <c:pt idx="1">
                  <c:v>4.411507967549066</c:v>
                </c:pt>
                <c:pt idx="2">
                  <c:v>15.674570052574078</c:v>
                </c:pt>
                <c:pt idx="3">
                  <c:v>49.781713400036097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0C-4408-A57D-3603A6725A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400" b="1">
                <a:latin typeface="微软雅黑"/>
              </a:rPr>
              <a:t>P90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>
              <a:solidFill>
                <a:srgbClr val="F2A300"/>
              </a:solidFill>
            </a:ln>
          </c:spPr>
          <c:marker>
            <c:symbol val="circle"/>
            <c:size val="5"/>
            <c:spPr>
              <a:solidFill>
                <a:srgbClr val="F2A300"/>
              </a:solidFill>
              <a:ln>
                <a:solidFill>
                  <a:srgbClr val="F2A3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2.8646049782012901</c:v>
                </c:pt>
                <c:pt idx="1">
                  <c:v>5.1287328752999501</c:v>
                </c:pt>
                <c:pt idx="2">
                  <c:v>11.704520077134172</c:v>
                </c:pt>
                <c:pt idx="3">
                  <c:v>49.115679981497429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A6-4335-B751-708158EE42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>
              <a:solidFill>
                <a:srgbClr val="548235"/>
              </a:solidFill>
            </a:ln>
          </c:spPr>
          <c:marker>
            <c:symbol val="circle"/>
            <c:size val="5"/>
            <c:spPr>
              <a:solidFill>
                <a:srgbClr val="548235"/>
              </a:solidFill>
              <a:ln>
                <a:solidFill>
                  <a:srgbClr val="54823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2.9279659449433288</c:v>
                </c:pt>
                <c:pt idx="1">
                  <c:v>3.8107251084099212</c:v>
                </c:pt>
                <c:pt idx="2">
                  <c:v>7.2806502111877007</c:v>
                </c:pt>
                <c:pt idx="3">
                  <c:v>38.297144318620362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A6-4335-B751-708158EE42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>
              <a:solidFill>
                <a:srgbClr val="4472C4"/>
              </a:solidFill>
            </a:ln>
          </c:spPr>
          <c:marker>
            <c:symbol val="circle"/>
            <c:size val="5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4.4641186973700924</c:v>
                </c:pt>
                <c:pt idx="1">
                  <c:v>6.7179520772770047</c:v>
                </c:pt>
                <c:pt idx="2">
                  <c:v>13.902370517452558</c:v>
                </c:pt>
                <c:pt idx="3">
                  <c:v>66.352929026819766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7A6-4335-B751-708158EE427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6.2500400083760423</c:v>
                </c:pt>
                <c:pt idx="1">
                  <c:v>8.050450572185218</c:v>
                </c:pt>
                <c:pt idx="2">
                  <c:v>24.922901740297675</c:v>
                </c:pt>
                <c:pt idx="3">
                  <c:v>90.69887856580317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7A6-4335-B751-708158EE42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400" b="1">
                <a:latin typeface="微软雅黑"/>
              </a:rPr>
              <a:t>P99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>
              <a:solidFill>
                <a:srgbClr val="F2A300"/>
              </a:solidFill>
            </a:ln>
          </c:spPr>
          <c:marker>
            <c:symbol val="circle"/>
            <c:size val="5"/>
            <c:spPr>
              <a:solidFill>
                <a:srgbClr val="F2A300"/>
              </a:solidFill>
              <a:ln>
                <a:solidFill>
                  <a:srgbClr val="F2A3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6.0842285902860294</c:v>
                </c:pt>
                <c:pt idx="1">
                  <c:v>8.1077710776838234</c:v>
                </c:pt>
                <c:pt idx="2">
                  <c:v>16.562453073946156</c:v>
                </c:pt>
                <c:pt idx="3">
                  <c:v>62.894523652487756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30-4E0F-8F21-A0ADC43961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>
              <a:solidFill>
                <a:srgbClr val="548235"/>
              </a:solidFill>
            </a:ln>
          </c:spPr>
          <c:marker>
            <c:symbol val="circle"/>
            <c:size val="5"/>
            <c:spPr>
              <a:solidFill>
                <a:srgbClr val="548235"/>
              </a:solidFill>
              <a:ln>
                <a:solidFill>
                  <a:srgbClr val="54823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5.9494828658178616</c:v>
                </c:pt>
                <c:pt idx="1">
                  <c:v>6.7450176281854519</c:v>
                </c:pt>
                <c:pt idx="2">
                  <c:v>10.710763782293855</c:v>
                </c:pt>
                <c:pt idx="3">
                  <c:v>48.358086843136711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30-4E0F-8F21-A0ADC43961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>
              <a:solidFill>
                <a:srgbClr val="4472C4"/>
              </a:solidFill>
            </a:ln>
          </c:spPr>
          <c:marker>
            <c:symbol val="circle"/>
            <c:size val="5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7.696963504112019</c:v>
                </c:pt>
                <c:pt idx="1">
                  <c:v>10.477637495597206</c:v>
                </c:pt>
                <c:pt idx="2">
                  <c:v>18.938207457525046</c:v>
                </c:pt>
                <c:pt idx="3">
                  <c:v>81.087690709127742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30-4E0F-8F21-A0ADC43961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10.120470608801895</c:v>
                </c:pt>
                <c:pt idx="1">
                  <c:v>11.986870356357349</c:v>
                </c:pt>
                <c:pt idx="2">
                  <c:v>32.361206072227411</c:v>
                </c:pt>
                <c:pt idx="3">
                  <c:v>107.80794925475494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330-4E0F-8F21-A0ADC4396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400">
                <a:latin typeface="微软雅黑"/>
              </a:rPr>
              <a:t>P25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>
              <a:solidFill>
                <a:srgbClr val="F2A300"/>
              </a:solidFill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0.44938507319117588</c:v>
                </c:pt>
                <c:pt idx="1">
                  <c:v>0.74107931554317474</c:v>
                </c:pt>
                <c:pt idx="2">
                  <c:v>3.0832364374461272</c:v>
                </c:pt>
                <c:pt idx="3">
                  <c:v>21.34461404196918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45-4294-9C32-CF76EF719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>
              <a:solidFill>
                <a:srgbClr val="548235"/>
              </a:solidFill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0.54300418713440501</c:v>
                </c:pt>
                <c:pt idx="1">
                  <c:v>2.2576978392899036</c:v>
                </c:pt>
                <c:pt idx="2">
                  <c:v>24.42538790948068</c:v>
                </c:pt>
                <c:pt idx="3">
                  <c:v>42.585881866049021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45-4294-9C32-CF76EF719D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>
              <a:solidFill>
                <a:srgbClr val="4472C4"/>
              </a:solidFill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0.45330148888751864</c:v>
                </c:pt>
                <c:pt idx="1">
                  <c:v>0.73728621580327547</c:v>
                </c:pt>
                <c:pt idx="2">
                  <c:v>3.2964580259285867</c:v>
                </c:pt>
                <c:pt idx="3">
                  <c:v>20.519089093897492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E45-4294-9C32-CF76EF719DB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>
              <a:solidFill>
                <a:srgbClr val="7030A0"/>
              </a:solidFill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0.56980306236073375</c:v>
                </c:pt>
                <c:pt idx="1">
                  <c:v>2.1357945376075804</c:v>
                </c:pt>
                <c:pt idx="2">
                  <c:v>24.367110346599173</c:v>
                </c:pt>
                <c:pt idx="3">
                  <c:v>39.907327112276107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E45-4294-9C32-CF76EF719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400">
                <a:latin typeface="微软雅黑"/>
              </a:rPr>
              <a:t>P50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>
              <a:solidFill>
                <a:srgbClr val="F2A300"/>
              </a:solidFill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0.81428855750709772</c:v>
                </c:pt>
                <c:pt idx="1">
                  <c:v>1.5926552657037973</c:v>
                </c:pt>
                <c:pt idx="2">
                  <c:v>5.4854797854398685</c:v>
                </c:pt>
                <c:pt idx="3">
                  <c:v>32.688925214111805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87-40E5-B073-A881DA4E35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>
              <a:solidFill>
                <a:srgbClr val="548235"/>
              </a:solidFill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1.2415564162656665</c:v>
                </c:pt>
                <c:pt idx="1">
                  <c:v>4.5826930028075976</c:v>
                </c:pt>
                <c:pt idx="2">
                  <c:v>39.435876596719027</c:v>
                </c:pt>
                <c:pt idx="3">
                  <c:v>74.271530680668846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87-40E5-B073-A881DA4E35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>
              <a:solidFill>
                <a:srgbClr val="4472C4"/>
              </a:solidFill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0.81478471898784244</c:v>
                </c:pt>
                <c:pt idx="1">
                  <c:v>1.6426000411932666</c:v>
                </c:pt>
                <c:pt idx="2">
                  <c:v>6.4034196902066469</c:v>
                </c:pt>
                <c:pt idx="3">
                  <c:v>31.45036258796851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87-40E5-B073-A881DA4E358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>
              <a:solidFill>
                <a:srgbClr val="7030A0"/>
              </a:solidFill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1.2637192622448008</c:v>
                </c:pt>
                <c:pt idx="1">
                  <c:v>4.9750249090914922</c:v>
                </c:pt>
                <c:pt idx="2">
                  <c:v>36.348887138379119</c:v>
                </c:pt>
                <c:pt idx="3">
                  <c:v>69.755787549540401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A87-40E5-B073-A881DA4E35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400">
                <a:latin typeface="微软雅黑"/>
              </a:rPr>
              <a:t>P90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>
              <a:solidFill>
                <a:srgbClr val="F2A300"/>
              </a:solidFill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3.0209968710939088</c:v>
                </c:pt>
                <c:pt idx="1">
                  <c:v>4.3379644990588231</c:v>
                </c:pt>
                <c:pt idx="2">
                  <c:v>11.005887509696185</c:v>
                </c:pt>
                <c:pt idx="3">
                  <c:v>53.185399329289794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C5-49A3-A878-29BFD10CC1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>
              <a:solidFill>
                <a:srgbClr val="548235"/>
              </a:solidFill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4.1348596491540475</c:v>
                </c:pt>
                <c:pt idx="1">
                  <c:v>9.7319352294628825</c:v>
                </c:pt>
                <c:pt idx="2">
                  <c:v>65.844816543161869</c:v>
                </c:pt>
                <c:pt idx="3">
                  <c:v>132.46473433325687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C5-49A3-A878-29BFD10CC1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>
              <a:solidFill>
                <a:srgbClr val="4472C4"/>
              </a:solidFill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2.8950745475788913</c:v>
                </c:pt>
                <c:pt idx="1">
                  <c:v>5.0341373672708869</c:v>
                </c:pt>
                <c:pt idx="2">
                  <c:v>12.022043649728099</c:v>
                </c:pt>
                <c:pt idx="3">
                  <c:v>49.658840789149203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C5-49A3-A878-29BFD10CC16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>
              <a:solidFill>
                <a:srgbClr val="7030A0"/>
              </a:solidFill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4.2582440674304962</c:v>
                </c:pt>
                <c:pt idx="1">
                  <c:v>9.9605031181126833</c:v>
                </c:pt>
                <c:pt idx="2">
                  <c:v>58.090502924906708</c:v>
                </c:pt>
                <c:pt idx="3">
                  <c:v>120.11672228233267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5C5-49A3-A878-29BFD10CC1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400">
                <a:latin typeface="微软雅黑"/>
              </a:rPr>
              <a:t>P99 TTFT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>
              <a:solidFill>
                <a:srgbClr val="F2A300"/>
              </a:solidFill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5.31952003731082</c:v>
                </c:pt>
                <c:pt idx="1">
                  <c:v>7.1918099007196803</c:v>
                </c:pt>
                <c:pt idx="2">
                  <c:v>15.161116382237539</c:v>
                </c:pt>
                <c:pt idx="3">
                  <c:v>69.675257985355998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17-4E1A-9213-6AC150B8F8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>
              <a:solidFill>
                <a:srgbClr val="548235"/>
              </a:solidFill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6.9143294341551815</c:v>
                </c:pt>
                <c:pt idx="1">
                  <c:v>14.31500533021366</c:v>
                </c:pt>
                <c:pt idx="2">
                  <c:v>79.736292623262898</c:v>
                </c:pt>
                <c:pt idx="3">
                  <c:v>156.28093551040317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17-4E1A-9213-6AC150B8F8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>
              <a:solidFill>
                <a:srgbClr val="4472C4"/>
              </a:solidFill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5.7760272350162456</c:v>
                </c:pt>
                <c:pt idx="1">
                  <c:v>7.7569038815796425</c:v>
                </c:pt>
                <c:pt idx="2">
                  <c:v>16.873569166411972</c:v>
                </c:pt>
                <c:pt idx="3">
                  <c:v>63.188324739970277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117-4E1A-9213-6AC150B8F84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>
              <a:solidFill>
                <a:srgbClr val="7030A0"/>
              </a:solidFill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7.8870932983296669</c:v>
                </c:pt>
                <c:pt idx="1">
                  <c:v>14.536554435609535</c:v>
                </c:pt>
                <c:pt idx="2">
                  <c:v>67.367692045557021</c:v>
                </c:pt>
                <c:pt idx="3">
                  <c:v>143.6087015235176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117-4E1A-9213-6AC150B8F8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当前部署 MoE 模型的一项主要挑战，在于 Attention 与 MoE 层之间存在异构性。</a:t>
            </a:r>
          </a:p>
          <a:p>
            <a:r>
              <a:t>Attention 受限于 KV Cache 容量：随着上下文长度增加，一个解码批次能够容纳的活跃请求会越来越少。相比之下，MoE 层需要足够大的批次，才能保证专家 GEMM 运算的效率。</a:t>
            </a:r>
          </a:p>
          <a:p>
            <a:r>
              <a:t>因此，随着上下文变长，活跃解码批次逐渐缩小，Attention 的开销主要由 KV Cache 读取主导；与此同时，MoE 无法获得高效执行专家计算所需的足够 Token 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AFD-Plugin.pptx, source slide 4 (architecture diagram, legend, component labels, and grouping).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/Users/jiangkuaixue/Desktop/vllm-afd-plugin-architecture.svg</a:t>
            </a:r>
          </a:p>
          <a:p>
            <a:r>
              <a:t>- /Users/jiangkuaixue/code/afd-plugin (current source tree; vLLM 0.26.0 pin)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/Users/jiangkuaixue/Desktop/afd-connector-base-diagram-v2.png (built-in ImageGen output)</a:t>
            </a:r>
          </a:p>
          <a:p>
            <a:r>
              <a:t>- /Users/jiangkuaixue/code/afd-plugin/afd_plugin/connectors/base.py</a:t>
            </a:r>
          </a:p>
          <a:p>
            <a:r>
              <a:t>- /Users/jiangkuaixue/code/afd-plugin/docs/design/module/connector_contracts.md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P4补充基础方案的问题总结，引导推到到下一页</a:t>
            </a:r>
            <a:br/>
            <a:r>
              <a:t>P6华为云的性能结果分析补充一些总结描述</a:t>
            </a:r>
            <a:br/>
            <a:r>
              <a:t>增加一个跟VLLM当前的配合状态，放在华为云之前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https://github.com/vllm-project/afd-plugin/pull/186</a:t>
            </a:r>
          </a:p>
          <a:p>
            <a:r>
              <a:t>https://github.com/vllm-project/afd-plugin/issues/169</a:t>
            </a:r>
          </a:p>
          <a:p>
            <a:r>
              <a:t>https://github.com/vllm-project/afd-plugin/issues/179</a:t>
            </a:r>
          </a:p>
          <a:p>
            <a:r>
              <a:t>https://github.com/vllm-project/afd-plugin/pull/191</a:t>
            </a:r>
          </a:p>
          <a:p>
            <a:r>
              <a:t>https://github.com/vllm-project/afd-plugin/issues/202</a:t>
            </a:r>
          </a:p>
          <a:p>
            <a:r>
              <a:t>https://github.com/vllm-project/afd-plugin/pull/205</a:t>
            </a:r>
          </a:p>
          <a:p>
            <a:r>
              <a:t>https://github.com/vllm-project/afd-plugin/pull/216</a:t>
            </a:r>
          </a:p>
          <a:p>
            <a:r>
              <a:t>https://github.com/vllm-project/afd-plugin/pull/222</a:t>
            </a:r>
          </a:p>
          <a:p>
            <a:r>
              <a:t>https://github.com/vllm-project/afd-plugin/issues/224</a:t>
            </a:r>
          </a:p>
          <a:p>
            <a:r>
              <a:t>https://github.com/vllm-project/afd-plugin/issues/227</a:t>
            </a:r>
          </a:p>
          <a:p>
            <a:r>
              <a:t>https://github.com/vllm-project/afd-plugin/issues/228</a:t>
            </a:r>
          </a:p>
          <a:p>
            <a:r>
              <a:t>Accessed 2026-08-12.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DP4TP4与DP8TP2保留上一版数据，MBT=4K，属于原2026-09-07/08批次。跨批次配置比较。红色最优值按未四舍五入的均值判断。</a:t>
            </a:r>
          </a:p>
          <a:p>
            <a:r>
              <a:t>AFD来源：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EP16来源：</a:t>
            </a:r>
          </a:p>
          <a:p>
            <a:r>
              <a:t>/Users/wentiange/afd-download/afd_experiment_results_20260907_20260908/dsv4-flash-six-node-rerun-20260907/exp3_jcz_afd4/ep16_dp4tp4/chunk_4096/rps_2/repeat_1/result.json</a:t>
            </a:r>
          </a:p>
          <a:p>
            <a:r>
              <a:t>/Users/wentiange/afd-download/afd_experiment_results_20260907_20260908/dsv4-flash-six-node-rerun-20260907/exp3_jcz_afd4/ep16_dp4tp4/chunk_4096/rps_2/repeat_2/result.json</a:t>
            </a:r>
          </a:p>
          <a:p>
            <a:r>
              <a:t>/Users/wentiange/afd-download/afd_experiment_results_20260907_20260908/dsv4-flash-six-node-rerun-20260907/exp3_jcz_afd4/ep16_dp4tp4/chunk_4096/rps_2/repeat_3/result.json</a:t>
            </a:r>
          </a:p>
          <a:p>
            <a:r>
              <a:t>/Users/wentiange/afd-download/afd_experiment_results_20260907_20260908/dsv4-flash-six-node-rerun-20260907/exp3_jcz_afd4/ep16_dp4tp4/chunk_4096/rps_3/repeat_1/result.json</a:t>
            </a:r>
          </a:p>
          <a:p>
            <a:r>
              <a:t>/Users/wentiange/afd-download/afd_experiment_results_20260907_20260908/dsv4-flash-six-node-rerun-20260907/exp3_jcz_afd4/ep16_dp4tp4/chunk_4096/rps_3/repeat_2/result.json</a:t>
            </a:r>
          </a:p>
          <a:p>
            <a:r>
              <a:t>/Users/wentiange/afd-download/afd_experiment_results_20260907_20260908/dsv4-flash-six-node-rerun-20260907/exp3_jcz_afd4/ep16_dp4tp4/chunk_4096/rps_3/repeat_3/result.json</a:t>
            </a:r>
          </a:p>
          <a:p>
            <a:r>
              <a:t>/Users/wentiange/afd-download/afd_experiment_results_20260907_20260908/dsv4-flash-six-node-rerun-20260907/exp3_jcz_afd4/ep16_dp4tp4/chunk_4096/rps_4/repeat_1/result.json</a:t>
            </a:r>
          </a:p>
          <a:p>
            <a:r>
              <a:t>/Users/wentiange/afd-download/afd_experiment_results_20260907_20260908/dsv4-flash-six-node-rerun-20260907/exp3_jcz_afd4/ep16_dp4tp4/chunk_4096/rps_4/repeat_2/result.json</a:t>
            </a:r>
          </a:p>
          <a:p>
            <a:r>
              <a:t>/Users/wentiange/afd-download/afd_experiment_results_20260907_20260908/dsv4-flash-six-node-rerun-20260907/exp3_jcz_afd4/ep16_dp4tp4/chunk_4096/rps_4/repeat_3/result.json</a:t>
            </a:r>
          </a:p>
          <a:p>
            <a:r>
              <a:t>/Users/wentiange/afd-download/afd_experiment_results_20260907_20260908/dsv4-flash/exp4_ep16_dp8tp2_jcz_afd5_20260907_2348/ep16_dp8tp2/chunk_4096/rps_2/repeat_1/result.json</a:t>
            </a:r>
          </a:p>
          <a:p>
            <a:r>
              <a:t>/Users/wentiange/afd-download/afd_experiment_results_20260907_20260908/dsv4-flash/exp4_ep16_dp8tp2_jcz_afd5_20260907_2348/ep16_dp8tp2/chunk_4096/rps_2/repeat_2/result.json</a:t>
            </a:r>
          </a:p>
          <a:p>
            <a:r>
              <a:t>/Users/wentiange/afd-download/afd_experiment_results_20260907_20260908/dsv4-flash/exp4_ep16_dp8tp2_jcz_afd5_20260907_2348/ep16_dp8tp2/chunk_4096/rps_2/repeat_3/result.json</a:t>
            </a:r>
          </a:p>
          <a:p>
            <a:r>
              <a:t>/Users/wentiange/afd-download/afd_experiment_results_20260907_20260908/dsv4-flash/exp4_ep16_dp8tp2_jcz_afd5_20260907_2348/ep16_dp8tp2/chunk_4096/rps_3/repeat_1/result.json</a:t>
            </a:r>
          </a:p>
          <a:p>
            <a:r>
              <a:t>/Users/wentiange/afd-download/afd_experiment_results_20260907_20260908/dsv4-flash/exp4_ep16_dp8tp2_jcz_afd5_20260907_2348/ep16_dp8tp2/chunk_4096/rps_3/repeat_2/result.json</a:t>
            </a:r>
          </a:p>
          <a:p>
            <a:r>
              <a:t>/Users/wentiange/afd-download/afd_experiment_results_20260907_20260908/dsv4-flash/exp4_ep16_dp8tp2_jcz_afd5_20260907_2348/ep16_dp8tp2/chunk_4096/rps_3/repeat_3/result.json</a:t>
            </a:r>
          </a:p>
          <a:p>
            <a:r>
              <a:t>/Users/wentiange/afd-download/afd_experiment_results_20260907_20260908/dsv4-flash/exp4_ep16_dp8tp2_jcz_afd5_20260907_2348/ep16_dp8tp2/chunk_4096/rps_4/repeat_1/result.json</a:t>
            </a:r>
          </a:p>
          <a:p>
            <a:r>
              <a:t>/Users/wentiange/afd-download/afd_experiment_results_20260907_20260908/dsv4-flash/exp4_ep16_dp8tp2_jcz_afd5_20260907_2348/ep16_dp8tp2/chunk_4096/rps_4/repeat_2/result.json</a:t>
            </a:r>
          </a:p>
          <a:p>
            <a:r>
              <a:t>/Users/wentiange/afd-download/afd_experiment_results_20260907_20260908/dsv4-flash/exp4_ep16_dp8tp2_jcz_afd5_20260907_2348/ep16_dp8tp2/chunk_4096/rps_4/repeat_3/result.json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DP4TP4与DP8TP2保留上一版数据，MBT=8K，属于原2026-09-07/08批次。跨批次配置比较。红色最优值按未四舍五入的均值判断。</a:t>
            </a:r>
          </a:p>
          <a:p>
            <a:r>
              <a:t>AFD来源：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EP16来源：</a:t>
            </a:r>
          </a:p>
          <a:p>
            <a:r>
              <a:t>/Users/wentiange/afd-download/afd_experiment_results_20260907_20260908/dsv4-flash-six-node-rerun-20260907/exp3_jcz_afd4/ep16_dp4tp4/chunk_8192/rps_2/repeat_1/result.json</a:t>
            </a:r>
          </a:p>
          <a:p>
            <a:r>
              <a:t>/Users/wentiange/afd-download/afd_experiment_results_20260907_20260908/dsv4-flash-six-node-rerun-20260907/exp3_jcz_afd4/ep16_dp4tp4/chunk_8192/rps_2/repeat_2/result.json</a:t>
            </a:r>
          </a:p>
          <a:p>
            <a:r>
              <a:t>/Users/wentiange/afd-download/afd_experiment_results_20260907_20260908/dsv4-flash-six-node-rerun-20260907/exp3_jcz_afd4/ep16_dp4tp4/chunk_8192/rps_2/repeat_3/result.json</a:t>
            </a:r>
          </a:p>
          <a:p>
            <a:r>
              <a:t>/Users/wentiange/afd-download/afd_experiment_results_20260907_20260908/dsv4-flash-six-node-rerun-20260907/exp3_jcz_afd4/ep16_dp4tp4/chunk_8192/rps_3/repeat_1/result.json</a:t>
            </a:r>
          </a:p>
          <a:p>
            <a:r>
              <a:t>/Users/wentiange/afd-download/afd_experiment_results_20260907_20260908/dsv4-flash-six-node-rerun-20260907/exp3_jcz_afd4/ep16_dp4tp4/chunk_8192/rps_3/repeat_2/result.json</a:t>
            </a:r>
          </a:p>
          <a:p>
            <a:r>
              <a:t>/Users/wentiange/afd-download/afd_experiment_results_20260907_20260908/dsv4-flash-six-node-rerun-20260907/exp3_jcz_afd4/ep16_dp4tp4/chunk_8192/rps_3/repeat_3/result.json</a:t>
            </a:r>
          </a:p>
          <a:p>
            <a:r>
              <a:t>/Users/wentiange/afd-download/afd_experiment_results_20260907_20260908/dsv4-flash-six-node-rerun-20260907/exp3_jcz_afd4/ep16_dp4tp4/chunk_8192/rps_4/repeat_1/result.json</a:t>
            </a:r>
          </a:p>
          <a:p>
            <a:r>
              <a:t>/Users/wentiange/afd-download/afd_experiment_results_20260907_20260908/dsv4-flash-six-node-rerun-20260907/exp3_jcz_afd4/ep16_dp4tp4/chunk_8192/rps_4/repeat_2/result.json</a:t>
            </a:r>
          </a:p>
          <a:p>
            <a:r>
              <a:t>/Users/wentiange/afd-download/afd_experiment_results_20260907_20260908/dsv4-flash-six-node-rerun-20260907/exp3_jcz_afd4/ep16_dp4tp4/chunk_8192/rps_4/repeat_3/result.json</a:t>
            </a:r>
          </a:p>
          <a:p>
            <a:r>
              <a:t>/Users/wentiange/afd-download/afd_experiment_results_20260907_20260908/dsv4-flash/exp4_ep16_dp8tp2_jcz_afd5_20260907_2348/ep16_dp8tp2/chunk_8192/rps_2/repeat_1/result.json</a:t>
            </a:r>
          </a:p>
          <a:p>
            <a:r>
              <a:t>/Users/wentiange/afd-download/afd_experiment_results_20260907_20260908/dsv4-flash/exp4_ep16_dp8tp2_jcz_afd5_20260907_2348/ep16_dp8tp2/chunk_8192/rps_2/repeat_2/result.json</a:t>
            </a:r>
          </a:p>
          <a:p>
            <a:r>
              <a:t>/Users/wentiange/afd-download/afd_experiment_results_20260907_20260908/dsv4-flash/exp4_ep16_dp8tp2_jcz_afd5_20260907_2348/ep16_dp8tp2/chunk_8192/rps_2/repeat_3/result.json</a:t>
            </a:r>
          </a:p>
          <a:p>
            <a:r>
              <a:t>/Users/wentiange/afd-download/afd_experiment_results_20260907_20260908/dsv4-flash/exp4_ep16_dp8tp2_jcz_afd5_20260907_2348/ep16_dp8tp2/chunk_8192/rps_3/repeat_1/result.json</a:t>
            </a:r>
          </a:p>
          <a:p>
            <a:r>
              <a:t>/Users/wentiange/afd-download/afd_experiment_results_20260907_20260908/dsv4-flash/exp4_ep16_dp8tp2_jcz_afd5_20260907_2348/ep16_dp8tp2/chunk_8192/rps_3/repeat_2/result.json</a:t>
            </a:r>
          </a:p>
          <a:p>
            <a:r>
              <a:t>/Users/wentiange/afd-download/afd_experiment_results_20260907_20260908/dsv4-flash/exp4_ep16_dp8tp2_jcz_afd5_20260907_2348/ep16_dp8tp2/chunk_8192/rps_3/repeat_3/result.json</a:t>
            </a:r>
          </a:p>
          <a:p>
            <a:r>
              <a:t>/Users/wentiange/afd-download/afd_experiment_results_20260907_20260908/dsv4-flash/exp4_ep16_dp8tp2_jcz_afd5_20260907_2348/ep16_dp8tp2/chunk_8192/rps_4/repeat_1/result.json</a:t>
            </a:r>
          </a:p>
          <a:p>
            <a:r>
              <a:t>/Users/wentiange/afd-download/afd_experiment_results_20260907_20260908/dsv4-flash/exp4_ep16_dp8tp2_jcz_afd5_20260907_2348/ep16_dp8tp2/chunk_8192/rps_4/repeat_2/result.json</a:t>
            </a:r>
          </a:p>
          <a:p>
            <a:r>
              <a:t>/Users/wentiange/afd-download/afd_experiment_results_20260907_20260908/dsv4-flash/exp4_ep16_dp8tp2_jcz_afd5_20260907_2348/ep16_dp8tp2/chunk_8192/rps_4/repeat_3/result.json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DP4TP4与DP8TP2保留上一版数据，MBT=16K，属于原2026-09-07/08批次。跨批次配置比较。红色最优值按未四舍五入的均值判断。</a:t>
            </a:r>
          </a:p>
          <a:p>
            <a:r>
              <a:t>AFD来源：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EP16来源：</a:t>
            </a:r>
          </a:p>
          <a:p>
            <a:r>
              <a:t>/Users/wentiange/afd-download/afd_experiment_results_20260907_20260908/dsv4-flash-six-node-rerun-20260907/exp3_jcz_afd4/ep16_dp4tp4/chunk_16384/rps_2/repeat_1/result.json</a:t>
            </a:r>
          </a:p>
          <a:p>
            <a:r>
              <a:t>/Users/wentiange/afd-download/afd_experiment_results_20260907_20260908/dsv4-flash-six-node-rerun-20260907/exp3_jcz_afd4/ep16_dp4tp4/chunk_16384/rps_2/repeat_2/result.json</a:t>
            </a:r>
          </a:p>
          <a:p>
            <a:r>
              <a:t>/Users/wentiange/afd-download/afd_experiment_results_20260907_20260908/dsv4-flash-six-node-rerun-20260907/exp3_jcz_afd4/ep16_dp4tp4/chunk_16384/rps_2/repeat_3/result.json</a:t>
            </a:r>
          </a:p>
          <a:p>
            <a:r>
              <a:t>/Users/wentiange/afd-download/afd_experiment_results_20260907_20260908/dsv4-flash-six-node-rerun-20260907/exp3_jcz_afd4/ep16_dp4tp4/chunk_16384/rps_3/repeat_1/result.json</a:t>
            </a:r>
          </a:p>
          <a:p>
            <a:r>
              <a:t>/Users/wentiange/afd-download/afd_experiment_results_20260907_20260908/dsv4-flash-six-node-rerun-20260907/exp3_jcz_afd4/ep16_dp4tp4/chunk_16384/rps_3/repeat_2/result.json</a:t>
            </a:r>
          </a:p>
          <a:p>
            <a:r>
              <a:t>/Users/wentiange/afd-download/afd_experiment_results_20260907_20260908/dsv4-flash-six-node-rerun-20260907/exp3_jcz_afd4/ep16_dp4tp4/chunk_16384/rps_3/repeat_3/result.json</a:t>
            </a:r>
          </a:p>
          <a:p>
            <a:r>
              <a:t>/Users/wentiange/afd-download/afd_experiment_results_20260907_20260908/dsv4-flash-six-node-rerun-20260907/exp3_jcz_afd4/ep16_dp4tp4/chunk_16384/rps_4/repeat_1/result.json</a:t>
            </a:r>
          </a:p>
          <a:p>
            <a:r>
              <a:t>/Users/wentiange/afd-download/afd_experiment_results_20260907_20260908/dsv4-flash-six-node-rerun-20260907/exp3_jcz_afd4/ep16_dp4tp4/chunk_16384/rps_4/repeat_2/result.json</a:t>
            </a:r>
          </a:p>
          <a:p>
            <a:r>
              <a:t>/Users/wentiange/afd-download/afd_experiment_results_20260907_20260908/dsv4-flash-six-node-rerun-20260907/exp3_jcz_afd4/ep16_dp4tp4/chunk_16384/rps_4/repeat_3/result.json</a:t>
            </a:r>
          </a:p>
          <a:p>
            <a:r>
              <a:t>/Users/wentiange/afd-download/afd_experiment_results_20260907_20260908/dsv4-flash/exp4_ep16_dp8tp2_jcz_afd5_20260907_2348/ep16_dp8tp2/chunk_16384/rps_2/repeat_1/result.json</a:t>
            </a:r>
          </a:p>
          <a:p>
            <a:r>
              <a:t>/Users/wentiange/afd-download/afd_experiment_results_20260907_20260908/dsv4-flash/exp4_ep16_dp8tp2_jcz_afd5_20260907_2348/ep16_dp8tp2/chunk_16384/rps_2/repeat_2/result.json</a:t>
            </a:r>
          </a:p>
          <a:p>
            <a:r>
              <a:t>/Users/wentiange/afd-download/afd_experiment_results_20260907_20260908/dsv4-flash/exp4_ep16_dp8tp2_jcz_afd5_20260907_2348/ep16_dp8tp2/chunk_16384/rps_2/repeat_3/result.json</a:t>
            </a:r>
          </a:p>
          <a:p>
            <a:r>
              <a:t>/Users/wentiange/afd-download/afd_experiment_results_20260907_20260908/dsv4-flash/exp4_ep16_dp8tp2_jcz_afd5_20260907_2348/ep16_dp8tp2/chunk_16384/rps_3/repeat_1/result.json</a:t>
            </a:r>
          </a:p>
          <a:p>
            <a:r>
              <a:t>/Users/wentiange/afd-download/afd_experiment_results_20260907_20260908/dsv4-flash/exp4_ep16_dp8tp2_jcz_afd5_20260907_2348/ep16_dp8tp2/chunk_16384/rps_3/repeat_2/result.json</a:t>
            </a:r>
          </a:p>
          <a:p>
            <a:r>
              <a:t>/Users/wentiange/afd-download/afd_experiment_results_20260907_20260908/dsv4-flash/exp4_ep16_dp8tp2_jcz_afd5_20260907_2348/ep16_dp8tp2/chunk_16384/rps_3/repeat_3/result.json</a:t>
            </a:r>
          </a:p>
          <a:p>
            <a:r>
              <a:t>/Users/wentiange/afd-download/afd_experiment_results_20260907_20260908/dsv4-flash/exp4_ep16_dp8tp2_jcz_afd5_20260907_2348/ep16_dp8tp2/chunk_16384/rps_4/repeat_1/result.json</a:t>
            </a:r>
          </a:p>
          <a:p>
            <a:r>
              <a:t>/Users/wentiange/afd-download/afd_experiment_results_20260907_20260908/dsv4-flash/exp4_ep16_dp8tp2_jcz_afd5_20260907_2348/ep16_dp8tp2/chunk_16384/rps_4/repeat_2/result.json</a:t>
            </a:r>
          </a:p>
          <a:p>
            <a:r>
              <a:t>/Users/wentiange/afd-download/afd_experiment_results_20260907_20260908/dsv4-flash/exp4_ep16_dp8tp2_jcz_afd5_20260907_2348/ep16_dp8tp2/chunk_16384/rps_4/repeat_3/result.json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源：tp2-dp-64k-throughput.png。数据源：/Users/wentiange/afd-download/dsv4-flash-20260910-rps325to5/afd_dp4tp2/chunk_65536；/Users/wentiange/afd-download/dsv4-flash-20260914/afd_dp{6,8,10,12}tp2/chunk_65536。完整来源路径和计算值见同任务目录tp2-dp-64k-data.json。DP4为单机、旧插件、FFN HCCL_BUFFSIZE=4096；DP6–12为双机、FFN HCCL_BUFFSIZE=5000。跨配置历史比较仅作趋势参考。图中误差线为重复间样本标准差。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4096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4K","rates":{"2":{"at10":99.76128472222221,"scale":[100,100,100,100,100,100,100,100,100,100,99.76128472222221,91.84027777777779],"percentiles":{"25":1.1112057277932763,"50":1.816377775122722,"90":4.633404955267906,"95":6.008528912129502,"99":8.301711083514002},"failed":0},"3":{"at10":96.24565972222221,"scale":[100,100,100,100,100,100,100,100,100,99.71788194444444,96.24565972222221,73.95833333333333],"percentiles":{"25":1.837532591695587,"50":3.1865838735053935,"90":7.61622683207194,"95":9.197015212538341,"99":12.909390794734165},"failed":0},"4":{"at10":9.1796875,"scale":[99.63107638888889,98.00347222222223,93.48958333333333,85.30815972222221,76.28038194444444,65.42968750000001,49.69618055555556,32.443576388888886,21.571180555555554,15.668402777777779,9.1796875,3.103298611111111],"percentiles":{"25":22.171944693972666,"50":30.074087555830676,"90":47.33734494075179,"95":51.25458312562356,"99":56.949655518122036},"failed":0}}},{"name":"EP16 DP8TP2 4K","rates":{"2":{"at10":98.74131944444444,"scale":[100,100,100,100,100,100,100,100,100,99.95659722222223,98.74131944444444,89.21440972222221],"percentiles":{"25":1.230010274099186,"50":1.9753090164934595,"90":5.124845764910181,"95":6.483921441249549,"99":10.237622215350477},"failed":0},"3":{"at10":97.69965277777779,"scale":[100,100,100,100,100,100,100,100,100,99.97829861111111,97.69965277777779,82.13975694444444],"percentiles":{"25":1.5964741279215862,"50":2.531782894705733,"90":6.214728743303567,"95":8.024309556543207,"99":11.162746429940068},"failed":0},"4":{"at10":94.7265625,"scale":[100,100,100,100,100,100,100,100,99.97829861111111,99.50086805555556,94.7265625,69.37934027777777],"percentiles":{"25":2.167761188466102,"50":3.488759712781757,"90":8.144284384790808,"95":10.185274205170572,"99":12.986161493246144},"failed":0}}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8192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8K","rates":{"2":{"at10":99.71788194444444,"scale":[100,100,100,100,100,100,100,100,100,99.97829861111111,99.71788194444444,87.84722222222221],"percentiles":{"25":1.7907607185964782,"50":2.5724083396295705,"90":5.2942909728735685,"95":6.622404955327511,"99":8.891578614215064},"failed":0},"3":{"at10":98.04687499999999,"scale":[100,100,100,100,100,100,100,100,100,99.97829861111111,98.04687499999999,71.22395833333333],"percentiles":{"25":2.57772664912045,"50":3.653233910600344,"90":7.249252452204625,"95":8.577872270718217,"99":11.05817665799211},"failed":0},"4":{"at10":62.521701388888886,"scale":[100,100,100,100,100,100,100,100,98.56770833333333,89.73524305555556,62.521701388888886,17.1875],"percentiles":{"25":5.95976707773904,"50":8.623764546588063,"90":15.062554584195217,"95":16.84744916856289,"99":20.385753283773862},"failed":0}}},{"name":"EP16 DP8TP2 8K","rates":{"2":{"at10":97.39583333333333,"scale":[100,100,100,100,100,100,100,100,100,99.89149305555556,97.39583333333333,77.03993055555556],"percentiles":{"25":2.2936930718521276,"50":3.252773870403568,"90":6.663616052207847,"95":8.250655280891806,"99":11.975677930718913},"failed":0},"3":{"at10":94.83506944444444,"scale":[100,100,100,100,100,100,100,100,100,99.43576388888889,94.83506944444444,63.020833333333336],"percentiles":{"25":3.1169630073321364,"50":4.207905201551815,"90":8.354183196400603,"95":10.071615917763362,"99":13.449840901745501},"failed":0},"4":{"at10":89.56163194444444,"scale":[100,100,100,100,100,100,100,100,99.95659722222221,98.52430555555556,89.56163194444444,48.00347222222222],"percentiles":{"25":3.733680306157718,"50":5.152407061619063,"90":10.120132042095065,"95":12.025209024005258,"99":15.901029686847105},"failed":0}}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16384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16K","rates":{"2":{"at10":96.74479166666667,"scale":[100,100,100,100,100,100,100,100,100,99.78298611111111,96.74479166666667,56.705729166666664],"percentiles":{"25":3.551767404501637,"50":4.6893975387016935,"90":7.840256173784534,"95":9.162166531818608,"99":12.012135140970361},"failed":0},"3":{"at10":91.6015625,"scale":[100,100,100,100,100,100,100,100,99.95659722222223,99.4357638888889,91.6015625,32.400173611111114],"percentiles":{"25":4.689332753730317,"50":5.8233625671515865,"90":9.599189821009835,"95":11.047861258809766,"99":14.082038091309373},"failed":0},"4":{"at10":66.29774305555556,"scale":[100,100,100,100,100,100,100,99.95659722222221,99.67447916666667,94.68315972222223,66.29774305555556,12.999131944444445],"percentiles":{"25":6.088788283057511,"50":8.401742336029807,"90":13.611160033072034,"95":15.118597842752934,"99":18.246145718544735},"failed":0}}},{"name":"EP16 DP8TP2 16K","rates":{"2":{"at10":84.30989583333333,"scale":[100,100,100,100,100,100,100,99.97829861111111,99.84809027777777,97.4392361111111,84.30989583333333,19.227430555555557],"percentiles":{"25":5.426110147265717,"50":7.06239201206093,"90":11.337681417353451,"95":13.313225952986008,"99":16.565372069987166},"failed":0},"3":{"at10":63.975694444444436,"scale":[100,100,100,100,100,99.95659722222221,99.89149305555556,99.82638888888889,98.93663194444444,92.578125,63.975694444444436,3.1684027777777777],"percentiles":{"25":7.3458586429866655,"50":8.873912262419859,"90":14.12471725186333,"95":16.088032054171588,"99":19.753332204123343},"failed":0},"4":{"at10":59.59201388888889,"scale":[100,100,100,100,100,100,100,99.91319444444444,98.69791666666667,90.88541666666666,59.59201388888889,1.0416666666666667],"percentiles":{"25":7.481995730350415,"50":9.211385090835392,"90":14.688100746522347,"95":16.659023971762508,"99":20.541766609779263},"failed":0}}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  <a:p>
            <a:r>
              <a:t>补充DP8TP2来源：/Users/wentiange/afd-download/dsv4-flash-20260908-rps234/ep16_dp8tp2/chunk_8192/rps_{3,4}/repeat_{1,2,3}/timing_audit.json，以及对应before/after原始metrics。各轮取sum/count后求三轮均值，增量用未舍入均值相减。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下一步围绕 FFN 的同步、入图和通信控核开销开展优化。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"2.0", "mode": "split", "runs": "3", "layer_gmm": "ON", "ffn_graph": "FULL", "memory": "0.7", "evidence": "原始逐请求重算", "qps": "1.988624739687901", "qps_std": "0.00010306562999969647", "qps_n": "3", "mean": "1.2823346936141509", "mean_std": "0.010170411538325349", "mean_n": "3", "p25": "0.451674560084939", "p25_std": "0.0025299902222388087", "p25_n": "3", "p50": "0.8135426109656692", "p50_std": "0.016924288802781743", "p50_n": "3", "p75": "1.6530190932874878", "p75_std": "0.013335260847311193", "p75_n": "3", "p90": "2.86460497820129", "p90_std": "0.023996750081315254", "p90_n": "3", "p95": "3.751375253777951", "p95_std": "0.039791094179029214", "p95_n": "3", "p99": "6.084228590286029", "p99_std": "0.12835741093342634", "p99_n": "3", "p99.9": "8.602214774380686", "p99.9_std": "0.06199782201159109", "p99.9_n": "3", "success": "4608", "failed": "0"}</a:t>
            </a:r>
          </a:p>
          <a:p>
            <a:r>
              <a:t>4×EP4 8K: {"family": "AFD / 大EP 主矩阵", "topology": "4×EP4 DP1TP4", "mbt": "8192", "rps": "2.0", "mode": "full-model", "runs": "3", "layer_gmm": "N/A", "ffn_graph": "EAGER", "memory": "0.9", "evidence": "原始逐请求重算", "qps": "1.9884223146600692", "qps_std": "0.002965984074370013", "qps_n": "3", "mean": "1.2629997613698327", "mean_std": "0.014201612139130775", "mean_n": "3", "p25": "0.3731816156456868", "p25_std": "0.002918794664205914", "p25_n": "3", "p50": "0.8247481494521102", "p50_std": "0.04399655531307145", "p50_n": "3", "p75": "1.7776400504323344", "p75_std": "0.013103521381507402", "p75_n": "3", "p90": "2.927965944943329", "p90_std": "0.012567696183486809", "p90_n": "3", "p95": "3.7385222002243004", "p95_std": "0.06102516355819375", "p95_n": "3", "p99": "5.949482865817862", "p99_std": "0.09125846119611936", "p99_n": "3", "p99.9": "6.467180530379209", "p99.9_std": "0.016199015516566002", "p99.9_n": "3", "success": "4608", "failed": "0"}</a:t>
            </a:r>
          </a:p>
          <a:p>
            <a:r>
              <a:t>2×EP8 8K: {"family": "AFD / 大EP 主矩阵", "topology": "2×EP8 DP2TP4", "mbt": "8192", "rps": "2.0", "mode": "full-model", "runs": "3", "layer_gmm": "N/A", "ffn_graph": "EAGER", "memory": "0.9", "evidence": "原始逐请求重算", "qps": "1.9777657806981135", "qps_std": "0.0021142499142137706", "qps_n": "3", "mean": "2.2584500201058595", "mean_std": "0.06589096274235935", "mean_n": "3", "p25": "1.0758659859808783", "p25_std": "0.044548657389500944", "p25_n": "3", "p50": "1.8688688091933727", "p50_std": "0.06785944075570095", "p50_n": "3", "p75": "3.0061512406294546", "p75_std": "0.08023731448742037", "p75_n": "3", "p90": "4.464118697370092", "p90_std": "0.14184141127706154", "p90_n": "3", "p95": "5.6451589603287475", "p95_std": "0.1268644779011593", "p95_n": "3", "p99": "7.696963504112019", "p99_std": "0.16996276508995115", "p99_n": "3", "p99.9": "9.553214065687085", "p99.9_std": "0.36999942007334025", "p99.9_n": "3", "success": "4608", "failed": "0"}</a:t>
            </a:r>
          </a:p>
          <a:p>
            <a:r>
              <a:t>EP16 8K: {"family": "AFD / 大EP 主矩阵", "topology": "EP16 DP4TP4", "mbt": "8192", "rps": "2.0", "mode": "full-model", "runs": "3", "layer_gmm": "N/A", "ffn_graph": "EAGER", "memory": "0.7", "evidence": "原始逐请求重算", "qps": "1.9794818973359412", "qps_std": "0.0035018911437541198", "qps_n": "3", "mean": "3.6349223990364408", "mean_std": "0.08229474212874895", "mean_n": "3", "p25": "2.321248658311864", "p25_std": "0.05420358651139329", "p25_n": "3", "p50": "3.171539602180322", "p50_std": "0.07146354614512425", "p50_n": "3", "p75": "4.476920648788412", "p75_std": "0.11740129573627575", "p75_n": "3", "p90": "6.250040008376042", "p90_std": "0.17738736698718585", "p90_n": "3", "p95": "7.537594998255372", "p95_std": "0.34008370082064054", "p95_n": "3", "p99": "10.120470608801895", "p99_std": "0.2819458513071849", "p99_n": "3", "p99.9": "13.130027715905243", "p99.9_std": "0.3521250972331267", "p99.9_n": "3", "success": "4608", "failed": "0"}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"3.0", "mode": "split", "runs": "3", "layer_gmm": "ON", "ffn_graph": "FULL", "memory": "0.7", "evidence": "原始逐请求重算", "qps": "2.966281717256644", "qps_std": "0.0029151937216875612", "qps_n": "3", "mean": "2.242276313817477", "mean_std": "0.03286884120511202", "mean_n": "3", "p25": "0.731251559065034", "p25_std": "0.024417072417774764", "p25_n": "3", "p50": "1.6245619437346857", "p50_std": "0.013445239284976204", "p50_n": "3", "p75": "3.167242770238469", "p75_std": "0.06194683024512624", "p75_n": "3", "p90": "5.12873287529995", "p90_std": "0.047516187169439096", "p90_n": "3", "p95": "6.271160423755646", "p95_std": "0.25970168181132813", "p95_n": "3", "p99": "8.107771077683823", "p99_std": "0.48396191618734075", "p99_n": "3", "p99.9": "10.07447369248667", "p99.9_std": "0.6558236525681806", "p99.9_n": "3", "success": "4607", "failed": "1"}</a:t>
            </a:r>
          </a:p>
          <a:p>
            <a:r>
              <a:t>4×EP4 8K: {"family": "AFD / 大EP 主矩阵", "topology": "4×EP4 DP1TP4", "mbt": "8192", "rps": "3.0", "mode": "full-model", "runs": "3", "layer_gmm": "N/A", "ffn_graph": "EAGER", "memory": "0.9", "evidence": "原始逐请求重算", "qps": "2.962205568516389", "qps_std": "0.00739051886784956", "qps_n": "3", "mean": "1.7301459112722013", "mean_std": "0.03225421473796037", "mean_n": "3", "p25": "0.51651247497648", "p25_std": "0.018233590339346482", "p25_n": "3", "p50": "1.2564860343312223", "p50_std": "0.043589568967308756", "p50_n": "3", "p75": "2.42120417393744", "p75_std": "0.021747541216062417", "p75_n": "3", "p90": "3.810725108409921", "p90_std": "0.04172423901680061", "p90_n": "3", "p95": "5.00418848823756", "p95_std": "0.2364169239181168", "p95_n": "3", "p99": "6.745017628185452", "p99_std": "0.27685777644383514", "p99_n": "3", "p99.9": "8.07763270671785", "p99.9_std": "0.8721533031856907", "p99.9_n": "3", "success": "4608", "failed": "0"}</a:t>
            </a:r>
          </a:p>
          <a:p>
            <a:r>
              <a:t>2×EP8 8K: {"family": "AFD / 大EP 主矩阵", "topology": "2×EP8 DP2TP4", "mbt": "8192", "rps": "3.0", "mode": "full-model", "runs": "3", "layer_gmm": "N/A", "ffn_graph": "EAGER", "memory": "0.9", "evidence": "原始逐请求重算", "qps": "2.9421369187007413", "qps_std": "0.004830359828070807", "qps_n": "3", "mean": "3.677348897406773", "mean_std": "0.10423985948475702", "mean_n": "3", "p25": "2.1067303557259343", "p25_std": "0.06974511438682549", "p25_n": "3", "p50": "3.181424382763604", "p50_std": "0.1050422134610696", "p50_n": "3", "p75": "4.756990122919281", "p75_std": "0.1375870286989066", "p75_n": "3", "p90": "6.717952077277005", "p90_std": "0.04324692192936557", "p90_n": "3", "p95": "8.010685940117886", "p95_std": "0.1175541781072152", "p95_n": "3", "p99": "10.477637495597206", "p99_std": "0.6197775526564644", "p99_n": "3", "p99.9": "13.916817851584986", "p99.9_std": "0.10969835621019307", "p99.9_n": "3", "success": "4608", "failed": "0"}</a:t>
            </a:r>
          </a:p>
          <a:p>
            <a:r>
              <a:t>EP16 8K: {"family": "AFD / 大EP 主矩阵", "topology": "EP16 DP4TP4", "mbt": "8192", "rps": "3.0", "mode": "full-model", "runs": "3", "layer_gmm": "N/A", "ffn_graph": "EAGER", "memory": "0.7", "evidence": "原始逐请求重算", "qps": "2.939419120309089", "qps_std": "0.010852121999543975", "qps_n": "3", "mean": "4.879156789670983", "mean_std": "0.2516888149056419", "mean_n": "3", "p25": "3.1119579602964222", "p25_std": "0.1326498916852857", "p25_n": "3", "p50": "4.411507967549066", "p50_std": "0.25872329002806704", "p50_n": "3", "p75": "6.053055223543197", "p75_std": "0.3446718714476421", "p75_n": "3", "p90": "8.050450572185218", "p90_std": "0.4478375915308329", "p90_n": "3", "p95": "9.279241816699503", "p95_std": "0.5374253102914864", "p95_n": "3", "p99": "11.986870356357349", "p99_std": "0.7866594987274909", "p99_n": "3", "p99.9": "14.972793665507126", "p99.9_std": "0.5009933508931522", "p99.9_n": "3", "success": "4607", "failed": "1"}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"4.0", "mode": "split", "runs": "3", "layer_gmm": "ON", "ffn_graph": "FULL", "memory": "0.7", "evidence": "原始逐请求重算", "qps": "3.8834688774188395", "qps_std": "0.022317916514563045", "qps_n": "3", "mean": "6.488780873596827", "mean_std": "0.3215080912663052", "mean_n": "3", "p25": "3.1868803605126836", "p25_std": "0.13445454890939074", "p25_n": "3", "p50": "6.2865007963652415", "p50_std": "0.31441000318322104", "p50_n": "3", "p75": "9.020645172024766", "p75_std": "0.5297742139552254", "p75_n": "3", "p90": "11.704520077134172", "p90_std": "0.6639865138321752", "p90_n": "3", "p95": "13.433669506106526", "p95_std": "0.43586264509298017", "p95_n": "3", "p99": "16.562453073946156", "p99_std": "0.5806273614394502", "p99_n": "3", "p99.9": "19.21633625513559", "p99.9_std": "0.30227655041120216", "p99.9_n": "3", "success": "4608", "failed": "0"}</a:t>
            </a:r>
          </a:p>
          <a:p>
            <a:r>
              <a:t>4×EP4 8K: {"family": "AFD / 大EP 主矩阵", "topology": "4×EP4 DP1TP4", "mbt": "8192", "rps": "4.0", "mode": "full-model", "runs": "3", "layer_gmm": "N/A", "ffn_graph": "EAGER", "memory": "0.9", "evidence": "原始逐请求重算", "qps": "3.9181413489202725", "qps_std": "0.03051800819786486", "qps_n": "3", "mean": "3.6139708614407735", "mean_std": "0.08809812267819483", "mean_n": "3", "p25": "1.4982366596038144", "p25_std": "0.03308810858410623", "p25_n": "3", "p50": "3.0980358946447573", "p50_std": "0.129412321090152", "p50_n": "3", "p75": "5.249841972564657", "p75_std": "0.16820632491116055", "p75_n": "3", "p90": "7.280650211187701", "p90_std": "0.08527506380407023", "p90_n": "3", "p95": "8.564923260981837", "p95_std": "0.09147635520894482", "p95_n": "3", "p99": "10.710763782293855", "p99_std": "0.3738072462377302", "p99_n": "3", "p99.9": "12.859730177105664", "p99.9_std": "0.45488425739778937", "p99.9_n": "3", "success": "4608", "failed": "0"}</a:t>
            </a:r>
          </a:p>
          <a:p>
            <a:r>
              <a:t>2×EP8 8K: {"family": "AFD / 大EP 主矩阵", "topology": "2×EP8 DP2TP4", "mbt": "8192", "rps": "4.0", "mode": "full-model", "runs": "3", "layer_gmm": "N/A", "ffn_graph": "EAGER", "memory": "0.9", "evidence": "原始逐请求重算", "qps": "3.833374957025368", "qps_std": "0.04054103807322974", "qps_n": "3", "mean": "8.051989872278986", "mean_std": "0.6266677663594441", "mean_n": "3", "p25": "4.736383381144454", "p25_std": "0.430654483871779", "p25_n": "3", "p50": "7.427618462592363", "p50_std": "0.5530135051679157", "p50_n": "3", "p75": "10.859571575342367", "p75_std": "0.8720448830521689", "p75_n": "3", "p90": "13.902370517452558", "p90_std": "1.0822499112325485", "p90_n": "3", "p95": "15.747565831368169", "p95_std": "1.1902467146823457", "p95_n": "3", "p99": "18.938207457525046", "p99_std": "0.8212133106838867", "p99_n": "3", "p99.9": "21.69015419870302", "p99.9_std": "0.8562662072823356", "p99.9_n": "3", "success": "4608", "failed": "0"}</a:t>
            </a:r>
          </a:p>
          <a:p>
            <a:r>
              <a:t>EP16 8K: {"family": "AFD / 大EP 主矩阵", "topology": "EP16 DP4TP4", "mbt": "8192", "rps": "4.0", "mode": "full-model", "runs": "3", "layer_gmm": "N/A", "ffn_graph": "EAGER", "memory": "0.7", "evidence": "原始逐请求重算", "qps": "3.6831711161650116", "qps_std": "0.05436651207462095", "qps_n": "3", "mean": "15.843584110149903", "mean_std": "1.754655411932003", "mean_n": "3", "p25": "11.218125834440192", "p25_std": "1.3630276325260229", "p25_n": "3", "p50": "15.674570052574078", "p50_std": "2.0906508867996316", "p50_n": "3", "p75": "20.248636496408533", "p75_std": "2.0098975802495995", "p75_n": "3", "p90": "24.922901740297675", "p90_std": "1.953682855454682", "p90_n": "3", "p95": "27.41407905736317", "p95_std": "2.763960843977882", "p95_n": "3", "p99": "32.36120607222741", "p99_std": "4.582236741389926", "p99_n": "3", "p99.9": "34.67051098817332", "p99.9_std": "4.848306348891062", "p99.9_n": "3", "success": "4608", "failed": "0"}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"5.0", "mode": "split", "runs": "3", "layer_gmm": "ON", "ffn_graph": "FULL", "memory": "0.7", "evidence": "原始逐请求重算", "qps": "4.151903403494427", "qps_std": "0.04419827551353195", "qps_n": "3", "mean": "30.319273983032165", "mean_std": "0.45177375531160047", "mean_n": "3", "p25": "20.469021533305447", "p25_std": "1.1115081603079868", "p25_n": "3", "p50": "30.738564901364345", "p50_std": "0.7655001185161546", "p50_n": "3", "p75": "41.3896695173656", "p75_std": "0.3801327051813017", "p75_n": "3", "p90": "49.11567998149743", "p90_std": "0.7089139678468067", "p90_n": "3", "p95": "54.62404752041524", "p95_std": "0.3693659665019265", "p95_n": "3", "p99": "62.894523652487756", "p99_std": "1.2975137358720044", "p99_n": "3", "p99.9": "66.89502056385697", "p99.9_std": "3.5756290229338434", "p99.9_n": "3", "success": "4608", "failed": "0"}</a:t>
            </a:r>
          </a:p>
          <a:p>
            <a:r>
              <a:t>4×EP4 8K: {"family": "AFD / 大EP 主矩阵", "topology": "4×EP4 DP1TP4", "mbt": "8192", "rps": "5.0", "mode": "full-model", "runs": "3", "layer_gmm": "N/A", "ffn_graph": "EAGER", "memory": "0.9", "evidence": "原始逐请求重算", "qps": "4.255483793215323", "qps_std": "0.04647879633652787", "qps_n": "3", "mean": "22.408054384245286", "mean_std": "0.22919727604098847", "mean_n": "3", "p25": "14.175157040823251", "p25_std": "0.17143109878372628", "p25_n": "3", "p50": "22.28679317018638", "p50_std": "1.0546781370276956", "p50_n": "3", "p75": "30.00548537665357", "p75_std": "0.6239776069073015", "p75_n": "3", "p90": "38.29714431862036", "p90_std": "0.42221284427383776", "p90_n": "3", "p95": "43.470449153799564", "p95_std": "1.0951590416598815", "p95_n": "3", "p99": "48.35808684313671", "p99_std": "1.393862223135051", "p99_n": "3", "p99.9": "53.64236289004173", "p99.9_std": "3.768268631400482", "p99.9_n": "3", "success": "4608", "failed": "0"}</a:t>
            </a:r>
          </a:p>
          <a:p>
            <a:r>
              <a:t>2×EP8 8K: {"family": "AFD / 大EP 主矩阵", "topology": "2×EP8 DP2TP4", "mbt": "8192", "rps": "5.0", "mode": "full-model", "runs": "3", "layer_gmm": "N/A", "ffn_graph": "EAGER", "memory": "0.9", "evidence": "原始逐请求重算", "qps": "3.9321613325784575", "qps_std": "0.060895238466129056", "qps_n": "3", "mean": "38.285855817547905", "mean_std": "1.9047432121924055", "mean_n": "3", "p25": "23.351881752877187", "p25_std": "0.11911919983686448", "p25_n": "3", "p50": "37.756422217004", "p50_std": "2.34544246569029", "p50_n": "3", "p75": "53.12689182472726", "p75_std": "2.1964839032386845", "p75_n": "3", "p90": "66.35292902681977", "p90_std": "2.914591976187639", "p90_n": "3", "p95": "72.75050477248926", "p95_std": "4.5646630986389", "p95_n": "3", "p99": "81.08769070912774", "p99_std": "2.0666798211955246", "p99_n": "3", "p99.9": "85.75256166991461", "p99.9_std": "4.325927175125061", "p99.9_n": "3", "success": "4608", "failed": "0"}</a:t>
            </a:r>
          </a:p>
          <a:p>
            <a:r>
              <a:t>EP16 8K: {"family": "AFD / 大EP 主矩阵", "topology": "EP16 DP4TP4", "mbt": "8192", "rps": "5.0", "mode": "full-model", "runs": "3", "layer_gmm": "N/A", "ffn_graph": "EAGER", "memory": "0.7", "evidence": "原始逐请求重算", "qps": "3.679906905012409", "qps_std": "0.10260458616810432", "qps_n": "3", "mean": "50.342708047715455", "mean_std": "2.4658455123731957", "mean_n": "3", "p25": "30.512614303268492", "p25_std": "1.830314162134188", "p25_n": "3", "p50": "49.7817134000361", "p50_std": "3.37560484144052", "p50_n": "3", "p75": "68.06921410746872", "p75_std": "3.1304924538813745", "p75_n": "3", "p90": "90.69887856580317", "p90_std": "5.873945895514621", "p90_n": "3", "p95": "98.25703237205744", "p95_std": "7.642183527708032", "p95_n": "3", "p99": "107.80794925475494", "p99_std": "12.048639742478542", "p99_n": "3", "p99.9": "111.54242429608789", "p99.9_std": "11.46268490056117", "p99.9_n": "3", "success": "4608", "failed": "0"}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TP4 overview; offered QPS2/3/4/5, original formal matrix three-repeat means.</a:t>
            </a:r>
          </a:p>
          <a:p>
            <a:r>
              <a:t>Source: /home/nielinfeng/afd-download/dsv4-flash-w4a8/tp4_report_20261009/all_group_results.csv</a:t>
            </a:r>
          </a:p>
          <a:p>
            <a:r>
              <a:t>SHA256: 54674776e223d95abc06200b1a9a2355c111140081a7a9c2138a8e301f1f24a9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/home/nielinfeng/afd-download/dsv4-flash-w4a8/tp4_report_20261009/all_group_results.csv</a:t>
            </a:r>
          </a:p>
          <a:p>
            <a:r>
              <a:t>SHA256: 54674776e223d95abc06200b1a9a2355c111140081a7a9c2138a8e301f1f24a9</a:t>
            </a:r>
          </a:p>
          <a:p>
            <a:r>
              <a:t>红字为同MBT开/关中更小的TTFT；QPS为offered RPS。</a:t>
            </a:r>
          </a:p>
          <a:p>
            <a:r>
              <a:t>[{"family": "ubatch 同机对照", "topology": "AFD A:DP3TP4 / F:EP4", "mbt": "32768", "rps": "2.0", "mode": "off", "runs": "3", "layer_gmm": "ON", "ffn_graph": "FULL", "memory": "0.7", "evidence": "原始逐请求重算", "qps": "1.9875477907422223", "qps_std": "0.00015510854293085066", "qps_n": "3", "mean": "1.7915916403403067", "mean_std": "0.0329350389297551", "mean_n": "3", "p25": "0.543004187134405", "p25_std": "0.009059721316959113", "p25_n": "3", "p50": "1.2415564162656665", "p50_std": "0.026932978128925616", "p50_n": "3", "p75": "2.5539702215852835", "p75_std": "0.10894281281310694", "p75_n": "3", "p90": "4.1348596491540475", "p90_std": "0.10715435708308764", "p90_n": "3", "p95": "5.343767518332849", "p95_std": "0.07795290965839673", "p95_n": "3", "p99": "6.9143294341551815", "p99_std": "0.2711877918864003", "p99_n": "3", "p99.9": "8.050312775022645", "p99.9_std": "0.2927090305584152", "p99.9_n": "3", "success": "4608", "failed": "0"}, {"family": "ubatch 同机对照", "topology": "AFD A:DP3TP4 / F:EP4", "mbt": "32768", "rps": "2.0", "mode": "split", "runs": "3", "layer_gmm": "ON", "ffn_graph": "FULL", "memory": "0.7", "evidence": "原始逐请求重算", "qps": "1.991731269692057", "qps_std": "0.00011679940298365626", "qps_n": "3", "mean": "1.278200545940005", "mean_std": "0.024435066331953255", "mean_n": "3", "p25": "0.4493850731911759", "p25_std": "0.003450884428883633", "p25_n": "3", "p50": "0.8142885575070977", "p50_std": "0.005751300506923764", "p50_n": "3", "p75": "1.6879551359452307", "p75_std": "0.03585898881182783", "p75_n": "3", "p90": "3.020996871093909", "p90_std": "0.06361460550395862", "p90_n": "3", "p95": "3.8296372924620905", "p95_std": "0.07641966917243406", "p95_n": "3", "p99": "5.31952003731082", "p99_std": "0.05085465059052928", "p99_n": "3", "p99.9": "6.295973997653133", "p99.9_std": "0.04759631142099493", "p99.9_n": "3", "success": "4608", "failed": "0"}, {"family": "ubatch 同机对照", "topology": "AFD A:DP3TP4 / F:EP4", "mbt": "32768", "rps": "3.0", "mode": "off", "runs": "3", "layer_gmm": "ON", "ffn_graph": "FULL", "memory": "0.7", "evidence": "原始逐请求重算", "qps": "2.935280576964325", "qps_std": "0.028246083759124394", "qps_n": "3", "mean": "5.043057986268751", "mean_std": "0.3733555501218601", "mean_n": "3", "p25": "2.2576978392899036", "p25_std": "0.1816740756466343", "p25_n": "3", "p50": "4.582693002807598", "p50_std": "0.2757651860205488", "p50_n": "3", "p75": "7.22774131083861", "p75_std": "0.62066231508317", "p75_n": "3", "p90": "9.731935229462882", "p90_std": "0.922434229344786", "p90_n": "3", "p95": "11.489802340200791", "p95_std": "0.7857461402769004", "p95_n": "3", "p99": "14.31500533021366", "p99_std": "0.480966210184518", "p99_n": "3", "p99.9": "17.202478727757295", "p99.9_std": "1.3600424347642712", "p99.9_n": "3", "success": "4608", "failed": "0"}, {"family": "ubatch 同机对照", "topology": "AFD A:DP3TP4 / F:EP4", "mbt": "32768", "rps": "3.0", "mode": "split", "runs": "3", "layer_gmm": "ON", "ffn_graph": "FULL", "memory": "0.7", "evidence": "原始逐请求重算", "qps": "2.9657388695478133", "qps_std": "0.002301380248821395", "qps_n": "3", "mean": "2.0656442717331114", "mean_std": "0.040571876418802826", "mean_n": "3", "p25": "0.7410793155431747", "p25_std": "0.0035586627787835235", "p25_n": "3", "p50": "1.5926552657037973", "p50_std": "0.03148741487122593", "p50_n": "3", "p75": "2.978152365113298", "p75_std": "0.08591979714710615", "p75_n": "3", "p90": "4.337964499058823", "p90_std": "0.09984068555081843", "p90_n": "3", "p95": "5.41767616191258", "p95_std": "0.20623536823337849", "p95_n": "3", "p99": "7.19180990071968", "p99_std": "0.273104745333511", "p99_n": "3", "p99.9": "9.27152602812213", "p99.9_std": "0.5351395334909905", "p99.9_n": "3", "success": "4607", "failed": "1"}, {"family": "ubatch 同机对照", "topology": "AFD A:DP3TP4 / F:EP4", "mbt": "32768", "rps": "4.0", "mode": "off", "runs": "3", "layer_gmm": "ON", "ffn_graph": "FULL", "memory": "0.7", "evidence": "原始逐请求重算", "qps": "3.2783647701144107", "qps_std": "0.030951104510419585", "qps_n": "3", "mean": "38.842341787223425", "mean_std": "1.8693775722035475", "mean_n": "3", "p25": "24.42538790948068", "p25_std": "1.6750301461348536", "p25_n": "3", "p50": "39.43587659671903", "p50_std": "1.085654022139951", "p50_n": "3", "p75": "54.293830612674356", "p75_std": "3.67691797225297", "p75_n": "3", "p90": "65.84481654316187", "p90_std": "4.520646106565895", "p90_n": "3", "p95": "70.09263142757118", "p95_std": "4.56721553971024", "p95_n": "3", "p99": "79.7362926232629", "p99_std": "2.197539522850437", "p99_n": "3", "p99.9": "86.12427937968633", "p99.9_std": "3.024464059769158", "p99.9_n": "3", "success": "4608", "failed": "0"}, {"family": "ubatch 同机对照", "topology": "AFD A:DP3TP4 / F:EP4", "mbt": "32768", "rps": "4.0", "mode": "split", "runs": "3", "layer_gmm": "ON", "ffn_graph": "FULL", "memory": "0.7", "evidence": "原始逐请求重算", "qps": "3.8849707709043213", "qps_std": "0.019629885712362044", "qps_n": "3", "mean": "5.924921399744822", "mean_std": "0.366797753434471", "mean_n": "3", "p25": "3.083236437446127", "p25_std": "0.2868982389416604", "p25_n": "3", "p50": "5.4854797854398685", "p50_std": "0.3271406284456023", "p50_n": "3", "p75": "8.32521391644453", "p75_std": "0.5482974624150431", "p75_n": "3", "p90": "11.005887509696185", "p90_std": "0.6402634390390567", "p90_n": "3", "p95": "12.408803305712839", "p95_std": "0.9393159594702426", "p95_n": "3", "p99": "15.16111638223754", "p99_std": "1.099748196777437", "p99_n": "3", "p99.9": "17.625640710806465", "p99.9_std": "1.0017184851867362", "p99.9_n": "3", "success": "4607", "failed": "1"}, {"family": "ubatch 同机对照", "topology": "AFD A:DP3TP4 / F:EP4", "mbt": "32768", "rps": "5.0", "mode": "off", "runs": "3", "layer_gmm": "ON", "ffn_graph": "FULL", "memory": "0.7", "evidence": "原始逐请求重算", "qps": "3.257135434177248", "qps_std": "0.06505484548057515", "qps_n": "3", "mean": "75.60279332761154", "mean_std": "1.80383669607965", "mean_n": "3", "p25": "42.58588186604902", "p25_std": "1.7953236456178436", "p25_n": "3", "p50": "74.27153068066885", "p50_std": "2.557530176701276", "p50_n": "3", "p75": "108.7024548247767", "p75_std": "2.6877198993712312", "p75_n": "3", "p90": "132.46473433325687", "p90_std": "4.961947349994852", "p90_n": "3", "p95": "140.4526557167992", "p95_std": "7.053362256063951", "p95_n": "3", "p99": "156.28093551040317", "p99_std": "8.601441934998451", "p99_n": "3", "p99.9": "164.9086763712298", "p99.9_std": "9.06875954827475", "p99.9_n": "3", "success": "4608", "failed": "0"}, {"family": "ubatch 同机对照", "topology": "AFD A:DP3TP4 / F:EP4", "mbt": "32768", "rps": "5.0", "mode": "split", "runs": "3", "layer_gmm": "ON", "ffn_graph": "FULL", "memory": "0.7", "evidence": "原始逐请求重算", "qps": "4.0218353402736575", "qps_std": "0.0619683188959595", "qps_n": "3", "mean": "32.359760493976665", "mean_std": "1.6299453080967603", "mean_n": "3", "p25": "21.34461404196918", "p25_std": "0.8798585827638713", "p25_n": "3", "p50": "32.688925214111805", "p50_std": "1.15860737455101", "p50_n": "3", "p75": "44.431992473080754", "p75_std": "2.4660163690122876", "p75_n": "3", "p90": "53.185399329289794", "p90_std": "2.5386654774898942", "p90_n": "3", "p95": "60.358958268072456", "p95_std": "1.329256367175667", "p95_n": "3", "p99": "69.675257985356", "p99_std": "6.770971959331271", "p99_n": "3", "p99.9": "75.13009833568702", "p99.9_std": "6.323026074837209", "p99.9_n": "3", "success": "4608", "failed": "0"}, {"family": "ubatch 同机对照", "topology": "AFD A:DP3TP4 / F:EP4", "mbt": "65536", "rps": "2.0", "mode": "off", "runs": "3", "layer_gmm": "ON", "ffn_graph": "FULL", "memory": "0.7", "evidence": "原始逐请求重算", "qps": "1.9847076667264403", "qps_std": "0.0019269528896696151", "qps_n": "3", "mean": "1.8507920719477622", "mean_std": "0.004070787636711053", "mean_n": "3", "p25": "0.5698030623607337", "p25_std": "0.01412764887221013", "p25_n": "3", "p50": "1.2637192622448008", "p50_std": "0.02446608433793695", "p50_n": "3", "p75": "2.5697956918738782", "p75_std": "0.05484118940943263", "p75_n": "3", "p90": "4.258244067430496", "p90_std": "0.08063593949187389", "p90_n": "3", "p95": "5.728595742707451", "p95_std": "0.2596942281356412", "p95_n": "3", "p99": "7.887093298329667", "p99_std": "0.15436327421732687", "p99_n": "3", "p99.9": "9.7647761974465", "p99.9_std": "0.4478369408206463", "p99.9_n": "3", "success": "4607", "failed": "1"}, {"family": "ubatch 同机对照", "topology": "AFD A:DP3TP4 / F:EP4", "mbt": "65536", "rps": "2.0", "mode": "split", "runs": "3", "layer_gmm": "ON", "ffn_graph": "FULL", "memory": "0.7", "evidence": "原始逐请求重算", "qps": "1.9886960772958628", "qps_std": "5.2451361021622546e-05", "qps_n": "3", "mean": "1.2875296221613501", "mean_std": "0.0048531788722646525", "mean_n": "3", "p25": "0.45330148888751864", "p25_std": "0.0035844084784224794", "p25_n": "3", "p50": "0.8147847189878424", "p50_std": "0.010491398110715961", "p50_n": "3", "p75": "1.6796164481590192", "p75_std": "0.022538625028021484", "p75_n": "3", "p90": "2.8950745475788913", "p90_std": "0.02944361939010502", "p90_n": "3", "p95": "3.803221929507951", "p95_std": "0.018627179537000608", "p95_n": "3", "p99": "5.776027235016246", "p99_std": "0.07110348671864403", "p99_n": "3", "p99.9": "8.104641453772711", "p99.9_std": "0.48035159694174995", "p99.9_n": "3", "success": "4608", "failed": "0"}, {"family": "ubatch 同机对照", "topology": "AFD A:DP3TP4 / F:EP4", "mbt": "65536", "rps": "3.0", "mode": "off", "runs": "3", "layer_gmm": "ON", "ffn_graph": "FULL", "memory": "0.7", "evidence": "原始逐请求重算", "qps": "2.9450002020762476", "qps_std": "0.009372299900841064", "qps_n": "3", "mean": "5.260615023278256", "mean_std": "0.09964285460959041", "mean_n": "3", "p25": "2.1357945376075804", "p25_std": "0.11788133716340854", "p25_n": "3", "p50": "4.975024909091492", "p50_std": "0.1611686216559727", "p50_n": "3", "p75": "7.822194644870858", "p75_std": "0.27922485139277076", "p75_n": "3", "p90": "9.960503118112683", "p90_std": "0.3071122044078587", "p90_n": "3", "p95": "11.586264042028537", "p95_std": "0.12748227771131332", "p95_n": "3", "p99": "14.536554435609535", "p99_std": "0.5440933452335146", "p99_n": "3", "p99.9": "16.66861402263863", "p99.9_std": "0.792861793058337", "p99.9_n": "3", "success": "4608", "failed": "0"}, {"family": "ubatch 同机对照", "topology": "AFD A:DP3TP4 / F:EP4", "mbt": "65536", "rps": "3.0", "mode": "split", "runs": "3", "layer_gmm": "ON", "ffn_graph": "FULL", "memory": "0.7", "evidence": "原始逐请求重算", "qps": "2.96628943057042", "qps_std": "0.0021379490539767676", "qps_n": "3", "mean": "2.2031125854721014", "mean_std": "0.08605674981272675", "mean_n": "3", "p25": "0.7372862158032755", "p25_std": "0.018736818361440765", "p25_n": "3", "p50": "1.6426000411932666", "p50_std": "0.03886459131121772", "p50_n": "3", "p75": "3.112384215928614", "p75_std": "0.09230357008538033", "p75_n": "3", "p90": "5.034137367270887", "p90_std": "0.1711786465071122", "p90_n": "3", "p95": "6.143929458068063", "p95_std": "0.4436487696480354", "p95_n": "3", "p99": "7.7569038815796425", "p99_std": "0.6600791501847191", "p99_n": "3", "p99.9": "9.401469630245098", "p99.9_std": "1.0073832094065152", "p99.9_n": "3", "success": "4608", "failed": "0"}, {"family": "ubatch 同机对照", "topology": "AFD A:DP3TP4 / F:EP4", "mbt": "65536", "rps": "4.0", "mode": "off", "runs": "3", "layer_gmm": "ON", "ffn_graph": "FULL", "memory": "0.7", "evidence": "原始逐请求重算", "qps": "3.40701836913923", "qps_std": "0.025967084680254937", "qps_n": "3", "mean": "35.3858797774883", "mean_std": "0.22776999806484366", "mean_n": "3", "p25": "24.367110346599173", "p25_std": "0.6312030572985188", "p25_n": "3", "p50": "36.34888713837912", "p50_std": "0.9379970119939307", "p50_n": "3", "p75": "47.859461894414075", "p75_std": "0.4231785841342646", "p75_n": "3", "p90": "58.09050292490671", "p90_std": "0.9121636118695574", "p90_n": "3", "p95": "62.48375387893369", "p95_std": "0.7292286463638504", "p95_n": "3", "p99": "67.36769204555702", "p99_std": "1.7636898299584394", "p99_n": "3", "p99.9": "70.01081007510732", "p99.9_std": "2.342513060134456", "p99.9_n": "3", "success": "4608", "failed": "0"}, {"family": "ubatch 同机对照", "topology": "AFD A:DP3TP4 / F:EP4", "mbt": "65536", "rps": "4.0", "mode": "split", "runs": "3", "layer_gmm": "ON", "ffn_graph": "FULL", "memory": "0.7", "evidence": "原始逐请求重算", "qps": "3.863295288302765", "qps_std": "0.02871683545356478", "qps_n": "3", "mean": "6.596623168163205", "mean_std": "0.45512702722559445", "mean_n": "3", "p25": "3.2964580259285867", "p25_std": "0.29879889479606436", "p25_n": "3", "p50": "6.403419690206647", "p50_std": "0.3741874311194263", "p50_n": "3", "p75": "9.172361826679358", "p75_std": "0.5999689351968668", "p75_n": "3", "p90": "12.022043649728099", "p90_std": "1.0143514121063766", "p90_n": "3", "p95": "13.640639464526126", "p95_std": "1.1976862958987224", "p95_n": "3", "p99": "16.873569166411972", "p99_std": "1.4091700034444221", "p99_n": "3", "p99.9": "19.832335705903", "p99.9_std": "2.311043614572027", "p99.9_n": "3", "success": "4608", "failed": "0"}, {"family": "ubatch 同机对照", "topology": "AFD A:DP3TP4 / F:EP4", "mbt": "65536", "rps": "5.0", "mode": "off", "runs": "3", "layer_gmm": "ON", "ffn_graph": "FULL", "memory": "0.7", "evidence": "原始逐请求重算", "qps": "3.387143221562398", "qps_std": "0.039747580670808774", "qps_n": "3", "mean": "70.23505674885301", "mean_std": "0.30167524039230775", "mean_n": "3", "p25": "39.90732711227611", "p25_std": "1.44414095074146", "p25_n": "3", "p50": "69.7557875495404", "p50_std": "1.279411141554524", "p50_n": "3", "p75": "99.02346391913791", "p75_std": "1.0341192378605513", "p75_n": "3", "p90": "120.11672228233267", "p90_std": "1.8275033450962814", "p90_n": "3", "p95": "129.1408261382021", "p95_std": "2.8686730867480317", "p95_n": "3", "p99": "143.6087015235176", "p99_std": "8.71875952483509", "p99_n": "3", "p99.9": "148.83763367628367", "p99.9_std": "9.01987578412602", "p99.9_n": "3", "success": "4608", "failed": "0"}, {"family": "ubatch 同机对照", "topology": "AFD A:DP3TP4 / F:EP4", "mbt": "65536", "rps": "5.0", "mode": "split", "runs": "3", "layer_gmm": "ON", "ffn_graph": "FULL", "memory": "0.7", "evidence": "原始逐请求重算", "qps": "4.140229272869155", "qps_std": "0.0076307174979777246", "qps_n": "3", "mean": "30.453458325275683", "mean_std": "0.9334163423309068", "mean_n": "3", "p25": "20.51908909389749", "p25_std": "1.1937404090330215", "p25_n": "3", "p50": "31.45036258796851", "p50_std": "1.1602315135965389", "p50_n": "3", "p75": "40.42701747516791", "p75_std": "1.4294369792645356", "p75_n": "3", "p90": "49.6588407891492", "p90_std": "1.6542518784509215", "p90_n": "3", "p95": "54.465868778837226", "p95_std": "1.4684233285246027", "p95_n": "3", "p99": "63.18832473997028", "p99_std": "2.664868345409617", "p99_n": "3", "p99.9": "65.26799861426153", "p99.9_std": "2.4967148438241784", "p99.9_n": "3", "success": "4608", "failed": "0"}]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records missing evidence, not measured graph speedup. No new benchmark was launched.</a:t>
            </a:r>
          </a:p>
          <a:p>
            <a:r>
              <a:t>/home/nielinfeng/afd-download/dsv4-flash-w4a8/tp4_report_20261009/all_group_results.csv</a:t>
            </a:r>
          </a:p>
          <a:p>
            <a:r>
              <a:t>Historical reports: /home/nielinfeng/afd-download/ffn-full-vs-eager-dp6tp2-ep4-rps2-3-4-20261001/COMPARISON.md and qps6-20260930/COMPARISON.md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vllm-dev.slack.com/archives/C0B4C1D84GG" TargetMode="External"/><Relationship Id="rId5" Type="http://schemas.openxmlformats.org/officeDocument/2006/relationships/image" Target="../media/image20.png"/><Relationship Id="rId4" Type="http://schemas.openxmlformats.org/officeDocument/2006/relationships/hyperlink" Target="https://github.com/vllm-project/afd-plugin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7" Type="http://schemas.openxmlformats.org/officeDocument/2006/relationships/chart" Target="../charts/chart1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7" Type="http://schemas.openxmlformats.org/officeDocument/2006/relationships/chart" Target="../charts/chart29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8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7" Type="http://schemas.openxmlformats.org/officeDocument/2006/relationships/chart" Target="../charts/chart3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33.xml"/><Relationship Id="rId5" Type="http://schemas.openxmlformats.org/officeDocument/2006/relationships/chart" Target="../charts/chart32.xml"/><Relationship Id="rId4" Type="http://schemas.openxmlformats.org/officeDocument/2006/relationships/chart" Target="../charts/chart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7" Type="http://schemas.openxmlformats.org/officeDocument/2006/relationships/chart" Target="../charts/chart39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38.xml"/><Relationship Id="rId5" Type="http://schemas.openxmlformats.org/officeDocument/2006/relationships/chart" Target="../charts/chart37.xml"/><Relationship Id="rId4" Type="http://schemas.openxmlformats.org/officeDocument/2006/relationships/chart" Target="../charts/chart3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7.xml"/><Relationship Id="rId5" Type="http://schemas.openxmlformats.org/officeDocument/2006/relationships/chart" Target="../charts/chart46.xml"/><Relationship Id="rId4" Type="http://schemas.openxmlformats.org/officeDocument/2006/relationships/chart" Target="../charts/chart4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8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1.xml"/><Relationship Id="rId5" Type="http://schemas.openxmlformats.org/officeDocument/2006/relationships/chart" Target="../charts/chart50.xml"/><Relationship Id="rId4" Type="http://schemas.openxmlformats.org/officeDocument/2006/relationships/chart" Target="../charts/chart4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noGrp="1"/>
          </p:cNvSpPr>
          <p:nvPr/>
        </p:nvSpPr>
        <p:spPr>
          <a:xfrm>
            <a:off x="713232" y="1828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WHY AFD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713232" y="408051"/>
            <a:ext cx="107442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Attention 与 MoE 的资源需求越不匹配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12648" y="914400"/>
            <a:ext cx="1444752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13232" y="100584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50" b="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Attention 受 KV Cache 容量约束，而 MoE 依赖大批次提升专家 GEMM 效率。</a:t>
            </a:r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825" y="1671320"/>
            <a:ext cx="9619615" cy="4244975"/>
          </a:xfrm>
          <a:prstGeom prst="rect">
            <a:avLst/>
          </a:prstGeom>
        </p:spPr>
      </p:pic>
      <p:sp>
        <p:nvSpPr>
          <p:cNvPr id="7" name="Rounded Rectangle 6"/>
          <p:cNvSpPr>
            <a:spLocks noGrp="1"/>
          </p:cNvSpPr>
          <p:nvPr/>
        </p:nvSpPr>
        <p:spPr>
          <a:xfrm>
            <a:off x="566928" y="2160143"/>
            <a:ext cx="1161288" cy="804672"/>
          </a:xfrm>
          <a:prstGeom prst="roundRect">
            <a:avLst/>
          </a:prstGeom>
          <a:solidFill>
            <a:srgbClr val="EEF5FF"/>
          </a:solidFill>
          <a:ln w="13970">
            <a:solidFill>
              <a:srgbClr val="1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bIns="36576" anchor="ctr"/>
          <a:lstStyle/>
          <a:p>
            <a:pPr algn="ctr">
              <a:buNone/>
            </a:pPr>
            <a:r>
              <a:rPr sz="1500" b="1">
                <a:solidFill>
                  <a:srgbClr val="1F5FB8"/>
                </a:solidFill>
                <a:latin typeface="Calibri"/>
                <a:ea typeface="Calibri"/>
                <a:cs typeface="Calibri"/>
              </a:rPr>
              <a:t>Attention</a:t>
            </a:r>
          </a:p>
          <a:p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活跃请求 ↓
KV Cache 读取 ↑</a:t>
            </a: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66928" y="4187952"/>
            <a:ext cx="1161288" cy="804672"/>
          </a:xfrm>
          <a:prstGeom prst="roundRect">
            <a:avLst/>
          </a:prstGeom>
          <a:solidFill>
            <a:srgbClr val="F1F8EC"/>
          </a:solidFill>
          <a:ln w="13970">
            <a:solidFill>
              <a:srgbClr val="4F8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bIns="36576" anchor="ctr"/>
          <a:lstStyle/>
          <a:p>
            <a:pPr algn="ctr">
              <a:buNone/>
            </a:pPr>
            <a:r>
              <a:rPr sz="150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MoE / FFN</a:t>
            </a:r>
          </a:p>
          <a:p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Token 批次 ↓
专家利用率 ↓</a:t>
            </a: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4407408" y="135331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上下文长度：短  →  中  →  长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904486" y="3325876"/>
            <a:ext cx="2633472" cy="347472"/>
          </a:xfrm>
          <a:prstGeom prst="roundRect">
            <a:avLst/>
          </a:prstGeom>
          <a:solidFill>
            <a:srgbClr val="FFF2F2"/>
          </a:solidFill>
          <a:ln w="139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buNone/>
            </a:pPr>
            <a:r>
              <a:rPr sz="13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异构需求错配持续放大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4155567" y="5886831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批次充足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669278" y="589762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B26500"/>
                </a:solidFill>
                <a:latin typeface="Calibri"/>
                <a:ea typeface="Calibri"/>
                <a:cs typeface="Calibri"/>
              </a:rPr>
              <a:t>批次收缩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9704959" y="588619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批次不足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12648" y="6144768"/>
            <a:ext cx="10972800" cy="3657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上下文增长使 Attention 更受内存约束，同时削弱 MoE 的批处理效率</a:t>
            </a: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713232" y="6601968"/>
            <a:ext cx="457200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8D8D8D"/>
                </a:solidFill>
                <a:latin typeface="Calibri"/>
                <a:ea typeface="Calibri"/>
                <a:cs typeface="Calibri"/>
              </a:rPr>
              <a:t>来源：用户提供的 AFD Plugin 动机说明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11475720" y="6556248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50" b="0">
                <a:solidFill>
                  <a:srgbClr val="79797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WHY AFD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Attention–FFN 解耦带来弹性配比、异构部署与低时延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4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43000"/>
            <a:ext cx="4476750" cy="487680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2763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方法：拆分计算角色</a:t>
            </a:r>
          </a:p>
        </p:txBody>
      </p:sp>
      <p:pic>
        <p:nvPicPr>
          <p:cNvPr id="57" name="图片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969" y="1657350"/>
            <a:ext cx="2315563" cy="16764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3676650" y="19716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N × FFN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676650" y="2686050"/>
            <a:ext cx="110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M × Attention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314700"/>
            <a:ext cx="4019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将 Attention 与 FFN 部署到独立集群，</a:t>
            </a:r>
          </a:p>
          <a:p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通过 RDMA / NVLink / UB 交换激活。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8862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外部趋势：吞吐与交互性同时优化</a:t>
            </a:r>
          </a:p>
        </p:txBody>
      </p:sp>
      <p:pic>
        <p:nvPicPr>
          <p:cNvPr id="62" name="图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542" y="4171950"/>
            <a:ext cx="2854766" cy="16764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5314950" y="1143000"/>
            <a:ext cx="626745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0" y="1257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01  弹性配比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86650" y="1276350"/>
            <a:ext cx="3848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解耦后可独立调整 A:F 实例比例，突破共置场景的共同 batch 上限。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19750" y="1562100"/>
            <a:ext cx="2552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898989"/>
                </a:solidFill>
              </a:defRPr>
            </a:pPr>
            <a:r>
              <a:rPr sz="975" b="1">
                <a:solidFill>
                  <a:srgbClr val="898989"/>
                </a:solidFill>
              </a:rPr>
              <a:t>共置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58200" y="1562100"/>
            <a:ext cx="2800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解耦</a:t>
            </a:r>
          </a:p>
        </p:txBody>
      </p:sp>
      <p:pic>
        <p:nvPicPr>
          <p:cNvPr id="68" name="图片 6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434" y="1752600"/>
            <a:ext cx="1517333" cy="1028700"/>
          </a:xfrm>
          <a:prstGeom prst="rect">
            <a:avLst/>
          </a:prstGeom>
        </p:spPr>
      </p:pic>
      <p:pic>
        <p:nvPicPr>
          <p:cNvPr id="69" name="图片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8727" y="1752600"/>
            <a:ext cx="1539296" cy="102870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5314950" y="3048000"/>
            <a:ext cx="626745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0" y="31432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02  异构部署</a:t>
            </a:r>
          </a:p>
        </p:txBody>
      </p:sp>
      <p:pic>
        <p:nvPicPr>
          <p:cNvPr id="72" name="图片 6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0420" y="3467100"/>
            <a:ext cx="3545811" cy="106680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9734550" y="3409950"/>
            <a:ext cx="1619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Attention 与 FFN 可分别选择成本效率更优的硬件。</a:t>
            </a:r>
          </a:p>
          <a:p>
            <a:endParaRPr sz="975"/>
          </a:p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异构组合具备</a:t>
            </a:r>
          </a:p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进一步压低 decode cost 的空间。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14950" y="4838700"/>
            <a:ext cx="62674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0" y="4933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03  低时延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24500" y="5257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555757"/>
                </a:solidFill>
              </a:defRPr>
            </a:pPr>
            <a:r>
              <a:rPr sz="900" b="1">
                <a:solidFill>
                  <a:srgbClr val="555757"/>
                </a:solidFill>
              </a:rPr>
              <a:t>同步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0" y="5581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C00000"/>
                </a:solidFill>
              </a:defRPr>
            </a:pPr>
            <a:r>
              <a:rPr sz="900" b="1">
                <a:solidFill>
                  <a:srgbClr val="C00000"/>
                </a:solidFill>
              </a:rPr>
              <a:t>异步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5790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29400" y="5238750"/>
            <a:ext cx="95250" cy="2095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0085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372350" y="5238750"/>
            <a:ext cx="95250" cy="2095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54380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115300" y="5238750"/>
            <a:ext cx="95250" cy="2095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8675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858250" y="5238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898989"/>
                </a:solidFill>
              </a:defRPr>
            </a:pPr>
            <a:r>
              <a:rPr sz="750" b="0">
                <a:solidFill>
                  <a:srgbClr val="898989"/>
                </a:solidFill>
              </a:rPr>
              <a:t>全局屏障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057900" y="5581650"/>
            <a:ext cx="5905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705600" y="5581650"/>
            <a:ext cx="171450" cy="1714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934200" y="5629275"/>
            <a:ext cx="49530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486650" y="5543550"/>
            <a:ext cx="171450" cy="1714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715250" y="5581650"/>
            <a:ext cx="6286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401050" y="5638800"/>
            <a:ext cx="171450" cy="1714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629650" y="5581650"/>
            <a:ext cx="5905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429750" y="5200650"/>
            <a:ext cx="1924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异步调度消除全局同步屏障，</a:t>
            </a:r>
          </a:p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让通信与计算重叠，减少 idle waiting。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1 页（Methodology / Benefits）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PROJECT OVERVIEW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 是 vLLM 的 Attention–FFN 解耦外部插件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2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1906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969DA"/>
                </a:solidFill>
              </a:defRPr>
            </a:pPr>
            <a:r>
              <a:rPr sz="1500" b="1">
                <a:solidFill>
                  <a:srgbClr val="0969DA"/>
                </a:solidFill>
              </a:rPr>
              <a:t>github.com/vllm-project/afd-plugin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47850"/>
            <a:ext cx="4762500" cy="9525"/>
          </a:xfrm>
          <a:prstGeom prst="rect">
            <a:avLst/>
          </a:prstGeom>
          <a:solidFill>
            <a:srgbClr val="D0D7DE"/>
          </a:solidFill>
          <a:ln w="0">
            <a:solidFill>
              <a:srgbClr val="D0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019300"/>
            <a:ext cx="4667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55757"/>
                </a:solidFill>
              </a:defRPr>
            </a:pPr>
            <a:r>
              <a:rPr sz="1275" b="0">
                <a:solidFill>
                  <a:srgbClr val="555757"/>
                </a:solidFill>
              </a:rPr>
              <a:t>将 Attention 与 FFN / MoE 拆为独立运行角色，通过 Connector 交换激活，并让两侧资源按负载独立扩缩。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952750"/>
            <a:ext cx="4667250" cy="19050"/>
          </a:xfrm>
          <a:prstGeom prst="rect">
            <a:avLst/>
          </a:prstGeom>
          <a:solidFill>
            <a:srgbClr val="2046A0"/>
          </a:solidFill>
          <a:ln w="0">
            <a:solidFill>
              <a:srgbClr val="204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30480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插件化接入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962150" y="3019425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通过 vllm.general_plugins、role worker、model wrapper 与 additional_config 接入。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3752850"/>
            <a:ext cx="4667250" cy="19050"/>
          </a:xfrm>
          <a:prstGeom prst="rect">
            <a:avLst/>
          </a:prstGeom>
          <a:solidFill>
            <a:srgbClr val="7757B5"/>
          </a:solidFill>
          <a:ln w="0">
            <a:solidFill>
              <a:srgbClr val="775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8481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7757B5"/>
                </a:solidFill>
              </a:defRPr>
            </a:pPr>
            <a:r>
              <a:rPr sz="1200" b="1">
                <a:solidFill>
                  <a:srgbClr val="7757B5"/>
                </a:solidFill>
              </a:rPr>
              <a:t>多硬件、多模式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62150" y="3819525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覆盖 CUDA 与 Ascend NPU，支持同步 Decode 与异步 Prefill Connector。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4552950"/>
            <a:ext cx="4667250" cy="19050"/>
          </a:xfrm>
          <a:prstGeom prst="rect">
            <a:avLst/>
          </a:prstGeom>
          <a:solidFill>
            <a:srgbClr val="56870C"/>
          </a:solidFill>
          <a:ln w="0">
            <a:solidFill>
              <a:srgbClr val="5687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46482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明确的兼容边界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962150" y="4619625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不修改 vLLM/vLLM-Ascend source tree。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5467350"/>
            <a:ext cx="4667250" cy="533400"/>
          </a:xfrm>
          <a:prstGeom prst="rect">
            <a:avLst/>
          </a:prstGeom>
          <a:solidFill>
            <a:srgbClr val="FFF5DF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5572125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当前状态：experimental，仍需在更多硬件与大规模场景中验证。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57850" y="1143000"/>
            <a:ext cx="5924550" cy="485775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4" name="图片 42"/>
          <p:cNvPicPr>
            <a:picLocks noChangeAspect="1"/>
          </p:cNvPicPr>
          <p:nvPr/>
        </p:nvPicPr>
        <p:blipFill>
          <a:blip r:embed="rId3"/>
          <a:srcRect l="3296" r="3296"/>
          <a:stretch>
            <a:fillRect/>
          </a:stretch>
        </p:blipFill>
        <p:spPr>
          <a:xfrm>
            <a:off x="5810250" y="1295400"/>
            <a:ext cx="5619750" cy="455295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来源：README.md；https://github.com/vllm-project/afd-plugin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5</a:t>
            </a:r>
          </a:p>
        </p:txBody>
      </p:sp>
      <p:pic>
        <p:nvPicPr>
          <p:cNvPr id="35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48" y="1247775"/>
            <a:ext cx="7332155" cy="4124325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953375" y="127127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Attention Role｜负责调度、KV Cache 与注意力计算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953375" y="1480820"/>
            <a:ext cx="36671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AFDAttentionWorker：</a:t>
            </a:r>
            <a:r>
              <a:rPr sz="865" b="0">
                <a:solidFill>
                  <a:srgbClr val="555757"/>
                </a:solidFill>
              </a:rPr>
              <a:t>负责请求执行、设备协调、调度与状态管理。
• </a:t>
            </a:r>
            <a:r>
              <a:rPr sz="865" b="1">
                <a:solidFill>
                  <a:srgbClr val="555757"/>
                </a:solidFill>
              </a:rPr>
              <a:t>AFDAttentionModelRunner：</a:t>
            </a:r>
            <a:r>
              <a:rPr sz="865" b="0">
                <a:solidFill>
                  <a:srgbClr val="555757"/>
                </a:solidFill>
              </a:rPr>
              <a:t>组织批次、Attention 前向、KV Cache 与图执行。
• </a:t>
            </a:r>
            <a:r>
              <a:rPr sz="865" b="1">
                <a:solidFill>
                  <a:srgbClr val="555757"/>
                </a:solidFill>
              </a:rPr>
              <a:t>AFD Metadata：</a:t>
            </a:r>
            <a:r>
              <a:rPr sz="865" b="0">
                <a:solidFill>
                  <a:srgbClr val="555757"/>
                </a:solidFill>
              </a:rPr>
              <a:t>维护 DP、uBatch、序列映射及图运行元数据。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53375" y="22669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53375" y="23431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AFDConnector｜提供 Send / Recv 等通信能力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953375" y="25527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P2pNcclAFDConnector：</a:t>
            </a:r>
            <a:r>
              <a:rPr sz="865" b="0">
                <a:solidFill>
                  <a:srgbClr val="555757"/>
                </a:solidFill>
              </a:rPr>
              <a:t>基于 GPU NCCL P2P Send / Recv 传输激活与结果。
• </a:t>
            </a:r>
            <a:r>
              <a:rPr sz="865" b="1">
                <a:solidFill>
                  <a:srgbClr val="555757"/>
                </a:solidFill>
              </a:rPr>
              <a:t>CAMP2pAFDConnector：</a:t>
            </a:r>
            <a:r>
              <a:rPr sz="865" b="0">
                <a:solidFill>
                  <a:srgbClr val="555757"/>
                </a:solidFill>
              </a:rPr>
              <a:t>基于NPU，使用 HCCL / CANN 同步收发张量。
• </a:t>
            </a:r>
            <a:r>
              <a:rPr sz="865" b="1">
                <a:solidFill>
                  <a:srgbClr val="555757"/>
                </a:solidFill>
              </a:rPr>
              <a:t>CAMAsyncAFDConnector：</a:t>
            </a:r>
            <a:r>
              <a:rPr sz="865" b="0">
                <a:solidFill>
                  <a:srgbClr val="555757"/>
                </a:solidFill>
              </a:rPr>
              <a:t>基于NPU，通过 CAM 算子异步交换 MoE 数据。
• </a:t>
            </a:r>
            <a:r>
              <a:rPr sz="865" b="1">
                <a:solidFill>
                  <a:srgbClr val="555757"/>
                </a:solidFill>
              </a:rPr>
              <a:t>Others：</a:t>
            </a:r>
            <a:r>
              <a:rPr sz="865" b="0">
                <a:solidFill>
                  <a:srgbClr val="555757"/>
                </a:solidFill>
              </a:rPr>
              <a:t>预留其他加速器与通信后端的扩展接口。未来可新增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53375" y="36004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53375" y="36766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FFN Role｜负责专家计算与结果回传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53375" y="38862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FFNEngineCore：</a:t>
            </a:r>
            <a:r>
              <a:rPr sz="865" b="0">
                <a:solidFill>
                  <a:srgbClr val="555757"/>
                </a:solidFill>
              </a:rPr>
              <a:t>接收 Attention 激活，提供 FFN 侧调度与核心执行入口。
• </a:t>
            </a:r>
            <a:r>
              <a:rPr sz="865" b="1">
                <a:solidFill>
                  <a:srgbClr val="555757"/>
                </a:solidFill>
              </a:rPr>
              <a:t>AFDFFNWorker：</a:t>
            </a:r>
            <a:r>
              <a:rPr sz="865" b="0">
                <a:solidFill>
                  <a:srgbClr val="555757"/>
                </a:solidFill>
              </a:rPr>
              <a:t>管理设备资源、请求队列和实例执行生命周期。
• </a:t>
            </a:r>
            <a:r>
              <a:rPr sz="865" b="1">
                <a:solidFill>
                  <a:srgbClr val="555757"/>
                </a:solidFill>
              </a:rPr>
              <a:t>AFDFFNModelRunner：</a:t>
            </a:r>
            <a:r>
              <a:rPr sz="865" b="0">
                <a:solidFill>
                  <a:srgbClr val="555757"/>
                </a:solidFill>
              </a:rPr>
              <a:t>组织 FFN / MoE 前向、专家计算与结果聚合。
• </a:t>
            </a:r>
            <a:r>
              <a:rPr sz="865" b="1">
                <a:solidFill>
                  <a:srgbClr val="555757"/>
                </a:solidFill>
              </a:rPr>
              <a:t>FFN Loop：</a:t>
            </a:r>
            <a:r>
              <a:rPr sz="865" b="0">
                <a:solidFill>
                  <a:srgbClr val="555757"/>
                </a:solidFill>
              </a:rPr>
              <a:t>持续接收激活、触发计算，并将结果回传 Attention 实例。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53375" y="47815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53375" y="48577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 Model Wrappers｜模型适配与运行支撑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53375" y="5086350"/>
            <a:ext cx="3667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 Model Wrappers：</a:t>
            </a:r>
            <a:r>
              <a:rPr sz="865" b="0">
                <a:solidFill>
                  <a:srgbClr val="555757"/>
                </a:solidFill>
              </a:rPr>
              <a:t>封装模型层，按 Attention / FFN 角色接入拆分执行路径。
• </a:t>
            </a:r>
            <a:r>
              <a:rPr sz="865" b="1">
                <a:solidFill>
                  <a:srgbClr val="555757"/>
                </a:solidFill>
              </a:rPr>
              <a:t>uBatch 管理：</a:t>
            </a:r>
            <a:r>
              <a:rPr sz="865" b="0">
                <a:solidFill>
                  <a:srgbClr val="555757"/>
                </a:solidFill>
              </a:rPr>
              <a:t>完成微批拆分、阶段衔接与执行节奏控制。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应用覆盖与核心能力沿用原材料；架构图更新为当前仓库版本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2 页；docs/assets/vllm-afd-plugin-architecture.svg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RUNTIME FLOW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运行架构：Attention 调度，Connector 传输，FFN 常驻计算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6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5905500"/>
            <a:ext cx="1097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Attention 负责调度、KV Cache 与采样；FFN 无 Scheduler，由 Connector 双向传递激活值与计算结果。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 i="1">
                <a:solidFill>
                  <a:srgbClr val="898989"/>
                </a:solidFill>
              </a:defRPr>
            </a:pPr>
            <a:r>
              <a:rPr sz="750" b="0" i="1">
                <a:solidFill>
                  <a:srgbClr val="898989"/>
                </a:solidFill>
              </a:rPr>
              <a:t>来源：当前 afd-plugin 代码；vllm-afd-plugin-architecture.svg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37" name="图片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06034"/>
            <a:ext cx="11277600" cy="4598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CONNECTOR CONTRACT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Connector Base：统一生命周期、数据面与控制面契约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53375" y="127127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生命周期｜资源由 Connector 自主管理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953375" y="1480820"/>
            <a:ext cx="36671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parse_extra_config → init_afd_connector → is_initialized → close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53375" y="22669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53375" y="23431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Attention 数据面｜发起与回收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953375" y="25527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send_attn_output(hidden_states, context)；recv_ffn_output(ref_tensor)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53375" y="36004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53375" y="36766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FFN 数据面｜接收、计算与返回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53375" y="38862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recv_attn_output() 返回 payload；send_ffn_output(output, context)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53375" y="47815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53375" y="48577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可选控制面｜同步 Connector 才启用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53375" y="5086350"/>
            <a:ext cx="3667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control_plane 传递 DP metadata；CAM Async 由 dispatch payload 驱动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Base 只定义语义与时序；P2P、CAMP2P、CAM Async 负责后端实现。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来源：afd_plugin/connectors/base.py；docs/design/module/connector_contracts.md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5" y="1247775"/>
            <a:ext cx="7311701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CAMP2PConnector：双微批完全重叠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8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DBO 将通信嵌入双微批流水，Attention 的执行窗口完整覆盖当前批 FFN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来源：afd-plugin/docs/npu/dbo.png；流水图由 ImageGen 在原图语义上定向润色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9334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 i="0">
                <a:solidFill>
                  <a:srgbClr val="555757"/>
                </a:solidFill>
              </a:defRPr>
            </a:pPr>
            <a:r>
              <a:rPr sz="1275" b="0" i="0">
                <a:solidFill>
                  <a:srgbClr val="555757"/>
                </a:solidFill>
              </a:rPr>
              <a:t>缩短 FFN 计算段后，下一批 Attention 与 FFN 同步启动，并在 FFN 结束后继续执行，完整隐藏当前批 FFN 时延。</a:t>
            </a: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09600" y="1371600"/>
            <a:ext cx="7429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E0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1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503408"/>
            <a:ext cx="7200900" cy="2879634"/>
          </a:xfrm>
          <a:prstGeom prst="rect">
            <a:avLst/>
          </a:prstGeom>
        </p:spPr>
      </p:pic>
      <p:sp>
        <p:nvSpPr>
          <p:cNvPr id="34" name="圆角矩形 33"/>
          <p:cNvSpPr>
            <a:spLocks noGrp="1"/>
          </p:cNvSpPr>
          <p:nvPr/>
        </p:nvSpPr>
        <p:spPr>
          <a:xfrm>
            <a:off x="8191500" y="1371600"/>
            <a:ext cx="3314700" cy="3143250"/>
          </a:xfrm>
          <a:prstGeom prst="roundRect">
            <a:avLst>
              <a:gd name="adj" fmla="val 2424"/>
            </a:avLst>
          </a:prstGeom>
          <a:solidFill>
            <a:srgbClr val="F5F7F8"/>
          </a:solidFill>
          <a:ln w="9525">
            <a:solidFill>
              <a:srgbClr val="D9E0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43900" y="1504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流水过程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343900" y="1762125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 i="0">
                <a:solidFill>
                  <a:srgbClr val="898989"/>
                </a:solidFill>
              </a:defRPr>
            </a:pPr>
            <a:r>
              <a:rPr sz="900" b="0" i="0">
                <a:solidFill>
                  <a:srgbClr val="898989"/>
                </a:solidFill>
              </a:rPr>
              <a:t>双微批持续推进，通信与两类计算交叠执行</a:t>
            </a: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8343900" y="20764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743950" y="20574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接收与 Attention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743950" y="227647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Attention 侧接收上一层 FFN 返回的激活，执行 uBatch1。</a:t>
            </a: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8343900" y="26670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743950" y="26479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A2F 发送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743950" y="286702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uBatch1 完成后立即 P2P 发往 FFN，同时启动 uBatch2。</a:t>
            </a: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8343900" y="32575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743950" y="32385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FFN 完整被覆盖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43950" y="345757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FFN(uBatch1) 完整落在 Attention(uBatch2) 时间窗内。</a:t>
            </a: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343900" y="38481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743950" y="38290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返回并进入下一轮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743950" y="404812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 输出发回 Attention；两侧继续处理后续微批。</a:t>
            </a: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09600" y="4686300"/>
            <a:ext cx="10896600" cy="1162050"/>
          </a:xfrm>
          <a:prstGeom prst="roundRect">
            <a:avLst>
              <a:gd name="adj" fmla="val 6557"/>
            </a:avLst>
          </a:prstGeom>
          <a:solidFill>
            <a:srgbClr val="FFF4EC"/>
          </a:solidFill>
          <a:ln w="9525">
            <a:solidFill>
              <a:srgbClr val="F1C2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00100" y="48577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关键重叠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095500" y="4791075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Attention(uBatch2) 完整覆盖 FFN(uBatch1)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00100" y="5219700"/>
            <a:ext cx="1036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 i="0">
                <a:solidFill>
                  <a:srgbClr val="555757"/>
                </a:solidFill>
              </a:defRPr>
            </a:pPr>
            <a:r>
              <a:rPr sz="1125" b="0" i="0">
                <a:solidFill>
                  <a:srgbClr val="555757"/>
                </a:solidFill>
              </a:rPr>
              <a:t>Attention 与 FFN 同步启动并延后结束；通信、专家计算与返回阶段持续流水化，减少同步等待。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Attention–FFN Prefill 分离异步方案</a:t>
            </a: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971550"/>
            <a:ext cx="10896600" cy="1581150"/>
          </a:xfrm>
          <a:prstGeom prst="roundRect">
            <a:avLst>
              <a:gd name="adj" fmla="val 4819"/>
            </a:avLst>
          </a:prstGeom>
          <a:solidFill>
            <a:srgbClr val="F5F7F8"/>
          </a:solidFill>
          <a:ln w="9525">
            <a:solidFill>
              <a:srgbClr val="D9E0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0477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76350" y="104775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同步方案：AF不分离，Attn DP2CP16/DP4CP8、FFN EP32</a:t>
            </a:r>
          </a:p>
        </p:txBody>
      </p:sp>
      <p:pic>
        <p:nvPicPr>
          <p:cNvPr id="38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595" y="1352550"/>
            <a:ext cx="5902960" cy="1066800"/>
          </a:xfrm>
          <a:prstGeom prst="rect">
            <a:avLst/>
          </a:prstGeom>
        </p:spPr>
      </p:pic>
      <p:pic>
        <p:nvPicPr>
          <p:cNvPr id="39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1181100"/>
            <a:ext cx="2819400" cy="1295400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609600" y="2686050"/>
            <a:ext cx="10896600" cy="1657350"/>
          </a:xfrm>
          <a:prstGeom prst="roundRect">
            <a:avLst>
              <a:gd name="adj" fmla="val 4598"/>
            </a:avLst>
          </a:prstGeom>
          <a:solidFill>
            <a:srgbClr val="EAF4F8"/>
          </a:solidFill>
          <a:ln w="9525">
            <a:solidFill>
              <a:srgbClr val="B8C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762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276225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AFD异步方案：AF分离，Attn DP3CP8、FFN EP8</a:t>
            </a:r>
          </a:p>
        </p:txBody>
      </p:sp>
      <p:pic>
        <p:nvPicPr>
          <p:cNvPr id="43" name="图片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980" y="3086100"/>
            <a:ext cx="6542690" cy="11430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648700" y="31718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 i="0">
                <a:solidFill>
                  <a:srgbClr val="156082"/>
                </a:solidFill>
              </a:defRPr>
            </a:pPr>
            <a:r>
              <a:rPr sz="1275" b="1" i="0">
                <a:solidFill>
                  <a:srgbClr val="156082"/>
                </a:solidFill>
              </a:rPr>
              <a:t>Attention 与 FFN 独立推进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48700" y="3495675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A2F send / F2A recv 穿插在请求流水中，EP 侧连续处理各请求的专家计算。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4958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03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76350" y="449580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异步通信算子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4791075"/>
            <a:ext cx="10896600" cy="9525"/>
          </a:xfrm>
          <a:prstGeom prst="rect">
            <a:avLst/>
          </a:prstGeom>
          <a:solidFill>
            <a:srgbClr val="C700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76950" y="4876800"/>
            <a:ext cx="9525" cy="1066800"/>
          </a:xfrm>
          <a:prstGeom prst="rect">
            <a:avLst/>
          </a:prstGeom>
          <a:solidFill>
            <a:srgbClr val="D9E0E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48768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156082"/>
                </a:solidFill>
              </a:defRPr>
            </a:pPr>
            <a:r>
              <a:rPr sz="1050" b="1" i="0">
                <a:solidFill>
                  <a:srgbClr val="156082"/>
                </a:solidFill>
              </a:rPr>
              <a:t>dispatch_send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943100" y="48768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Attention卡根据路由表将每个token按top-k选择分发到对应MoE Expert卡的共享内存中，同时均匀分配token给各卡的共享专家。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48400" y="48768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2D9D8F"/>
                </a:solidFill>
              </a:defRPr>
            </a:pPr>
            <a:r>
              <a:rPr sz="1050" b="1" i="0">
                <a:solidFill>
                  <a:srgbClr val="2D9D8F"/>
                </a:solidFill>
              </a:rPr>
              <a:t>dispatch_recv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29500" y="48768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MoEExpert卡轮询各Attention卡的共享内存，等待数据就绪后将token按专家维度重排收集到本地buffer，输出每个专家收到的token及元信息供后续计算使用。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54483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E97132"/>
                </a:solidFill>
              </a:defRPr>
            </a:pPr>
            <a:r>
              <a:rPr sz="1050" b="1" i="0">
                <a:solidFill>
                  <a:srgbClr val="E97132"/>
                </a:solidFill>
              </a:rPr>
              <a:t>combine_send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943100" y="54483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MoEExpert卡完成本地专家计算后，根据dispatch_recv产出的元信息将路由专家和共享专家的计算结果按原路写回对应Attention卡的共享内存。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48400" y="54483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4F8F13"/>
                </a:solidFill>
              </a:defRPr>
            </a:pPr>
            <a:r>
              <a:rPr sz="1050" b="1" i="0">
                <a:solidFill>
                  <a:srgbClr val="4F8F13"/>
                </a:solidFill>
              </a:rPr>
              <a:t>combine_recv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0" y="54483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Attention卡等待所有MoE Expert卡回传完成，遍历路由表从共享内存中读出每个token的top-k专家输出与共享专家输出，按门控分数加权累加得到最终token输出。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同步与异步方案对比；四个通信算子说明保持原材料内容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来源：AFD-Plugin(2).pptx 第 6 页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USAGE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Usage：分别启动 Attention 与 FFN 实例</a:t>
            </a: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028700"/>
            <a:ext cx="10896600" cy="2266950"/>
          </a:xfrm>
          <a:prstGeom prst="roundRect">
            <a:avLst>
              <a:gd name="adj" fmla="val 4819"/>
            </a:avLst>
          </a:prstGeom>
          <a:noFill/>
          <a:ln w="9525">
            <a:solidFill>
              <a:srgbClr val="D9E0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1049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76350" y="110490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Attention-side shape</a:t>
            </a:r>
          </a:p>
        </p:txBody>
      </p:sp>
      <p:sp>
        <p:nvSpPr>
          <p:cNvPr id="30" name="图片 33"/>
          <p:cNvSpPr>
            <a:spLocks noGrp="1"/>
          </p:cNvSpPr>
          <p:nvPr/>
        </p:nvSpPr>
        <p:spPr>
          <a:xfrm>
            <a:off x="0" y="0"/>
            <a:ext cx="0" cy="0"/>
          </a:xfrm>
        </p:spPr>
        <p:txBody>
          <a:bodyPr/>
          <a:lstStyle/>
          <a:p>
            <a:endParaRPr/>
          </a:p>
        </p:txBody>
      </p:sp>
      <p:pic>
        <p:nvPicPr>
          <p:cNvPr id="42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31" name="图片 34"/>
          <p:cNvSpPr>
            <a:spLocks noGrp="1"/>
          </p:cNvSpPr>
          <p:nvPr/>
        </p:nvSpPr>
        <p:spPr>
          <a:xfrm>
            <a:off x="0" y="0"/>
            <a:ext cx="0" cy="0"/>
          </a:xfrm>
        </p:spPr>
        <p:txBody>
          <a:bodyPr/>
          <a:lstStyle/>
          <a:p>
            <a:endParaRPr/>
          </a:p>
        </p:txBody>
      </p:sp>
      <p:pic>
        <p:nvPicPr>
          <p:cNvPr id="44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609600" y="3429000"/>
            <a:ext cx="10896600" cy="2362200"/>
          </a:xfrm>
          <a:prstGeom prst="roundRect">
            <a:avLst>
              <a:gd name="adj" fmla="val 4598"/>
            </a:avLst>
          </a:prstGeom>
          <a:noFill/>
          <a:ln w="9525">
            <a:solidFill>
              <a:srgbClr val="B8C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5052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350520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FFN-side shape</a:t>
            </a:r>
          </a:p>
        </p:txBody>
      </p:sp>
      <p:sp>
        <p:nvSpPr>
          <p:cNvPr id="32" name="图片 38"/>
          <p:cNvSpPr>
            <a:spLocks noGrp="1"/>
          </p:cNvSpPr>
          <p:nvPr/>
        </p:nvSpPr>
        <p:spPr>
          <a:xfrm>
            <a:off x="0" y="0"/>
            <a:ext cx="0" cy="0"/>
          </a:xfrm>
        </p:spPr>
        <p:txBody>
          <a:bodyPr/>
          <a:lstStyle/>
          <a:p>
            <a:endParaRPr/>
          </a:p>
        </p:txBody>
      </p:sp>
      <p:pic>
        <p:nvPicPr>
          <p:cNvPr id="49" name="图片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76300" y="1428750"/>
            <a:ext cx="1028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vllm serve /path/to/DeepSeek-V2-Lite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--served-model-name deepseek-v2-lite-afd-attention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--data-parallel-size 1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--tensor-parallel-size 1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--enable-expert-parallel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--enforce-eager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--host 127.0.0.1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--port 18000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--additional-config '{"afd":{"role":"attention","connector":"P2pNcclAFDConnector","host":"127.0.0.1","port":6239,"num_attention_ranks":1,"num_ffn_ranks":1}}'</a:t>
            </a:r>
            <a:endParaRPr sz="1275" b="1" i="0">
              <a:solidFill>
                <a:srgbClr val="1560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3829050"/>
            <a:ext cx="10287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vllm serve /path/to/DeepSeek-V2-Lite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--served-model-name deepseek-v2-lite-afd-ffn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--data-parallel-size 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--tensor-parallel-size 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--enable-expert-parallel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--enforce-eager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--host 127.0.0.1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--port 18001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--additional-config '{"afd":{"role":"ffn","connector":"P2pNcclAFDConnector","host":"127.0.0.1","port":6239,"num_attention_ranks":1,"num_ffn_ranks":1}}'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C700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D9E0E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156082"/>
                </a:solidFill>
              </a:defRPr>
            </a:pPr>
            <a:endParaRPr sz="1050" b="1" i="0">
              <a:solidFill>
                <a:srgbClr val="15608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2D9D8F"/>
                </a:solidFill>
              </a:defRPr>
            </a:pPr>
            <a:endParaRPr sz="1050" b="1" i="0">
              <a:solidFill>
                <a:srgbClr val="2D9D8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E97132"/>
                </a:solidFill>
              </a:defRPr>
            </a:pPr>
            <a:endParaRPr sz="1050" b="1" i="0">
              <a:solidFill>
                <a:srgbClr val="E9713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4F8F13"/>
                </a:solidFill>
              </a:defRPr>
            </a:pPr>
            <a:endParaRPr sz="1050" b="1" i="0">
              <a:solidFill>
                <a:srgbClr val="4F8F1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同一组 host / port 与 rank 数配置必须在两侧保持一致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 Plugin README · GPU P2P serving example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SYNC DECODE RESULTS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64A16F 提升 9%–11%，但 A:F 配比决定收益方向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09650"/>
            <a:ext cx="10972800" cy="438150"/>
          </a:xfrm>
          <a:prstGeom prst="rect">
            <a:avLst/>
          </a:prstGeom>
          <a:solidFill>
            <a:srgbClr val="FFF5DF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085850"/>
            <a:ext cx="1062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40" b="0">
                <a:solidFill>
                  <a:srgbClr val="555757"/>
                </a:solidFill>
              </a:defRPr>
            </a:pPr>
            <a:r>
              <a:rPr sz="940" b="0">
                <a:solidFill>
                  <a:srgbClr val="555757"/>
                </a:solidFill>
              </a:rPr>
              <a:t>测试口径：版本 v0.19.1rc1；DeepSeek-V3.2 W8A8、Ascend 910C，输出长度 512–1,536 tokens，吞吐按物理 die 归一化。结果使用 forced expert balancing，仅用于受控性能对比，不代表精度或生产 serving。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04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16K input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1504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32K input</a:t>
            </a:r>
          </a:p>
        </p:txBody>
      </p:sp>
      <p:pic>
        <p:nvPicPr>
          <p:cNvPr id="28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00" y="1752600"/>
            <a:ext cx="4462226" cy="2266950"/>
          </a:xfrm>
          <a:prstGeom prst="rect">
            <a:avLst/>
          </a:prstGeom>
        </p:spPr>
      </p:pic>
      <p:pic>
        <p:nvPicPr>
          <p:cNvPr id="29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75" y="1752600"/>
            <a:ext cx="4462226" cy="2266950"/>
          </a:xfrm>
          <a:prstGeom prst="rect">
            <a:avLst/>
          </a:prstGeom>
        </p:spPr>
      </p:pic>
      <p:graphicFrame>
        <p:nvGraphicFramePr>
          <p:cNvPr id="30" name="表格 25"/>
          <p:cNvGraphicFramePr/>
          <p:nvPr/>
        </p:nvGraphicFramePr>
        <p:xfrm>
          <a:off x="609600" y="4114800"/>
          <a:ext cx="10972800" cy="12573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EP64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48A16F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64A16F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232.6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220.3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258.9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+11.3%</a:t>
                      </a:r>
                    </a:p>
                  </a:txBody>
                  <a:tcPr>
                    <a:solidFill>
                      <a:srgbClr val="FC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32K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151.4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183.3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+9.0%</a:t>
                      </a:r>
                    </a:p>
                  </a:txBody>
                  <a:tcPr>
                    <a:solidFill>
                      <a:srgbClr val="FC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矩形 11"/>
          <p:cNvSpPr>
            <a:spLocks noGrp="1"/>
          </p:cNvSpPr>
          <p:nvPr/>
        </p:nvSpPr>
        <p:spPr>
          <a:xfrm>
            <a:off x="609600" y="5562600"/>
            <a:ext cx="10972800" cy="4381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5591175"/>
            <a:ext cx="1062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解耦提供了资源配比的调参空间，但不保证任意 A:F 比例都更快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61912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>
                <a:solidFill>
                  <a:srgbClr val="555757"/>
                </a:solidFill>
              </a:rPr>
              <a:t>测试设置：版本 v0.19.1rc1；开启专家强制均衡（forced expert balancing）</a:t>
            </a:r>
            <a:r>
              <a:rPr sz="1400"/>
              <a:t>单位：output tokens/s/die</a:t>
            </a:r>
            <a:endParaRPr sz="1400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ASYNC PREFILL RESULTS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异步 AFD：P50 TTFT 降低 60%+，有效吞吐最高提升 2.2×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12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10953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2046A0"/>
                </a:solidFill>
              </a:defRPr>
            </a:pPr>
            <a:r>
              <a:rPr sz="1050" b="1">
                <a:solidFill>
                  <a:srgbClr val="2046A0"/>
                </a:solidFill>
              </a:rPr>
              <a:t>模型：DeepSeek-V3.2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638550" y="109537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6870C"/>
                </a:solidFill>
              </a:defRPr>
            </a:pPr>
            <a:r>
              <a:rPr sz="1050" b="1">
                <a:solidFill>
                  <a:srgbClr val="56870C"/>
                </a:solidFill>
              </a:rPr>
              <a:t>对比：DP4PCP8  vs.  AFD（DP3PCP3 + EP8）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82050" y="1095375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ED6D00"/>
                </a:solidFill>
              </a:defRPr>
            </a:pPr>
            <a:r>
              <a:rPr sz="1050" b="1">
                <a:solidFill>
                  <a:srgbClr val="ED6D00"/>
                </a:solidFill>
              </a:rPr>
              <a:t>硬件：Ascend 910C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158115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AFD 在各分位 TTFT 上均优于 DP4PCP8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48400" y="158115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SLO 越严格，AFD 的有效吞吐优势越明显</a:t>
            </a:r>
          </a:p>
        </p:txBody>
      </p:sp>
      <p:pic>
        <p:nvPicPr>
          <p:cNvPr id="36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90235"/>
            <a:ext cx="5334000" cy="2582230"/>
          </a:xfrm>
          <a:prstGeom prst="rect">
            <a:avLst/>
          </a:prstGeom>
        </p:spPr>
      </p:pic>
      <p:pic>
        <p:nvPicPr>
          <p:cNvPr id="37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153" y="1885950"/>
            <a:ext cx="5060494" cy="25908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09600" y="4667250"/>
            <a:ext cx="5334000" cy="72390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77202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TTFT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43050" y="4752975"/>
            <a:ext cx="4229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中负载（RQS 6–10）：P50 TTFT 降低 60%–70%；高负载（&gt;14）：仍降低 25%。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48400" y="4667250"/>
            <a:ext cx="5334000" cy="72390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4772025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GOODPUT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10450" y="4752975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TTFT SLO 2s：0.223 vs. 0.095 req/s/die；SLO 5s：0.272 vs. 0.218 req/s/die。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5562600"/>
            <a:ext cx="10972800" cy="4381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5591175"/>
            <a:ext cx="1062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异步 AFD 同时改善尾延迟与 SLO 有效吞吐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029325"/>
            <a:ext cx="9715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 b="0">
                <a:solidFill>
                  <a:srgbClr val="555757"/>
                </a:solidFill>
              </a:rPr>
              <a:t>测试设置：版本 v0.19.1rc1；使用减层模型，并开启专家强制均衡（forced expert balancing）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4 页；DeepSeek-V3.2 / Ascend 910C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NEXT STEPS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下一步：从实验性插件走向社区化与规模化验证</a:t>
            </a: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028700"/>
            <a:ext cx="10896600" cy="819150"/>
          </a:xfrm>
          <a:prstGeom prst="roundRect">
            <a:avLst>
              <a:gd name="adj" fmla="val 9302"/>
            </a:avLst>
          </a:prstGeom>
          <a:solidFill>
            <a:srgbClr val="FFF4EC"/>
          </a:solidFill>
          <a:ln w="9525">
            <a:solidFill>
              <a:srgbClr val="F1C2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116205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当前边界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038350" y="1133475"/>
            <a:ext cx="918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vLLM 版本精确绑定 · Model Runner v1 · Decode-only Graph · DBO 固定 2 uBatch · 硬件门控 E2E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4668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社区发布前置：推进 PR #263 评审与站点构建，并确认 vllm-project/afd-plugin、README、Recipe 和 Issues 入口可公开访问。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" y="2314575"/>
            <a:ext cx="8610600" cy="38100"/>
          </a:xfrm>
          <a:prstGeom prst="rect">
            <a:avLst/>
          </a:prstGeom>
          <a:solidFill>
            <a:srgbClr val="D9E0E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1525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社区发布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合并 PR #263，完成站点 CI 构建与发布</a:t>
            </a: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确认 canonical repo、README、Recipe 与 Issues 入口可访问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0100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9525">
            <a:solidFill>
              <a:srgbClr val="15608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861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156082"/>
                </a:solidFill>
              </a:defRPr>
            </a:pPr>
            <a:r>
              <a:rPr sz="1500" b="1" i="0">
                <a:solidFill>
                  <a:srgbClr val="156082"/>
                </a:solidFill>
              </a:rPr>
              <a:t>兼容与执行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861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跟进新版 vLLM，评估 Model Runner v2，收敛兼容 Patch</a:t>
            </a: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Graph、uBatch、异步 Stage 与 Rank Topology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675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4F8F13"/>
          </a:solidFill>
          <a:ln w="9525">
            <a:solidFill>
              <a:srgbClr val="4F8F1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436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4F8F13"/>
                </a:solidFill>
              </a:defRPr>
            </a:pPr>
            <a:r>
              <a:rPr sz="1500" b="1" i="0">
                <a:solidFill>
                  <a:srgbClr val="4F8F13"/>
                </a:solidFill>
              </a:rPr>
              <a:t>验证与覆盖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436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增加 DeepSeek V4 与 Kimi K3 支持，覆盖准确性、TTFT/ITL、吞吐、稳定性与多节点验证</a:t>
            </a: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MoE 模型与 Connector，并同步发布 Recipe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7250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7652C9"/>
          </a:solidFill>
          <a:ln w="9525">
            <a:solidFill>
              <a:srgbClr val="7652C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8011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7652C9"/>
                </a:solidFill>
              </a:defRPr>
            </a:pPr>
            <a:r>
              <a:rPr sz="1500" b="1" i="0">
                <a:solidFill>
                  <a:srgbClr val="7652C9"/>
                </a:solidFill>
              </a:rPr>
              <a:t>新场景探索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8011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对接 vLLM-Omni 与多模态流水：AR / DiT 等阶段</a:t>
            </a: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异构硬件与互联：优化调度、放置与通信计算重叠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09600" y="5219700"/>
            <a:ext cx="10896600" cy="781050"/>
          </a:xfrm>
          <a:prstGeom prst="roundRect">
            <a:avLst>
              <a:gd name="adj" fmla="val 9756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3450" y="5353050"/>
            <a:ext cx="10248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目标：让 AFD 从“可运行的外部插件”演进为可复现、可扩展、可与上游协同的 MoE Serving 能力。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路线图基于 PR #263 的 Current Scope and Roadmap；阶段顺序按社区发布与工程依赖整理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来源：github.com/vllm-project/vllm-project.github.io/pull/263（2026-07-23 访问）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>
            <a:spLocks noGrp="1"/>
          </p:cNvSpPr>
          <p:nvPr/>
        </p:nvSpPr>
        <p:spPr>
          <a:xfrm>
            <a:off x="713232" y="408051"/>
            <a:ext cx="107442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 Community 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12648" y="914400"/>
            <a:ext cx="1444752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13232" y="1481328"/>
            <a:ext cx="340156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13232" y="1481328"/>
            <a:ext cx="3401568" cy="50292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1691640"/>
            <a:ext cx="420624" cy="274320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1444752" y="1636776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项目首页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444752" y="1920240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Code · Docs · Issues</a:t>
            </a: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307592" y="2304288"/>
            <a:ext cx="2212848" cy="221284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7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395728"/>
            <a:ext cx="2029968" cy="2029968"/>
          </a:xfrm>
          <a:prstGeom prst="rect">
            <a:avLst/>
          </a:prstGeom>
        </p:spPr>
      </p:pic>
      <p:sp>
        <p:nvSpPr>
          <p:cNvPr id="13" name="TextBox 12"/>
          <p:cNvSpPr>
            <a:spLocks noGrp="1"/>
          </p:cNvSpPr>
          <p:nvPr/>
        </p:nvSpPr>
        <p:spPr>
          <a:xfrm>
            <a:off x="941832" y="4645152"/>
            <a:ext cx="294436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20" b="1">
                <a:solidFill>
                  <a:srgbClr val="24292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4"/>
              </a:rPr>
              <a:t>github.com/vllm-project/
afd-plugin</a:t>
            </a:r>
            <a:endParaRPr sz="1020" b="1">
              <a:solidFill>
                <a:srgbClr val="2429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024128" y="5157216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查看代码、架构文档与最新进展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398264" y="1481328"/>
            <a:ext cx="340156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398264" y="1481328"/>
            <a:ext cx="3401568" cy="50292"/>
          </a:xfrm>
          <a:prstGeom prst="rect">
            <a:avLst/>
          </a:prstGeom>
          <a:solidFill>
            <a:srgbClr val="C4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599431" y="1691640"/>
            <a:ext cx="420624" cy="274320"/>
          </a:xfrm>
          <a:prstGeom prst="rect">
            <a:avLst/>
          </a:prstGeom>
          <a:solidFill>
            <a:srgbClr val="C4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129783" y="1636776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Developer Slack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5129783" y="1920240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Discussion · Collaboration</a:t>
            </a: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992624" y="2304288"/>
            <a:ext cx="2212848" cy="221284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6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2395728"/>
            <a:ext cx="2029968" cy="2029968"/>
          </a:xfrm>
          <a:prstGeom prst="rect">
            <a:avLst/>
          </a:prstGeom>
        </p:spPr>
      </p:pic>
      <p:sp>
        <p:nvSpPr>
          <p:cNvPr id="22" name="TextBox 21"/>
          <p:cNvSpPr>
            <a:spLocks noGrp="1"/>
          </p:cNvSpPr>
          <p:nvPr/>
        </p:nvSpPr>
        <p:spPr>
          <a:xfrm>
            <a:off x="4626864" y="4645152"/>
            <a:ext cx="294436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20" b="1">
                <a:solidFill>
                  <a:srgbClr val="C40054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6"/>
              </a:rPr>
              <a:t>vllm-dev.slack.com/archives/
C0B4C1D84GG</a:t>
            </a:r>
            <a:endParaRPr sz="1020" b="1">
              <a:solidFill>
                <a:srgbClr val="C4005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4709159" y="5157216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加入 vLLM Developer Slack 后访问频道</a:t>
            </a: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083296" y="1481328"/>
            <a:ext cx="340156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8083296" y="1481328"/>
            <a:ext cx="3401568" cy="502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284464" y="1691640"/>
            <a:ext cx="420624" cy="27432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8814816" y="1636776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WeChat 社群</a:t>
            </a: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8814816" y="1920240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Chinese Developer Community</a:t>
            </a: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8677656" y="2304288"/>
            <a:ext cx="2212848" cy="221284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5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9096" y="2395728"/>
            <a:ext cx="2029968" cy="2029968"/>
          </a:xfrm>
          <a:prstGeom prst="rect">
            <a:avLst/>
          </a:prstGeom>
        </p:spPr>
      </p:pic>
      <p:sp>
        <p:nvSpPr>
          <p:cNvPr id="31" name="TextBox 30"/>
          <p:cNvSpPr>
            <a:spLocks noGrp="1"/>
          </p:cNvSpPr>
          <p:nvPr/>
        </p:nvSpPr>
        <p:spPr>
          <a:xfrm>
            <a:off x="8311896" y="4645152"/>
            <a:ext cx="294436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20" b="1">
                <a:solidFill>
                  <a:srgbClr val="2DA44E"/>
                </a:solidFill>
                <a:latin typeface="微软雅黑"/>
                <a:ea typeface="微软雅黑"/>
                <a:cs typeface="微软雅黑"/>
              </a:rPr>
              <a:t>afd-plugin 开发者交流群</a:t>
            </a: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8394192" y="5157216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二维码取自项目仓库，请以最新版本为准</a:t>
            </a: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1384280" y="655624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50" b="0">
                <a:solidFill>
                  <a:srgbClr val="8989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COMMUNITY UPDATE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社区进展：底座升级完成，模型与工程体系同步推进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14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1295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模型适配｜Qwen3 与 DeepSeek V4 进入实现评审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143250" y="125730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Qwen3 MoE GPU：PR #216 开放，已提交 30B / 235B GPU 验证证据；Qwen3.5 / 3.6 由 #179 与 PR #181 推进。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DeepSeek V4：GPU PR #191 开放；NPU 拆分为 CAMAsync #227 与 CAMP2p #228，仍待实现与硬件验收。</a:t>
            </a: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2152650"/>
            <a:ext cx="110109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24193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运行时升级｜GPU / NPU 已切换至 vLLM 0.26.0 基线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143250" y="238125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PR #186 已合并，GPU #167 与 NPU #168 已关闭；后续模型适配统一以精确 vLLM 0.26.0 为基线。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NPU 支持仍要求锁定 vLLM-Ascend、镜像及 CANN / torch-npu 等完整软件栈，不从 GPU 结果推导。</a:t>
            </a:r>
            <a:br>
              <a:rPr sz="865" b="0">
                <a:solidFill>
                  <a:srgbClr val="555757"/>
                </a:solidFill>
              </a:rPr>
            </a:b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276600"/>
            <a:ext cx="110109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35433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CI 与 E2E｜统一场景、准确性门槛与清理检查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143250" y="350520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E2E 重构 PR #222 聚焦 baseline-graph、AFD eager、AFD graph、AFD graph + DBO 四个固定场景。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PR 门禁采用 GSM8K-7，周度运行完整 GSM8K；GPU / NPU 共用配置并强化失败判定、进程与设备资源清理。</a:t>
            </a:r>
            <a:br>
              <a:rPr sz="865" b="0">
                <a:solidFill>
                  <a:srgbClr val="555757"/>
                </a:solidFill>
              </a:rPr>
            </a:b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4400550"/>
            <a:ext cx="110109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4667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工程 Skills｜模型适配完成，版本升级流程建设中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143250" y="462915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模型适配 Skill：PR #205 已合并，覆盖可行性、最小实现、GPU / NPU 独立验证和证据报告。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GPU 升级 Skill #224 与 NPU 升级 Skill #202 进行中，目标是固化版本审计、Patch 处置和 E2E 交接流程。</a:t>
            </a: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状态口径：仅合并事项标为完成；Open PR / Issue 不等于正式支持或生产就绪。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来源：vllm-project/afd-plugin #167 #168 #179 #186 #191 #202 #205 #216 #222 #224 #227 #228（2026-08-12）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16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DATASET</a:t>
            </a:r>
          </a:p>
        </p:txBody>
      </p:sp>
      <p:sp>
        <p:nvSpPr>
          <p:cNvPr id="2" name="title-16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压测数据集的输入长度分布</a:t>
            </a:r>
          </a:p>
        </p:txBody>
      </p:sp>
      <p:sp>
        <p:nvSpPr>
          <p:cNvPr id="3" name="title-rule-16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6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6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dataset-16"/>
          <p:cNvSpPr>
            <a:spLocks noGrp="1"/>
          </p:cNvSpPr>
          <p:nvPr/>
        </p:nvSpPr>
        <p:spPr>
          <a:xfrm>
            <a:off x="304800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数据集：Mooncake trace-derived WildChat workload</a:t>
            </a:r>
          </a:p>
        </p:txBody>
      </p:sp>
      <p:sp>
        <p:nvSpPr>
          <p:cNvPr id="7" name="requests-16"/>
          <p:cNvSpPr>
            <a:spLocks noGrp="1"/>
          </p:cNvSpPr>
          <p:nvPr/>
        </p:nvSpPr>
        <p:spPr>
          <a:xfrm>
            <a:off x="9334500" y="1095375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正式请求：1,536</a:t>
            </a:r>
          </a:p>
        </p:txBody>
      </p:sp>
      <p:sp>
        <p:nvSpPr>
          <p:cNvPr id="8" name="chart-heading-16"/>
          <p:cNvSpPr>
            <a:spLocks noGrp="1"/>
          </p:cNvSpPr>
          <p:nvPr/>
        </p:nvSpPr>
        <p:spPr>
          <a:xfrm>
            <a:off x="609600" y="1504950"/>
            <a:ext cx="695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输入 token 长度区间占比</a:t>
            </a:r>
          </a:p>
        </p:txBody>
      </p:sp>
      <p:sp>
        <p:nvSpPr>
          <p:cNvPr id="9" name="table-heading-16"/>
          <p:cNvSpPr>
            <a:spLocks noGrp="1"/>
          </p:cNvSpPr>
          <p:nvPr/>
        </p:nvSpPr>
        <p:spPr>
          <a:xfrm>
            <a:off x="8001000" y="1504950"/>
            <a:ext cx="3581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关键统计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09600" y="1809750"/>
          <a:ext cx="69532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dataset-table-16"/>
          <p:cNvGraphicFramePr/>
          <p:nvPr/>
        </p:nvGraphicFramePr>
        <p:xfrm>
          <a:off x="8001000" y="1809750"/>
          <a:ext cx="3581400" cy="3524250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统计项</a:t>
                      </a: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正式请求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1,536</a:t>
                      </a:r>
                    </a:p>
                  </a:txBody>
                  <a:tcPr marL="38100" marR="3810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Formal windows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 × 512</a:t>
                      </a:r>
                    </a:p>
                  </a:txBody>
                  <a:tcPr marL="38100" marR="3810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平均输入长度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10,288 tokens</a:t>
                      </a:r>
                    </a:p>
                  </a:txBody>
                  <a:tcPr marL="38100" marR="3810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6,369 tokens</a:t>
                      </a:r>
                    </a:p>
                  </a:txBody>
                  <a:tcPr marL="38100" marR="3810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P75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14,379 tokens</a:t>
                      </a:r>
                    </a:p>
                  </a:txBody>
                  <a:tcPr marL="38100" marR="38100" marT="19050" marB="190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24,794 tokens</a:t>
                      </a:r>
                    </a:p>
                  </a:txBody>
                  <a:tcPr marL="38100" marR="38100" marT="19050" marB="190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32,213 tokens</a:t>
                      </a:r>
                    </a:p>
                  </a:txBody>
                  <a:tcPr marL="38100" marR="38100" marT="19050" marB="190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54,280 tokens</a:t>
                      </a:r>
                    </a:p>
                  </a:txBody>
                  <a:tcPr marL="38100" marR="38100" marT="19050" marB="190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 / 最大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891 / 63,778 tokens</a:t>
                      </a:r>
                    </a:p>
                  </a:txBody>
                  <a:tcPr marL="38100" marR="38100" marT="19050" marB="190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conclusion-bg-16"/>
          <p:cNvSpPr>
            <a:spLocks noGrp="1"/>
          </p:cNvSpPr>
          <p:nvPr/>
        </p:nvSpPr>
        <p:spPr>
          <a:xfrm>
            <a:off x="609600" y="5476875"/>
            <a:ext cx="10972800" cy="457200"/>
          </a:xfrm>
          <a:prstGeom prst="rect">
            <a:avLst/>
          </a:prstGeom>
          <a:solidFill>
            <a:srgbClr val="EDF3FC"/>
          </a:solidFill>
          <a:ln w="12383">
            <a:solidFill>
              <a:srgbClr val="4472C4"/>
            </a:solidFill>
            <a:prstDash val="solid"/>
          </a:ln>
        </p:spPr>
      </p:sp>
      <p:sp>
        <p:nvSpPr>
          <p:cNvPr id="13" name="conclusion-label-16"/>
          <p:cNvSpPr>
            <a:spLocks noGrp="1"/>
          </p:cNvSpPr>
          <p:nvPr/>
        </p:nvSpPr>
        <p:spPr>
          <a:xfrm>
            <a:off x="819150" y="5581650"/>
            <a:ext cx="714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4" name="conclusion-16"/>
          <p:cNvSpPr>
            <a:spLocks noGrp="1"/>
          </p:cNvSpPr>
          <p:nvPr/>
        </p:nvSpPr>
        <p:spPr>
          <a:xfrm>
            <a:off x="1524000" y="5543550"/>
            <a:ext cx="984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65% 的请求不少于 4K tokens，43% 不少于 8K；P99 为 54.3K，覆盖明显的长输入尾部。</a:t>
            </a:r>
          </a:p>
        </p:txBody>
      </p:sp>
      <p:sp>
        <p:nvSpPr>
          <p:cNvPr id="15" name="settings-16"/>
          <p:cNvSpPr>
            <a:spLocks noGrp="1"/>
          </p:cNvSpPr>
          <p:nvPr/>
        </p:nvSpPr>
        <p:spPr>
          <a:xfrm>
            <a:off x="609600" y="601980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构成：3 个 formal window，每组 512 请求；每个请求输出长度固定为 1 token</a:t>
            </a:r>
          </a:p>
        </p:txBody>
      </p:sp>
      <p:sp>
        <p:nvSpPr>
          <p:cNvPr id="16" name="source-16"/>
          <p:cNvSpPr>
            <a:spLocks noGrp="1"/>
          </p:cNvSpPr>
          <p:nvPr/>
        </p:nvSpPr>
        <p:spPr>
          <a:xfrm>
            <a:off x="609600" y="62674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来源：formal_0_1_2_vllm_bench.jsonl；输入长度与 Mooncake 参考序列一致</a:t>
            </a:r>
          </a:p>
        </p:txBody>
      </p:sp>
      <p:sp>
        <p:nvSpPr>
          <p:cNvPr id="17" name="page-16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00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00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对比（4K）</a:t>
            </a: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两种布局（4K）</a:t>
            </a: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DP8TP2（12.99 秒）</a:t>
            </a: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MBT=4K。各取三轮分位数均值，红色粗体为同 RPS / 分位最小值。</a:t>
            </a: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="609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="27051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4800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="9334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="37909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矩形 27"/>
          <p:cNvSpPr>
            <a:spLocks noGrp="1"/>
          </p:cNvSpPr>
          <p:nvPr/>
        </p:nvSpPr>
        <p:spPr>
          <a:xfrm>
            <a:off x="838200" y="5286375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09875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4K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4K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="7029450" y="1724025"/>
          <a:ext cx="4552950" cy="4133850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10.24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22.17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30.07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47.34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56.95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对比（8K）</a:t>
            </a: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两种布局（8K）</a:t>
            </a: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DP8TP2（15.90 秒）</a:t>
            </a: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MBT=8K。各取三轮分位数均值，红色粗体为同 RPS / 分位最小值。</a:t>
            </a: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="609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="27051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4800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="9334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="37909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矩形 27"/>
          <p:cNvSpPr>
            <a:spLocks noGrp="1"/>
          </p:cNvSpPr>
          <p:nvPr/>
        </p:nvSpPr>
        <p:spPr>
          <a:xfrm>
            <a:off x="838200" y="5286375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09875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8K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8K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="7029450" y="1724025"/>
          <a:ext cx="4552950" cy="4133850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13.45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20.39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15.90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对比（16K）</a:t>
            </a: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两种布局（16K）</a:t>
            </a: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DP4TP4（18.25 秒）</a:t>
            </a: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MBT=16K。各取三轮分位数均值，红色粗体为同 RPS / 分位最小值。</a:t>
            </a: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="609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="27051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4800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="9334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="37909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矩形 27"/>
          <p:cNvSpPr>
            <a:spLocks noGrp="1"/>
          </p:cNvSpPr>
          <p:nvPr/>
        </p:nvSpPr>
        <p:spPr>
          <a:xfrm>
            <a:off x="838200" y="5286375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09875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16K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16K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="7029450" y="1724025"/>
          <a:ext cx="4552950" cy="4133850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11.34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9.16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16.57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9.60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16.09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14.08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19.75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13.61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16.66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20.54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TP2 / EP8：MBT 64K 下的 DP 扩展吞吐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095375"/>
            <a:ext cx="8286750" cy="552450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9020175" y="1524000"/>
            <a:ext cx="25527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DP10 至 DP12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020175" y="1990725"/>
            <a:ext cx="2552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8.79 → 8.91 req/s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020175" y="2486025"/>
            <a:ext cx="2552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最高实测吞吐增加 1.4%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20175" y="3238500"/>
            <a:ext cx="2552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统计口径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20175" y="3657600"/>
            <a:ext cx="25527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各负载档位先取重复均值，再选最高值。</a:t>
            </a:r>
          </a:p>
          <a:p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DP4：历史 3 轮</a:t>
            </a:r>
          </a:p>
          <a:p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DP6–12：本次 2 轮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20175" y="5057775"/>
            <a:ext cx="25527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DP10、DP12 最高仅测到目标 10 RPS，绝对容量上限尚未确认。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58575" y="6562725"/>
            <a:ext cx="3048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4K）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1047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7637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857750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4K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23912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4K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600075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267450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5325" y="529590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9.2%，EP16 DP8TP2 94.7%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81675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" y="6038850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325" y="6286500"/>
            <a:ext cx="108585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MBT=4K。沿用原第 17 页批次及节点，属于跨配置比较。仅 TTFT SLO，不含 TPOT。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58575" y="6562725"/>
            <a:ext cx="333375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8K）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1047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7637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857750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8K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23912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8K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600075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267450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5325" y="529590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62.5%，EP16 DP8TP2 89.6%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81675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" y="6038850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325" y="6286500"/>
            <a:ext cx="108585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MBT=8K。沿用原第 18 页批次及节点，属于跨配置比较。仅 TTFT SLO，不含 TPOT。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58575" y="6562725"/>
            <a:ext cx="333375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16K）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1047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7637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857750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16K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23912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16K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600075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267450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5325" y="529590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66.3%，EP16 DP8TP2 59.6%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81675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" y="6038850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325" y="6286500"/>
            <a:ext cx="108585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MBT=16K。沿用原第 19 页批次及节点，属于跨配置比较。仅 TTFT SLO，不含 TPOT。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58575" y="6562725"/>
            <a:ext cx="333375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AFD DP4TP2 + FFN EP8：不同 MBT 与 RPS 的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+ FFN EP8：不同 MBT 与 RPS 的 TTFT</a:t>
            </a:r>
          </a:p>
        </p:txBody>
      </p:sp>
      <p:sp>
        <p:nvSpPr>
          <p:cNvPr id="3" name="补充实验：单机 16 die，dsv4-flash，同一 1,536 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本次实验：单机 16 die，dsv4-flash，同一 1,536 请求序列，输出 1 token</a:t>
            </a:r>
          </a:p>
        </p:txBody>
      </p:sp>
      <p:sp>
        <p:nvSpPr>
          <p:cNvPr id="4" name="23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5" name="平均 TTFT（秒）"/>
          <p:cNvSpPr>
            <a:spLocks noGrp="1"/>
          </p:cNvSpPr>
          <p:nvPr/>
        </p:nvSpPr>
        <p:spPr>
          <a:xfrm>
            <a:off x="609600" y="1524000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平均 TTFT（秒）</a:t>
            </a:r>
          </a:p>
        </p:txBody>
      </p:sp>
      <p:sp>
        <p:nvSpPr>
          <p:cNvPr id="7" name="每格：均值 / P99（秒）"/>
          <p:cNvSpPr>
            <a:spLocks noGrp="1"/>
          </p:cNvSpPr>
          <p:nvPr/>
        </p:nvSpPr>
        <p:spPr>
          <a:xfrm>
            <a:off x="6667500" y="1524000"/>
            <a:ext cx="4857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每格：均值 / P99（秒）</a:t>
            </a:r>
          </a:p>
        </p:txBody>
      </p:sp>
      <p:graphicFrame>
        <p:nvGraphicFramePr>
          <p:cNvPr id="20" name="表格 17"/>
          <p:cNvGraphicFramePr/>
          <p:nvPr/>
        </p:nvGraphicFramePr>
        <p:xfrm>
          <a:off x="6667500" y="1952625"/>
          <a:ext cx="4905375" cy="2809875"/>
        </p:xfrm>
        <a:graphic>
          <a:graphicData uri="http://schemas.openxmlformats.org/drawingml/2006/table">
            <a:tbl>
              <a:tblPr/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 / 7.97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4.00 / 13.68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32.12 / 59.81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1.54 / 7.05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2.63 / 9.98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10.16 / 21.35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1.67 / 7.07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2.77 / 11.01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7.54 / 18.52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1.62 / 6.98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2.90 / 11.06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8.56 / 20.28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PS 2/3：16K 的平均 TTFT 最低&#10;RPS 4：32K 的"/>
          <p:cNvSpPr>
            <a:spLocks noGrp="1"/>
          </p:cNvSpPr>
          <p:nvPr/>
        </p:nvSpPr>
        <p:spPr>
          <a:xfrm>
            <a:off x="6667500" y="5000625"/>
            <a:ext cx="49053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2/3：16K 的平均 TTFT 最低</a:t>
            </a:r>
          </a:p>
          <a:p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4：32K 的平均值与 P99 最低</a:t>
            </a:r>
          </a:p>
        </p:txBody>
      </p:sp>
      <p:sp>
        <p:nvSpPr>
          <p:cNvPr id="10" name="8K/16K/32K 各 1 轮，64K 为 3 轮均值，节点不同。此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轮均值。节点不同，64K 与前页 AFD 数据一致。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="609600" y="1924050"/>
          <a:ext cx="571500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MBT 调整收益：以同一 RPS 的 AFD 64K 为基准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MBT 调整收益：以同一 RPS 的 AFD 64K 为基准</a:t>
            </a:r>
          </a:p>
        </p:txBody>
      </p:sp>
      <p:sp>
        <p:nvSpPr>
          <p:cNvPr id="3" name="收益 = 1 − 当前 MBT 的 TTFT / 64K 的 TTFT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收益 = 1 − 当前 MBT 的 TTFT / 64K 的 TTFT。正值表示延迟降低，负值表示增加</a:t>
            </a:r>
          </a:p>
        </p:txBody>
      </p:sp>
      <p:sp>
        <p:nvSpPr>
          <p:cNvPr id="4" name="24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5" name="每格：平均 TTFT 降幅 / P99 降幅"/>
          <p:cNvSpPr>
            <a:spLocks noGrp="1"/>
          </p:cNvSpPr>
          <p:nvPr/>
        </p:nvSpPr>
        <p:spPr>
          <a:xfrm>
            <a:off x="609600" y="15621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每格：平均 TTFT 降幅 / P99 降幅</a:t>
            </a:r>
          </a:p>
        </p:txBody>
      </p:sp>
      <p:graphicFrame>
        <p:nvGraphicFramePr>
          <p:cNvPr id="17" name="表格 14"/>
          <p:cNvGraphicFramePr/>
          <p:nvPr/>
        </p:nvGraphicFramePr>
        <p:xfrm>
          <a:off x="609600" y="2000250"/>
          <a:ext cx="10972800" cy="24765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−21.8% / −14.2%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−38.3% / −23.7%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−275.4% / −194.8%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+5.2% / −1.0%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+9.3% / +9.7%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−18.7% / −5.3%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−3.1% / −1.3%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+4.5% / +0.4%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+11.8% / +8.7%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PS=4：32K 相比 64K，平均 TTFT 降低 11.8%，P"/>
          <p:cNvSpPr>
            <a:spLocks noGrp="1"/>
          </p:cNvSpPr>
          <p:nvPr/>
        </p:nvSpPr>
        <p:spPr>
          <a:xfrm>
            <a:off x="609600" y="47625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RPS=4：32K 相比 64K，平均 TTFT 降低 11.8%，P99 降低 8.7%</a:t>
            </a:r>
          </a:p>
        </p:txBody>
      </p:sp>
      <p:sp>
        <p:nvSpPr>
          <p:cNvPr id="8" name="8K 在 RPS=4 的实际 QPS 仅 3.465，平均 TTFT "/>
          <p:cNvSpPr>
            <a:spLocks noGrp="1"/>
          </p:cNvSpPr>
          <p:nvPr/>
        </p:nvSpPr>
        <p:spPr>
          <a:xfrm>
            <a:off x="609600" y="5267325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8K 在 RPS=4 的实际 QPS 仅 3.465，平均 TTFT 达 32.12 秒。</a:t>
            </a:r>
          </a:p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当前数据支持负载相关的 MBT 选择，尚不能认定单轮最优值具有稳定优势。</a:t>
            </a:r>
          </a:p>
        </p:txBody>
      </p:sp>
      <p:sp>
        <p:nvSpPr>
          <p:cNvPr id="9" name="8K/16K/32K 各 1 轮，64K 为 3 轮均值。这里只比较 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轮均值。比较 AFD 内部参数收益，节点和轮数不同。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：RPS 从 3 增至 4，三轮都出现 TTFT 上升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64K：RPS 从 3 增至 4，三轮都出现 TTFT 上升</a:t>
            </a:r>
          </a:p>
        </p:txBody>
      </p:sp>
      <p:sp>
        <p:nvSpPr>
          <p:cNvPr id="3" name="同一数据集与输入顺序，输出 1 token。RPS=3 为 4,608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同一数据集与输入顺序，输出 1 token。RPS=3 为 4,608 成功，RPS=4 为 4,607 成功、1 失败</a:t>
            </a:r>
          </a:p>
        </p:txBody>
      </p:sp>
      <p:sp>
        <p:nvSpPr>
          <p:cNvPr id="4" name="26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5" name="三轮均值：平均 2.90s / 8.56s，P50 1.97s / 8"/>
          <p:cNvSpPr>
            <a:spLocks noGrp="1"/>
          </p:cNvSpPr>
          <p:nvPr/>
        </p:nvSpPr>
        <p:spPr>
          <a:xfrm>
            <a:off x="609600" y="15621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三轮均值：平均 2.90s / 8.56s，P50 1.97s / 8.41s，P99 11.06s / 20.28s</a:t>
            </a:r>
          </a:p>
        </p:txBody>
      </p:sp>
      <p:sp>
        <p:nvSpPr>
          <p:cNvPr id="7" name="逐轮平均 TTFT（秒）"/>
          <p:cNvSpPr>
            <a:spLocks noGrp="1"/>
          </p:cNvSpPr>
          <p:nvPr/>
        </p:nvSpPr>
        <p:spPr>
          <a:xfrm>
            <a:off x="6572250" y="201930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逐轮平均 TTFT（秒）</a:t>
            </a:r>
          </a:p>
        </p:txBody>
      </p:sp>
      <p:graphicFrame>
        <p:nvGraphicFramePr>
          <p:cNvPr id="21" name="表格 18"/>
          <p:cNvGraphicFramePr/>
          <p:nvPr/>
        </p:nvGraphicFramePr>
        <p:xfrm>
          <a:off x="6572250" y="2466975"/>
          <a:ext cx="5000625" cy="2124076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轮次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3.32×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2.73×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平均 TTFT 增至 2.95 倍&#10;实际 QPS 仅从 2.980 增"/>
          <p:cNvSpPr>
            <a:spLocks noGrp="1"/>
          </p:cNvSpPr>
          <p:nvPr/>
        </p:nvSpPr>
        <p:spPr>
          <a:xfrm>
            <a:off x="6572250" y="485775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平均 TTFT 增至 2.95 倍</a:t>
            </a:r>
          </a:p>
          <a:p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实际 QPS 仅从 2.980 增至 3.947</a:t>
            </a:r>
          </a:p>
        </p:txBody>
      </p:sp>
      <p:sp>
        <p:nvSpPr>
          <p:cNvPr id="10" name="延迟上升跨三轮复现，不由单个失败请求或单次异常测量造成"/>
          <p:cNvSpPr>
            <a:spLocks noGrp="1"/>
          </p:cNvSpPr>
          <p:nvPr/>
        </p:nvSpPr>
        <p:spPr>
          <a:xfrm>
            <a:off x="609600" y="563880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延迟上升跨三轮复现，不由单个失败请求或单次异常测量造成</a:t>
            </a:r>
          </a:p>
        </p:txBody>
      </p:sp>
      <p:sp>
        <p:nvSpPr>
          <p:cNvPr id="11" name="分位数先逐轮计算再取均值。失败请求不纳入延迟。请求速率提高 33.3%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20260908-rps234：分位数先逐轮计算再取均值，失败请求不纳入延迟。RPS 提高 33.3%，输入序列和输出长度一致。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609600" y="2076450"/>
          <a:ext cx="5429250" cy="307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 的 metrics：延迟增长不只发生在首次调度之前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64K 与 DP8TP2 8K：RPS 3/4 的 metrics 对比</a:t>
            </a:r>
          </a:p>
        </p:txBody>
      </p:sp>
      <p:sp>
        <p:nvSpPr>
          <p:cNvPr id="3" name="Attention API 的 before/after histog"/>
          <p:cNvSpPr>
            <a:spLocks noGrp="1"/>
          </p:cNvSpPr>
          <p:nvPr/>
        </p:nvSpPr>
        <p:spPr>
          <a:xfrm>
            <a:off x="609600" y="1066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API before/after histogram 差分，每轮 sum/count 后取三轮均值。AFD 为 DP4TP2 + EP8，DP8TP2 为 EP16</a:t>
            </a:r>
          </a:p>
        </p:txBody>
      </p:sp>
      <p:sp>
        <p:nvSpPr>
          <p:cNvPr id="4" name="27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6" name="排队均值增加约 0.32 秒，prefill 区间增加约 4.02 秒"/>
          <p:cNvSpPr>
            <a:spLocks noGrp="1"/>
          </p:cNvSpPr>
          <p:nvPr/>
        </p:nvSpPr>
        <p:spPr>
          <a:xfrm>
            <a:off x="609600" y="46958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 时，AFD 大 chunk size 配置排队更少，但请求平均 prefill 时间更长</a:t>
            </a:r>
          </a:p>
        </p:txBody>
      </p:sp>
      <p:sp>
        <p:nvSpPr>
          <p:cNvPr id="7" name="queue：QUEUED 到首次 SCHEDULED&#10;prefill："/>
          <p:cNvSpPr>
            <a:spLocks noGrp="1"/>
          </p:cNvSpPr>
          <p:nvPr/>
        </p:nvSpPr>
        <p:spPr>
          <a:xfrm>
            <a:off x="609600" y="52482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queue：QUEUED 到首次 SCHEDULED。prefill：首次 SCHEDULED 到首个 NEW_TOKEN，含等待和抢占。</a:t>
            </a:r>
          </a:p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prefill 区间的变化无法单独归因于 Attention、FFN 或通信耗时。</a:t>
            </a:r>
          </a:p>
        </p:txBody>
      </p:sp>
      <p:sp>
        <p:nvSpPr>
          <p:cNvPr id="8" name="窗口包含每轮 16 个 warmup，与客户端纯正式请求统计略有差异。"/>
          <p:cNvSpPr>
            <a:spLocks noGrp="1"/>
          </p:cNvSpPr>
          <p:nvPr/>
        </p:nvSpPr>
        <p:spPr>
          <a:xfrm>
            <a:off x="609600" y="61245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20260908-rps234 metrics，窗口含每轮 16 个 warmup，各区间不直接相加。</a:t>
            </a:r>
          </a:p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结论基于 AFD 64K 与 DP8TP2 8K 的配置对比，尚未单独分离 chunk size 的影响。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09600" y="1714500"/>
          <a:ext cx="10972800" cy="280035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 / MBT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指标（秒）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queue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0.0005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0.3173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+0.3168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2.0429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6.0672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+4.0243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2.8759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8.4676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+5.5916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queue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0.4847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1.2776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+0.7929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3.2181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3.5940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+0.3759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4.6991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5.7431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+1.0440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 的请求级证据：短请求也变慢，共同调度与跨步增加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 的请求级证据：短请求也变慢，共同调度与跨步增加</a:t>
            </a:r>
          </a:p>
        </p:txBody>
      </p:sp>
      <p:sp>
        <p:nvSpPr>
          <p:cNvPr id="3" name="合并三轮成功请求。长度固定，指标 M(r)=输入长度 / 所有包含该请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M(r) = 请求 r 的输入 token 数 ÷ Σ（包含 r 的每个 step 的 batch 总 token 数）</a:t>
            </a:r>
          </a:p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按请求所属 DP rank 的 batch 计算；逐请求算出 M(r)，再对三轮成功请求取均值。</a:t>
            </a:r>
          </a:p>
        </p:txBody>
      </p:sp>
      <p:sp>
        <p:nvSpPr>
          <p:cNvPr id="4" name="28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5" name="按输入长度的 P50 TTFT（秒）"/>
          <p:cNvSpPr>
            <a:spLocks noGrp="1"/>
          </p:cNvSpPr>
          <p:nvPr/>
        </p:nvSpPr>
        <p:spPr>
          <a:xfrm>
            <a:off x="609600" y="1590675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按输入长度的 P50 TTFT（秒）</a:t>
            </a:r>
          </a:p>
        </p:txBody>
      </p:sp>
      <p:graphicFrame>
        <p:nvGraphicFramePr>
          <p:cNvPr id="20" name="表格 16"/>
          <p:cNvGraphicFramePr/>
          <p:nvPr/>
        </p:nvGraphicFramePr>
        <p:xfrm>
          <a:off x="609600" y="2009775"/>
          <a:ext cx="5810250" cy="304800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输入长度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&lt;2K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6.57×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2–4K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4–8K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5.72×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8–16K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16–32K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2.98×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32–64K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chedulerStep 日志统计"/>
          <p:cNvSpPr>
            <a:spLocks noGrp="1"/>
          </p:cNvSpPr>
          <p:nvPr/>
        </p:nvSpPr>
        <p:spPr>
          <a:xfrm>
            <a:off x="6762750" y="1590675"/>
            <a:ext cx="4810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SchedulerStep 日志统计</a:t>
            </a:r>
          </a:p>
        </p:txBody>
      </p:sp>
      <p:graphicFrame>
        <p:nvGraphicFramePr>
          <p:cNvPr id="22" name="表格 18"/>
          <p:cNvGraphicFramePr/>
          <p:nvPr/>
        </p:nvGraphicFramePr>
        <p:xfrm>
          <a:off x="6762750" y="2009775"/>
          <a:ext cx="4810125" cy="2152652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跨步请求占比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M(r) 均值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73.18%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29.57%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更低的 M(r) 表示相关 batch 中&#10;其他请求 token 的相"/>
          <p:cNvSpPr>
            <a:spLocks noGrp="1"/>
          </p:cNvSpPr>
          <p:nvPr/>
        </p:nvSpPr>
        <p:spPr>
          <a:xfrm>
            <a:off x="6762750" y="4457700"/>
            <a:ext cx="481012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计算示例：请求输入长度为 4K</a:t>
            </a:r>
          </a:p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单步 batch=16K：4K ÷ 16K = 25%</a:t>
            </a:r>
          </a:p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跨步 batch=16K、8K：4K ÷ (16K+8K) = 16.7%</a:t>
            </a:r>
          </a:p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每个包含该请求的 step，计入完整 batch 总量</a:t>
            </a:r>
          </a:p>
        </p:txBody>
      </p:sp>
      <p:sp>
        <p:nvSpPr>
          <p:cNvPr id="10" name="证据支持请求间共同调度增多、跨步增多与延迟上升同时出现；具体瓶颈仍需逐"/>
          <p:cNvSpPr>
            <a:spLocks noGrp="1"/>
          </p:cNvSpPr>
          <p:nvPr/>
        </p:nvSpPr>
        <p:spPr>
          <a:xfrm>
            <a:off x="609600" y="551497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证据支持请求间共同调度增多、跨步增多与延迟上升同时出现；具体瓶颈仍需逐步耗时分析</a:t>
            </a:r>
          </a:p>
        </p:txBody>
      </p:sp>
      <p:sp>
        <p:nvSpPr>
          <p:cNvPr id="11" name="K=1024，区间左闭右开。此页为合并请求分位数。日志已排除 warm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20260908-rps234。M(r) 不含耗时，不能解释为空泡率。K=1024，长度区间左闭右开。</a:t>
            </a:r>
          </a:p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TTFT 合并三轮成功请求取分位数；SchedulerStep 已排除 warmup，逐请求核对 chunk token 之和等于输入长度。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-kicker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接下来的 FFN 优化方向</a:t>
            </a: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609600" y="10668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降低 FFN 的 Host 同步、图执行和通信控核开销</a:t>
            </a:r>
          </a:p>
        </p:txBody>
      </p:sp>
      <p:sp>
        <p:nvSpPr>
          <p:cNvPr id="4" name="optimization-heading"/>
          <p:cNvSpPr>
            <a:spLocks noGrp="1"/>
          </p:cNvSpPr>
          <p:nvPr/>
        </p:nvSpPr>
        <p:spPr>
          <a:xfrm>
            <a:off x="609600" y="16002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优化方向</a:t>
            </a:r>
          </a:p>
        </p:txBody>
      </p:sp>
      <p:sp>
        <p:nvSpPr>
          <p:cNvPr id="5" name="optimization-list"/>
          <p:cNvSpPr>
            <a:spLocks noGrp="1"/>
          </p:cNvSpPr>
          <p:nvPr/>
        </p:nvSpPr>
        <p:spPr>
          <a:xfrm>
            <a:off x="609600" y="2095500"/>
            <a:ext cx="51435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接入选层算子，消除所有 Host 同步气泡</a:t>
            </a:r>
          </a:p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入图</a:t>
            </a:r>
          </a:p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通信使用多流，掩盖控核开销</a:t>
            </a:r>
          </a:p>
        </p:txBody>
      </p:sp>
      <p:sp>
        <p:nvSpPr>
          <p:cNvPr id="6" name="benefit-heading"/>
          <p:cNvSpPr>
            <a:spLocks noGrp="1"/>
          </p:cNvSpPr>
          <p:nvPr/>
        </p:nvSpPr>
        <p:spPr>
          <a:xfrm>
            <a:off x="6438900" y="16002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预期收益</a:t>
            </a:r>
          </a:p>
        </p:txBody>
      </p:sp>
      <p:sp>
        <p:nvSpPr>
          <p:cNvPr id="7" name="benefit-list"/>
          <p:cNvSpPr>
            <a:spLocks noGrp="1"/>
          </p:cNvSpPr>
          <p:nvPr/>
        </p:nvSpPr>
        <p:spPr>
          <a:xfrm>
            <a:off x="6438900" y="2095500"/>
            <a:ext cx="51435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承载更多 Attention DP，增加吞吐</a:t>
            </a:r>
          </a:p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减小 chunksize，在单位时间内增加 FFN 算子执行次数</a:t>
            </a:r>
          </a:p>
        </p:txBody>
      </p:sp>
      <p:sp>
        <p:nvSpPr>
          <p:cNvPr id="8" name="roadmap-takeaway"/>
          <p:cNvSpPr>
            <a:spLocks noGrp="1"/>
          </p:cNvSpPr>
          <p:nvPr/>
        </p:nvSpPr>
        <p:spPr>
          <a:xfrm>
            <a:off x="609600" y="5000625"/>
            <a:ext cx="109728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优化 FFN 后，可承载更多 Attention DP，并以更小的 chunksize 提高 FFN 算子执行频率</a:t>
            </a:r>
          </a:p>
        </p:txBody>
      </p:sp>
      <p:sp>
        <p:nvSpPr>
          <p:cNvPr id="9" name="slide-number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17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7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4K）</a:t>
            </a:r>
          </a:p>
        </p:txBody>
      </p:sp>
      <p:sp>
        <p:nvSpPr>
          <p:cNvPr id="3" name="title-rule-17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7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7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7"/>
          <p:cNvSpPr>
            <a:spLocks noGrp="1"/>
          </p:cNvSpPr>
          <p:nvPr/>
        </p:nvSpPr>
        <p:spPr>
          <a:xfrm>
            <a:off x="314325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7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7"/>
          <p:cNvSpPr>
            <a:spLocks noGrp="1"/>
          </p:cNvSpPr>
          <p:nvPr/>
        </p:nvSpPr>
        <p:spPr>
          <a:xfrm>
            <a:off x="609600" y="1466850"/>
            <a:ext cx="7162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7"/>
          <p:cNvSpPr>
            <a:spLocks noGrp="1"/>
          </p:cNvSpPr>
          <p:nvPr/>
        </p:nvSpPr>
        <p:spPr>
          <a:xfrm>
            <a:off x="7772400" y="14668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60960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="3019425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="542925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="990600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="4238625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3" name="ttft-table-17"/>
          <p:cNvGraphicFramePr/>
          <p:nvPr/>
        </p:nvGraphicFramePr>
        <p:xfrm>
          <a:off x="7772400" y="1724025"/>
          <a:ext cx="3810000" cy="419100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4.52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6.78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28.61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30.99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35.73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conclusion-17"/>
          <p:cNvSpPr>
            <a:spLocks noGrp="1"/>
          </p:cNvSpPr>
          <p:nvPr/>
        </p:nvSpPr>
        <p:spPr>
          <a:xfrm>
            <a:off x="609600" y="5486400"/>
            <a:ext cx="6953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4/8 分别低 13%/30%；RPS 6 时高 4%。</a:t>
            </a:r>
          </a:p>
        </p:txBody>
      </p:sp>
      <p:sp>
        <p:nvSpPr>
          <p:cNvPr id="19" name="settings-17"/>
          <p:cNvSpPr>
            <a:spLocks noGrp="1"/>
          </p:cNvSpPr>
          <p:nvPr/>
        </p:nvSpPr>
        <p:spPr>
          <a:xfrm>
            <a:off x="609600" y="593407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MBT=4K、重复实验均值；表内单位：秒，红色粗体为同 RPS/分位点最优</a:t>
            </a:r>
          </a:p>
        </p:txBody>
      </p:sp>
      <p:sp>
        <p:nvSpPr>
          <p:cNvPr id="20" name="source-17"/>
          <p:cNvSpPr>
            <a:spLocks noGrp="1"/>
          </p:cNvSpPr>
          <p:nvPr/>
        </p:nvSpPr>
        <p:spPr>
          <a:xfrm>
            <a:off x="609600" y="61912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7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18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8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8K）</a:t>
            </a:r>
          </a:p>
        </p:txBody>
      </p:sp>
      <p:sp>
        <p:nvSpPr>
          <p:cNvPr id="3" name="title-rule-18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8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8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8"/>
          <p:cNvSpPr>
            <a:spLocks noGrp="1"/>
          </p:cNvSpPr>
          <p:nvPr/>
        </p:nvSpPr>
        <p:spPr>
          <a:xfrm>
            <a:off x="314325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8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8"/>
          <p:cNvSpPr>
            <a:spLocks noGrp="1"/>
          </p:cNvSpPr>
          <p:nvPr/>
        </p:nvSpPr>
        <p:spPr>
          <a:xfrm>
            <a:off x="609600" y="1466850"/>
            <a:ext cx="7162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8"/>
          <p:cNvSpPr>
            <a:spLocks noGrp="1"/>
          </p:cNvSpPr>
          <p:nvPr/>
        </p:nvSpPr>
        <p:spPr>
          <a:xfrm>
            <a:off x="7772400" y="14668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60960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="3019425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="542925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="990600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="4238625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3" name="ttft-table-18"/>
          <p:cNvGraphicFramePr/>
          <p:nvPr/>
        </p:nvGraphicFramePr>
        <p:xfrm>
          <a:off x="7772400" y="1724025"/>
          <a:ext cx="3810000" cy="419100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11.46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13.83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conclusion-18"/>
          <p:cNvSpPr>
            <a:spLocks noGrp="1"/>
          </p:cNvSpPr>
          <p:nvPr/>
        </p:nvSpPr>
        <p:spPr>
          <a:xfrm>
            <a:off x="609600" y="5486400"/>
            <a:ext cx="6953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19%/2%；RPS 8 时高 49%。</a:t>
            </a:r>
          </a:p>
        </p:txBody>
      </p:sp>
      <p:sp>
        <p:nvSpPr>
          <p:cNvPr id="19" name="settings-18"/>
          <p:cNvSpPr>
            <a:spLocks noGrp="1"/>
          </p:cNvSpPr>
          <p:nvPr/>
        </p:nvSpPr>
        <p:spPr>
          <a:xfrm>
            <a:off x="609600" y="593407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MBT=8K、重复实验均值；表内单位：秒，红色粗体为同 RPS/分位点最优</a:t>
            </a:r>
          </a:p>
        </p:txBody>
      </p:sp>
      <p:sp>
        <p:nvSpPr>
          <p:cNvPr id="20" name="source-18"/>
          <p:cNvSpPr>
            <a:spLocks noGrp="1"/>
          </p:cNvSpPr>
          <p:nvPr/>
        </p:nvSpPr>
        <p:spPr>
          <a:xfrm>
            <a:off x="609600" y="61912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8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19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9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16K）</a:t>
            </a:r>
          </a:p>
        </p:txBody>
      </p:sp>
      <p:sp>
        <p:nvSpPr>
          <p:cNvPr id="3" name="title-rule-19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9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9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9"/>
          <p:cNvSpPr>
            <a:spLocks noGrp="1"/>
          </p:cNvSpPr>
          <p:nvPr/>
        </p:nvSpPr>
        <p:spPr>
          <a:xfrm>
            <a:off x="314325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9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9"/>
          <p:cNvSpPr>
            <a:spLocks noGrp="1"/>
          </p:cNvSpPr>
          <p:nvPr/>
        </p:nvSpPr>
        <p:spPr>
          <a:xfrm>
            <a:off x="609600" y="1466850"/>
            <a:ext cx="7162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9"/>
          <p:cNvSpPr>
            <a:spLocks noGrp="1"/>
          </p:cNvSpPr>
          <p:nvPr/>
        </p:nvSpPr>
        <p:spPr>
          <a:xfrm>
            <a:off x="7772400" y="14668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60960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="3019425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="542925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="990600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="4238625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3" name="ttft-table-19"/>
          <p:cNvGraphicFramePr/>
          <p:nvPr/>
        </p:nvGraphicFramePr>
        <p:xfrm>
          <a:off x="7772400" y="1724025"/>
          <a:ext cx="3810000" cy="419100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7.98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9.99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11.56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12.65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9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conclusion-19"/>
          <p:cNvSpPr>
            <a:spLocks noGrp="1"/>
          </p:cNvSpPr>
          <p:nvPr/>
        </p:nvSpPr>
        <p:spPr>
          <a:xfrm>
            <a:off x="609600" y="5486400"/>
            <a:ext cx="6953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42%/23%；RPS 8 时高 45%。</a:t>
            </a:r>
          </a:p>
        </p:txBody>
      </p:sp>
      <p:sp>
        <p:nvSpPr>
          <p:cNvPr id="19" name="settings-19"/>
          <p:cNvSpPr>
            <a:spLocks noGrp="1"/>
          </p:cNvSpPr>
          <p:nvPr/>
        </p:nvSpPr>
        <p:spPr>
          <a:xfrm>
            <a:off x="609600" y="593407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MBT=16K、重复实验均值；表内单位：秒，红色粗体为同 RPS/分位点最优</a:t>
            </a:r>
          </a:p>
        </p:txBody>
      </p:sp>
      <p:sp>
        <p:nvSpPr>
          <p:cNvPr id="20" name="source-19"/>
          <p:cNvSpPr>
            <a:spLocks noGrp="1"/>
          </p:cNvSpPr>
          <p:nvPr/>
        </p:nvSpPr>
        <p:spPr>
          <a:xfrm>
            <a:off x="609600" y="61912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9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5BF3A76-373F-401D-853F-CF56E02F558D}"/>
              </a:ext>
            </a:extLst>
          </p:cNvPr>
          <p:cNvSpPr>
            <a:spLocks noGrp="1"/>
          </p:cNvSpPr>
          <p:nvPr/>
        </p:nvSpPr>
        <p:spPr>
          <a:xfrm>
            <a:off x="695325" y="2190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NEAR-TERM ROADMAP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2FC94D-D235-4C46-B2E9-16CB2DB42C63}"/>
              </a:ext>
            </a:extLst>
          </p:cNvPr>
          <p:cNvSpPr>
            <a:spLocks noGrp="1"/>
          </p:cNvSpPr>
          <p:nvPr/>
        </p:nvSpPr>
        <p:spPr>
          <a:xfrm>
            <a:off x="695325" y="4572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近期规划与进展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095375"/>
          <a:ext cx="10972800" cy="513778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任务与关键事项</a:t>
                      </a: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负责人</a:t>
                      </a: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目标日期</a:t>
                      </a: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</a:t>
                      </a: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FFN 架构升级：FFN Service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侯安捷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Async 路径架构升级与重构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李瑞鑫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 rowSpan="4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</a:t>
                      </a: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升级 v0.30.0，废弃 ModelRunnerV1</a:t>
                      </a: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启用 ModelRunnerV2 + DBO，完成 graph 适配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9.30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main2main agent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9.30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 升级 v0.30.0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周子恒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10.10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 废弃 ModelRunnerV1，启用 ModelRunnerV2 + DBO + graph</a:t>
                      </a: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同步评估 AsyncConnector 异步 ubatch 与 camp2p ubatch 切分逻辑合并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李瑞鑫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算子</a:t>
                      </a: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通信与选层算子合入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李玉星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9.23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性能优化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李玉星、江晨舟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 rowSpan="3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DSV4-flash</a:t>
                      </a:r>
                    </a:p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</a:t>
                      </a: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接入 AsyncConnector 通信算子与选层 GMM 算子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江晨舟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9.24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DeepSeekV4-flash w4a8 AgentBench</a:t>
                      </a: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甜点收益区间仿真与场景性能测试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周子恒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FFN 侧入图与通信多流掩盖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江晨舟、白竞帆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待定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GLM5.3-Flash</a:t>
                      </a: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Async 路径适配</a:t>
                      </a: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 升级 v0.30.0 后合入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性能测试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江晨舟、周子恒协助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待定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FFAEE9D-DA48-4202-B24D-534DA64C0600}"/>
              </a:ext>
            </a:extLst>
          </p:cNvPr>
          <p:cNvSpPr>
            <a:spLocks noGrp="1"/>
          </p:cNvSpPr>
          <p:nvPr/>
        </p:nvSpPr>
        <p:spPr>
          <a:xfrm>
            <a:off x="1133475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999" name="title-rule-19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1665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对比（QPS</a:t>
            </a: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=2）</a:t>
            </a: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dirty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</a:t>
            </a:r>
            <a:r>
              <a:rPr sz="1125" b="0" dirty="0" err="1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GMM＋FULL）vs</a:t>
            </a:r>
            <a:r>
              <a:rPr sz="1125" b="0" dirty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 大 EP 8K</a:t>
            </a: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QPS=2：各分位点 TTFT（秒）</a:t>
            </a: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最低：AFD 64K（0.81 秒）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8K（5.95 秒）</a:t>
            </a: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1.28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1.26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2.26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3.63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0.37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1.08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2.32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0.82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1.87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2.86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2.93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4.46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6.25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6.08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5.95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7.70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10.12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1.99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1.99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1.98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1.98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对比（QPS=3）</a:t>
            </a: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QPS=3：各分位点 TTFT（秒）</a:t>
            </a: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最低：4×EP4 8K（1.26 秒）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8K（6.75 秒）</a:t>
            </a: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2.24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1.73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3.68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4.88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0.73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0.52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2.11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3.11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1.62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1.26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3.18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4.41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5.13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3.81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6.72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8.05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8.11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6.75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10.48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11.99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对比（QPS=4）</a:t>
            </a: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QPS=4：各分位点 TTFT（秒）</a:t>
            </a: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最低：4×EP4 8K（3.10 秒）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8K（10.71 秒）</a:t>
            </a: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6.49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3.61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8.05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15.84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1.50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4.74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11.22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6.29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3.10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7.43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15.67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11.70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7.28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13.90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24.92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16.56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10.71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18.94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32.36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3.88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3.92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3.83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3.68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对比（QPS=5）</a:t>
            </a: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QPS=5：各分位点 TTFT（秒）</a:t>
            </a: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最低：4×EP4 8K（22.29 秒）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8K（48.36 秒）</a:t>
            </a: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30.32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22.41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38.29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50.34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20.47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14.18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23.35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30.51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30.74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22.29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37.76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49.78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49.12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38.30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66.35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90.70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62.89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48.36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81.09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107.81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4.15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4.26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3.93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3.68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对比（8K 基线）</a:t>
            </a: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QPS=2/3/4/5 下的 TTFT 分位点（秒）</a:t>
            </a: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P99（QPS 2/3/4/5）：6.08 / 8.11 / 16.56 / 62.89 秒</a:t>
            </a:r>
          </a:p>
          <a:p>
            <a:r>
              <a:rPr sz="1200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四档</a:t>
            </a:r>
            <a:r>
              <a:rPr sz="12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 P99 </a:t>
            </a:r>
            <a:r>
              <a:rPr sz="1200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最低均为</a:t>
            </a:r>
            <a:r>
              <a:rPr sz="12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 4×EP4（MBT=8K）</a:t>
            </a: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三轮分位数均值；红色粗体为表中同 QPS / 分位最小值（两位小数）。QPS为offered RPS。</a:t>
            </a: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2026-10-04/05正式矩阵：AFD/EP16显存0.7，4×EP4/2×EP8为0.9；序列槽48/64。跨MBT/节点比较。</a:t>
            </a: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715207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09904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3715207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0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2A300"/>
                </a:solidFill>
                <a:latin typeface="微软雅黑"/>
              </a:rPr>
              <a:t>AFD 64K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1136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48235"/>
                </a:solidFill>
                <a:latin typeface="微软雅黑"/>
              </a:rPr>
              <a:t>4×EP4 8K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6472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472C4"/>
                </a:solidFill>
                <a:latin typeface="微软雅黑"/>
              </a:rPr>
              <a:t>2×EP8 8K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030A0"/>
                </a:solidFill>
                <a:latin typeface="微软雅黑"/>
              </a:rPr>
              <a:t>EP16 8K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208246"/>
              </p:ext>
            </p:extLst>
          </p:nvPr>
        </p:nvGraphicFramePr>
        <p:xfrm>
          <a:off x="7038748" y="1829988"/>
          <a:ext cx="4552796" cy="4237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4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111"/>
                          </a:solidFill>
                          <a:latin typeface="微软雅黑"/>
                        </a:rPr>
                        <a:t>QPS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0.37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1.08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2.32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0.82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1.87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3.17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C00000"/>
                          </a:solidFill>
                          <a:latin typeface="微软雅黑"/>
                        </a:rPr>
                        <a:t>2.86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2.93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4.46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6.25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6.08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5.95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7.70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10.12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0.73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0.52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2.11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3.11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1.62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1.26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4.41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5.13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3.81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6.72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8.05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8.11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6.75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10.48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11.99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1.50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4.74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11.22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6.29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3.10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7.43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15.67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11.70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7.28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13.90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24.92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16.56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10.71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18.94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32.36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20.47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14.18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23.35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30.51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30.74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22.29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37.76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49.78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49.12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38.30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66.35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90.70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31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62.89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48.36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81.09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107.81</a:t>
                      </a: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DP3TP4：开启 /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关闭</a:t>
            </a: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ubatch</a:t>
            </a: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的 TTFT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对比</a:t>
            </a:r>
            <a:endParaRPr sz="2175" b="1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A:DP3TP4 / F:EP4；layered GMM ON；FFN FULL</a:t>
            </a: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QPS=2/3/4/5 下的 TTFT 分位点（秒）</a:t>
            </a: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RPS=5 开启 split：32K / 64K 实际 QPS 提升 23.51% / 22.25%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平均 TTFT 降低 57.22% / 56.64%（三对同机相对变化的均值）</a:t>
            </a: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开＝ubatch=2、token split；关＝不切分。四档各三轮同机配对，AB/BA顺序平衡；表为三轮分位数均值。</a:t>
            </a: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2026-10-05/06 ubatch 正式48点；显存0.7，prefix cache OFF，1536请求/轮。3次断连保留；仅成功请求计算TTFT。</a:t>
            </a: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715207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09904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3715207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029907" y="1723644"/>
          <a:ext cx="4552795" cy="4133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50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312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QPS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2A300"/>
                          </a:solidFill>
                          <a:latin typeface="微软雅黑"/>
                        </a:rPr>
                        <a:t>32K 开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548235"/>
                          </a:solidFill>
                          <a:latin typeface="微软雅黑"/>
                        </a:rPr>
                        <a:t>32K 关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4472C4"/>
                          </a:solidFill>
                          <a:latin typeface="微软雅黑"/>
                        </a:rPr>
                        <a:t>64K 开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7030A0"/>
                          </a:solidFill>
                          <a:latin typeface="微软雅黑"/>
                        </a:rPr>
                        <a:t>64K 关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0.54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0.57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1.24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1.26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3.02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4.13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2.90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4.26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5.32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6.91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5.78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7.89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0.74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2.26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0.74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2.14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1.59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4.58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1.64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4.98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4.34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9.73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5.03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9.96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7.19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14.32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7.76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14.54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3.08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24.43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3.30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24.37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5.49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39.44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6.40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36.35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11.01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65.84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12.02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58.09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15.16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79.74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16.87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67.37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21.34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42.59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20.52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39.91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32.69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74.27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31.45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69.76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31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53.19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132.46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49.66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120.12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31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69.68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156.28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63.19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143.61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DP3TP4：FFN FULL graph 开关对照（数据待补）</a:t>
            </a: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目标：固定 A:DP3TP4 / F:EP4，仅切换 FFN FULL / EAGER</a:t>
            </a: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现有 TP4 数据核查</a:t>
            </a: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对照可用性</a:t>
            </a: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尚不能量化 DP3TP4 下 FFN FULL graph 的独立收益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现有 ubatch 的改善是在 FULL graph 开启条件下测得</a:t>
            </a: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待补对照：MBT=64K，RPS=2/3/4/5，每档三轮；固定ubatch与layered GMM，同机配对并平衡运行顺序。</a:t>
            </a: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核查213点TP4归档及历史FFN FULL/EAGER报告（2026-10-09）；历史图开关实验为DP6TP2，不纳入TP4结果。</a:t>
            </a: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965960"/>
            <a:ext cx="59436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</a:pPr>
            <a:r>
              <a:rPr sz="1700" b="1" dirty="0">
                <a:latin typeface="微软雅黑"/>
              </a:rPr>
              <a:t>78 个 AFD TP4 </a:t>
            </a:r>
            <a:r>
              <a:rPr sz="1700" b="1" dirty="0" err="1">
                <a:latin typeface="微软雅黑"/>
              </a:rPr>
              <a:t>正式点：FFN</a:t>
            </a:r>
            <a:r>
              <a:rPr sz="1700" b="1" dirty="0">
                <a:latin typeface="微软雅黑"/>
              </a:rPr>
              <a:t> </a:t>
            </a:r>
            <a:r>
              <a:rPr sz="1700" b="1" dirty="0" err="1">
                <a:latin typeface="微软雅黑"/>
              </a:rPr>
              <a:t>均为</a:t>
            </a:r>
            <a:r>
              <a:rPr sz="1700" b="1" dirty="0">
                <a:latin typeface="微软雅黑"/>
              </a:rPr>
              <a:t> FULL</a:t>
            </a:r>
          </a:p>
          <a:p>
            <a:pPr>
              <a:spcAft>
                <a:spcPts val="1400"/>
              </a:spcAft>
            </a:pPr>
            <a:r>
              <a:rPr sz="1500" b="0" dirty="0">
                <a:latin typeface="微软雅黑"/>
              </a:rPr>
              <a:t>• </a:t>
            </a:r>
            <a:r>
              <a:rPr sz="1500" b="0" dirty="0" err="1">
                <a:latin typeface="微软雅黑"/>
              </a:rPr>
              <a:t>主矩阵</a:t>
            </a:r>
            <a:r>
              <a:rPr sz="1500" b="0" dirty="0">
                <a:latin typeface="微软雅黑"/>
              </a:rPr>
              <a:t> 30 </a:t>
            </a:r>
            <a:r>
              <a:rPr sz="1500" b="0" dirty="0" err="1">
                <a:latin typeface="微软雅黑"/>
              </a:rPr>
              <a:t>点：MBT</a:t>
            </a:r>
            <a:r>
              <a:rPr sz="1500" b="0" dirty="0">
                <a:latin typeface="微软雅黑"/>
              </a:rPr>
              <a:t>=32K / 64K</a:t>
            </a:r>
          </a:p>
          <a:p>
            <a:pPr>
              <a:spcAft>
                <a:spcPts val="1400"/>
              </a:spcAft>
            </a:pPr>
            <a:r>
              <a:rPr sz="1500" b="0" dirty="0">
                <a:latin typeface="微软雅黑"/>
              </a:rPr>
              <a:t>• </a:t>
            </a:r>
            <a:r>
              <a:rPr sz="1500" b="0" dirty="0" err="1">
                <a:latin typeface="微软雅黑"/>
              </a:rPr>
              <a:t>ubatch</a:t>
            </a:r>
            <a:r>
              <a:rPr sz="1500" b="0" dirty="0">
                <a:latin typeface="微软雅黑"/>
              </a:rPr>
              <a:t> </a:t>
            </a:r>
            <a:r>
              <a:rPr sz="1500" b="0" dirty="0" err="1">
                <a:latin typeface="微软雅黑"/>
              </a:rPr>
              <a:t>对照</a:t>
            </a:r>
            <a:r>
              <a:rPr sz="1500" b="0" dirty="0">
                <a:latin typeface="微软雅黑"/>
              </a:rPr>
              <a:t> 48 </a:t>
            </a:r>
            <a:r>
              <a:rPr sz="1500" b="0" dirty="0" err="1">
                <a:latin typeface="微软雅黑"/>
              </a:rPr>
              <a:t>点：开、关均为</a:t>
            </a:r>
            <a:r>
              <a:rPr sz="1500" b="0" dirty="0">
                <a:latin typeface="微软雅黑"/>
              </a:rPr>
              <a:t> FULL</a:t>
            </a:r>
          </a:p>
          <a:p>
            <a:pPr>
              <a:spcAft>
                <a:spcPts val="1400"/>
              </a:spcAft>
            </a:pPr>
            <a:r>
              <a:rPr sz="1500" b="0" dirty="0">
                <a:latin typeface="微软雅黑"/>
              </a:rPr>
              <a:t>• </a:t>
            </a:r>
            <a:r>
              <a:rPr sz="1500" b="0" dirty="0" err="1">
                <a:latin typeface="微软雅黑"/>
              </a:rPr>
              <a:t>尚未找到</a:t>
            </a:r>
            <a:r>
              <a:rPr sz="1500" b="0" dirty="0">
                <a:latin typeface="微软雅黑"/>
              </a:rPr>
              <a:t> DP3TP4 的 FFN EAGER </a:t>
            </a:r>
            <a:r>
              <a:rPr sz="1500" b="0" dirty="0" err="1">
                <a:latin typeface="微软雅黑"/>
              </a:rPr>
              <a:t>压测结果</a:t>
            </a:r>
            <a:endParaRPr sz="1500" b="0" dirty="0">
              <a:latin typeface="微软雅黑"/>
            </a:endParaRPr>
          </a:p>
          <a:p>
            <a:pPr>
              <a:spcAft>
                <a:spcPts val="1400"/>
              </a:spcAft>
            </a:pPr>
            <a:r>
              <a:rPr sz="1700" b="1" dirty="0" err="1">
                <a:latin typeface="微软雅黑"/>
              </a:rPr>
              <a:t>历史</a:t>
            </a:r>
            <a:r>
              <a:rPr sz="1700" b="1" dirty="0">
                <a:latin typeface="微软雅黑"/>
              </a:rPr>
              <a:t> FULL / EAGER 对照：DP6TP2 + EP4</a:t>
            </a:r>
          </a:p>
          <a:p>
            <a:pPr>
              <a:spcAft>
                <a:spcPts val="1400"/>
              </a:spcAft>
            </a:pPr>
            <a:r>
              <a:rPr sz="1500" b="0" dirty="0">
                <a:latin typeface="微软雅黑"/>
              </a:rPr>
              <a:t>TP </a:t>
            </a:r>
            <a:r>
              <a:rPr sz="1500" b="0" dirty="0" err="1">
                <a:latin typeface="微软雅黑"/>
              </a:rPr>
              <a:t>不同，不能用于本页的</a:t>
            </a:r>
            <a:r>
              <a:rPr sz="1500" b="0" dirty="0">
                <a:latin typeface="微软雅黑"/>
              </a:rPr>
              <a:t> TP4 </a:t>
            </a:r>
            <a:r>
              <a:rPr sz="1500" b="0" dirty="0" err="1">
                <a:latin typeface="微软雅黑"/>
              </a:rPr>
              <a:t>开关收益计算</a:t>
            </a:r>
            <a:r>
              <a:rPr sz="1500" b="0" dirty="0">
                <a:latin typeface="微软雅黑"/>
              </a:rPr>
              <a:t>。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965960"/>
          <a:ext cx="455279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</a:rPr>
                        <a:t>对照项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</a:rPr>
                        <a:t>FULL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</a:rPr>
                        <a:t>EAGER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AFD DP3TP4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78 点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未找到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ubatch 开 / 关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均开启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无此对照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历史 DP6TP2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已有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已有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TP4 图开关收益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暂不可计算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待补测</a:t>
                      </a: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30342</Words>
  <Application>Microsoft Office PowerPoint</Application>
  <PresentationFormat>宽屏</PresentationFormat>
  <Paragraphs>2048</Paragraphs>
  <Slides>39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44" baseType="lpstr">
      <vt:lpstr>微软雅黑</vt:lpstr>
      <vt:lpstr>Arial</vt:lpstr>
      <vt:lpstr>Calibri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nielinfeng</cp:lastModifiedBy>
  <cp:revision>4</cp:revision>
  <dcterms:created xsi:type="dcterms:W3CDTF">2026-09-16T06:24:21Z</dcterms:created>
  <dcterms:modified xsi:type="dcterms:W3CDTF">2026-10-10T06:53:15Z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D29F84B79FEEF03BF035AA6A3680A5BE_42</vt:lpwstr>
  </property>
  <property fmtid="{D5CDD505-2E9C-101B-9397-08002B2CF9AE}" pid="3" name="KSOProductBuildVer">
    <vt:lpwstr>2052-12.1.28492.28492</vt:lpwstr>
  </property>
</Properties>
</file>