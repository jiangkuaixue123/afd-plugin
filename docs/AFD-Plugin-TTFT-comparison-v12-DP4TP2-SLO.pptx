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charts/chart17.xml" ContentType="application/vnd.openxmlformats-officedocument.drawingml.chart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18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slides/charts/chart21.xml" ContentType="application/vnd.openxmlformats-officedocument.drawingml.chart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24.xml" ContentType="application/vnd.openxmlformats-officedocument.drawingml.chart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slides/charts/chart28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slides/charts/chart31.xml" ContentType="application/vnd.openxmlformats-officedocument.drawingml.chart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notesSlides/notesSlide28.xml" ContentType="application/vnd.openxmlformats-officedocument.presentationml.notesSlide+xml"/>
  <Override PartName="/ppt/theme/dp64k_theme1.xml" ContentType="application/vnd.openxmlformats-officedocument.theme+xml"/>
  <Override PartName="/ppt/slideMasters/dp64k_slideMaster1.xml" ContentType="application/vnd.openxmlformats-officedocument.presentationml.slideMaster+xml"/>
  <Override PartName="/ppt/slideMasters/theme/dp64k_theme2.xml" ContentType="application/vnd.openxmlformats-officedocument.theme+xml"/>
  <Override PartName="/ppt/slideLayouts/dp64k_slideLayout1.xml" ContentType="application/vnd.openxmlformats-officedocument.presentationml.slideLayout+xml"/>
  <Override PartName="/ppt/notesMasters/dp64k_notesMaster1.xml" ContentType="application/vnd.openxmlformats-officedocument.presentationml.notesMaster+xml"/>
  <Override PartName="/ppt/notesMasters/theme/dp64k_theme3.xml" ContentType="application/vnd.openxmlformats-officedocument.theme+xml"/>
  <Override PartName="/ppt/dp64k_presProps.xml" ContentType="application/vnd.openxmlformats-officedocument.presentationml.presProps+xml"/>
  <Override PartName="/ppt/dp64k_tableStyles.xml" ContentType="application/vnd.openxmlformats-officedocument.presentationml.tableStyles+xml"/>
  <Override PartName="/ppt/slides/slide29.xml" ContentType="application/vnd.openxmlformats-officedocument.presentationml.slide+xml"/>
  <Override PartName="/ppt/notesSlides/dp64k_notesSlide1.xml" ContentType="application/vnd.openxmlformats-officedocument.presentationml.notesSlide+xml"/>
  <Override PartName="/ppt/theme/slo_theme1.xml" ContentType="application/vnd.openxmlformats-officedocument.theme+xml"/>
  <Override PartName="/ppt/slideMasters/slo_slideMaster1.xml" ContentType="application/vnd.openxmlformats-officedocument.presentationml.slideMaster+xml"/>
  <Override PartName="/ppt/slideMasters/theme/slo_theme2.xml" ContentType="application/vnd.openxmlformats-officedocument.theme+xml"/>
  <Override PartName="/ppt/slideLayouts/slo_slideLayout1.xml" ContentType="application/vnd.openxmlformats-officedocument.presentationml.slideLayout+xml"/>
  <Override PartName="/ppt/notesMasters/slo_notesMaster1.xml" ContentType="application/vnd.openxmlformats-officedocument.presentationml.notesMaster+xml"/>
  <Override PartName="/ppt/notesMasters/theme/slo_theme3.xml" ContentType="application/vnd.openxmlformats-officedocument.theme+xml"/>
  <Override PartName="/ppt/slo_presProps.xml" ContentType="application/vnd.openxmlformats-officedocument.presentationml.presProps+xml"/>
  <Override PartName="/ppt/slo_tableStyles.xml" ContentType="application/vnd.openxmlformats-officedocument.presentationml.tableStyles+xml"/>
  <Override PartName="/ppt/slides/slide30.xml" ContentType="application/vnd.openxmlformats-officedocument.presentationml.slide+xml"/>
  <Override PartName="/ppt/slides/charts/slo_chart1.xml" ContentType="application/vnd.openxmlformats-officedocument.drawingml.chart+xml"/>
  <Override PartName="/ppt/slides/charts/slo_chart2.xml" ContentType="application/vnd.openxmlformats-officedocument.drawingml.chart+xml"/>
  <Override PartName="/ppt/notesSlides/slo_notesSlide1.xml" ContentType="application/vnd.openxmlformats-officedocument.presentationml.notesSlide+xml"/>
  <Override PartName="/ppt/slides/slide31.xml" ContentType="application/vnd.openxmlformats-officedocument.presentationml.slide+xml"/>
  <Override PartName="/ppt/slides/charts/slo_chart3.xml" ContentType="application/vnd.openxmlformats-officedocument.drawingml.chart+xml"/>
  <Override PartName="/ppt/slides/charts/slo_chart4.xml" ContentType="application/vnd.openxmlformats-officedocument.drawingml.chart+xml"/>
  <Override PartName="/ppt/notesSlides/slo_notesSlide2.xml" ContentType="application/vnd.openxmlformats-officedocument.presentationml.notesSlide+xml"/>
  <Override PartName="/ppt/slides/slide32.xml" ContentType="application/vnd.openxmlformats-officedocument.presentationml.slide+xml"/>
  <Override PartName="/ppt/slides/charts/slo_chart5.xml" ContentType="application/vnd.openxmlformats-officedocument.drawingml.chart+xml"/>
  <Override PartName="/ppt/slides/charts/slo_chart6.xml" ContentType="application/vnd.openxmlformats-officedocument.drawingml.chart+xml"/>
  <Override PartName="/ppt/notesSlides/slo_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f7b3bfd8f9422c" /><Relationship Type="http://schemas.openxmlformats.org/officeDocument/2006/relationships/extended-properties" Target="/docProps/app.xml" Id="Rb0f8c02f23b848c1" /><Relationship Type="http://schemas.openxmlformats.org/officeDocument/2006/relationships/officeDocument" Target="/ppt/presentation.xml" Id="R2e036f121bf3416e" /></Relationships>
</file>

<file path=ppt/presentation.xml><?xml version="1.0" encoding="utf-8"?>
<ns0:presentation xmlns:ns0="http://schemas.openxmlformats.org/presentationml/2006/main" xmlns:ns1="http://schemas.openxmlformats.org/officeDocument/2006/relationships">
  <ns0:sldMasterIdLst>
    <ns0:sldMasterId id="2147483648" ns1:id="R242b9f5bc7e3472f"/>
    <ns0:sldMasterId id="2147483651" ns1:id="Rc3c587c32aea43ec"/>
    <ns0:sldMasterId ns1:id="rId1001" id="2147483652"/>
    <ns0:sldMasterId ns1:id="rId1006" id="2147483653"/>
  </ns0:sldMasterIdLst>
  <ns0:notesMasterIdLst>
    <ns0:notesMasterId ns1:id="R52866095fe4f4315"/>
    <ns0:notesMasterId ns1:id="rId1002"/>
    <ns0:notesMasterId ns1:id="rId1007"/>
  </ns0:notesMasterIdLst>
  <ns0:sldIdLst>
    <ns0:sldId id="256" ns1:id="Rb5255698e3ce4c26"/>
    <ns0:sldId id="257" ns1:id="R81b52ae3b59a4c2d"/>
    <ns0:sldId id="258" ns1:id="R0f9fa157f0894023"/>
    <ns0:sldId id="259" ns1:id="Rbbbfaaacc47243b2"/>
    <ns0:sldId id="260" ns1:id="R448d606f3c314809"/>
    <ns0:sldId id="261" ns1:id="R72d7fe7a5fe943b4"/>
    <ns0:sldId id="262" ns1:id="R70b571b76c9845bd"/>
    <ns0:sldId id="263" ns1:id="Ree080bcbcc6743ca"/>
    <ns0:sldId id="264" ns1:id="R342a7908f4974bb2"/>
    <ns0:sldId id="265" ns1:id="R6c6dba5875104946"/>
    <ns0:sldId id="266" ns1:id="R88d6095b27eb4ecb"/>
    <ns0:sldId id="267" ns1:id="R0ba2fe8a28024852"/>
    <ns0:sldId id="268" ns1:id="R363fe9a4ff7a4557"/>
    <ns0:sldId id="269" ns1:id="R4522f1d9357848ab"/>
    <ns0:sldId id="270" ns1:id="R18bc9f064d9f4db9"/>
    <ns0:sldId id="271" ns1:id="Rc909abdc68df4219"/>
    <ns0:sldId id="272" ns1:id="R9f1d6ef1ea8b4b1b"/>
    <ns0:sldId id="273" ns1:id="R9a32bc6163be411a"/>
    <ns0:sldId id="274" ns1:id="R3682e21ca62f463c"/>
    <ns0:sldId id="275" ns1:id="R0b4768789d9d4c37"/>
    <ns0:sldId id="276" ns1:id="R48796ec1dc044e3a"/>
    <ns0:sldId id="277" ns1:id="Ra7a5d47f63a24eb0"/>
    <ns0:sldId id="278" ns1:id="R9457a8eb77a343c5"/>
    <ns0:sldId id="279" ns1:id="Ra84e73275a1446d1"/>
    <ns0:sldId id="280" ns1:id="R1f3c40a796e345dd"/>
    <ns0:sldId id="281" ns1:id="R6ccff04d26ee4969"/>
    <ns0:sldId id="282" ns1:id="R253129ae868a45eb"/>
    <ns0:sldId id="283" ns1:id="R20bd0c9fd2e24fa5"/>
    <ns0:sldId ns1:id="rId1000" id="284"/>
    <ns0:sldId ns1:id="rId1003" id="285"/>
    <ns0:sldId ns1:id="rId1004" id="286"/>
    <ns0:sldId ns1:id="rId1005" id="287"/>
  </ns0:sldIdLst>
  <ns0:sldSz cx="12192000" cy="6858000"/>
  <ns0:notesSz cx="6858000" cy="9144000"/>
</ns0:presentation>
</file>

<file path=ppt/dp64k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dp64k_tableStyles.xml><?xml version="1.0" encoding="utf-8"?>
<a:tblStyleLst xmlns:a="http://schemas.openxmlformats.org/drawingml/2006/main" def="{5C22544A-7EE6-4342-B048-85BDC9FD1C3A}"/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lo_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slo_tableStyles.xml><?xml version="1.0" encoding="utf-8"?>
<a:tblStyleLst xmlns:a="http://schemas.openxmlformats.org/drawingml/2006/main" def="{5C22544A-7EE6-4342-B048-85BDC9FD1C3A}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2289f603cf0e4af5" /><ns0:Relationship Type="http://schemas.openxmlformats.org/officeDocument/2006/relationships/slideMaster" Target="/ppt/slideMasters/slideMaster1.xml" Id="R242b9f5bc7e3472f" /><ns0:Relationship Type="http://schemas.openxmlformats.org/officeDocument/2006/relationships/slideMaster" Target="/ppt/slideMasters/slideMaster2.xml" Id="Rc3c587c32aea43ec" /><ns0:Relationship Type="http://schemas.openxmlformats.org/officeDocument/2006/relationships/notesMaster" Target="/ppt/notesMasters/notesMaster1.xml" Id="R52866095fe4f4315" /><ns0:Relationship Type="http://schemas.openxmlformats.org/officeDocument/2006/relationships/presProps" Target="/ppt/presProps.xml" Id="Rc4838bb5ef874e46" /><ns0:Relationship Type="http://schemas.openxmlformats.org/officeDocument/2006/relationships/viewProps" Target="/ppt/viewProps.xml" Id="Rd5dae7e00b3e4898" /><ns0:Relationship Type="http://schemas.openxmlformats.org/officeDocument/2006/relationships/tableStyles" Target="/ppt/tableStyles.xml" Id="R9749c89700aa4ffc" /><ns0:Relationship Type="http://schemas.openxmlformats.org/officeDocument/2006/relationships/slide" Target="/ppt/slides/slide1.xml" Id="Rb5255698e3ce4c26" /><ns0:Relationship Type="http://schemas.openxmlformats.org/officeDocument/2006/relationships/slide" Target="/ppt/slides/slide2.xml" Id="R81b52ae3b59a4c2d" /><ns0:Relationship Type="http://schemas.openxmlformats.org/officeDocument/2006/relationships/slide" Target="/ppt/slides/slide3.xml" Id="R0f9fa157f0894023" /><ns0:Relationship Type="http://schemas.openxmlformats.org/officeDocument/2006/relationships/slide" Target="/ppt/slides/slide4.xml" Id="Rbbbfaaacc47243b2" /><ns0:Relationship Type="http://schemas.openxmlformats.org/officeDocument/2006/relationships/slide" Target="/ppt/slides/slide5.xml" Id="R448d606f3c314809" /><ns0:Relationship Type="http://schemas.openxmlformats.org/officeDocument/2006/relationships/slide" Target="/ppt/slides/slide6.xml" Id="R72d7fe7a5fe943b4" /><ns0:Relationship Type="http://schemas.openxmlformats.org/officeDocument/2006/relationships/slide" Target="/ppt/slides/slide7.xml" Id="R70b571b76c9845bd" /><ns0:Relationship Type="http://schemas.openxmlformats.org/officeDocument/2006/relationships/slide" Target="/ppt/slides/slide8.xml" Id="Ree080bcbcc6743ca" /><ns0:Relationship Type="http://schemas.openxmlformats.org/officeDocument/2006/relationships/slide" Target="/ppt/slides/slide9.xml" Id="R342a7908f4974bb2" /><ns0:Relationship Type="http://schemas.openxmlformats.org/officeDocument/2006/relationships/slide" Target="/ppt/slides/slide10.xml" Id="R6c6dba5875104946" /><ns0:Relationship Type="http://schemas.openxmlformats.org/officeDocument/2006/relationships/slide" Target="/ppt/slides/slide11.xml" Id="R88d6095b27eb4ecb" /><ns0:Relationship Type="http://schemas.openxmlformats.org/officeDocument/2006/relationships/slide" Target="/ppt/slides/slide12.xml" Id="R0ba2fe8a28024852" /><ns0:Relationship Type="http://schemas.openxmlformats.org/officeDocument/2006/relationships/slide" Target="/ppt/slides/slide13.xml" Id="R363fe9a4ff7a4557" /><ns0:Relationship Type="http://schemas.openxmlformats.org/officeDocument/2006/relationships/slide" Target="/ppt/slides/slide14.xml" Id="R4522f1d9357848ab" /><ns0:Relationship Type="http://schemas.openxmlformats.org/officeDocument/2006/relationships/slide" Target="/ppt/slides/slide15.xml" Id="R18bc9f064d9f4db9" /><ns0:Relationship Type="http://schemas.openxmlformats.org/officeDocument/2006/relationships/slide" Target="/ppt/slides/slide16.xml" Id="Rc909abdc68df4219" /><ns0:Relationship Type="http://schemas.openxmlformats.org/officeDocument/2006/relationships/slide" Target="/ppt/slides/slide17.xml" Id="R9f1d6ef1ea8b4b1b" /><ns0:Relationship Type="http://schemas.openxmlformats.org/officeDocument/2006/relationships/slide" Target="/ppt/slides/slide18.xml" Id="R9a32bc6163be411a" /><ns0:Relationship Type="http://schemas.openxmlformats.org/officeDocument/2006/relationships/slide" Target="/ppt/slides/slide19.xml" Id="R3682e21ca62f463c" /><ns0:Relationship Type="http://schemas.openxmlformats.org/officeDocument/2006/relationships/slide" Target="/ppt/slides/slide20.xml" Id="R0b4768789d9d4c37" /><ns0:Relationship Type="http://schemas.openxmlformats.org/officeDocument/2006/relationships/slide" Target="/ppt/slides/slide21.xml" Id="R48796ec1dc044e3a" /><ns0:Relationship Type="http://schemas.openxmlformats.org/officeDocument/2006/relationships/slide" Target="/ppt/slides/slide22.xml" Id="Ra7a5d47f63a24eb0" /><ns0:Relationship Type="http://schemas.openxmlformats.org/officeDocument/2006/relationships/slide" Target="/ppt/slides/slide23.xml" Id="R9457a8eb77a343c5" /><ns0:Relationship Type="http://schemas.openxmlformats.org/officeDocument/2006/relationships/slide" Target="/ppt/slides/slide24.xml" Id="Ra84e73275a1446d1" /><ns0:Relationship Type="http://schemas.openxmlformats.org/officeDocument/2006/relationships/slide" Target="/ppt/slides/slide25.xml" Id="R1f3c40a796e345dd" /><ns0:Relationship Type="http://schemas.openxmlformats.org/officeDocument/2006/relationships/slide" Target="/ppt/slides/slide26.xml" Id="R6ccff04d26ee4969" /><ns0:Relationship Type="http://schemas.openxmlformats.org/officeDocument/2006/relationships/slide" Target="/ppt/slides/slide27.xml" Id="R253129ae868a45eb" /><ns0:Relationship Type="http://schemas.openxmlformats.org/officeDocument/2006/relationships/slide" Target="/ppt/slides/slide28.xml" Id="R20bd0c9fd2e24fa5" /><ns0:Relationship Id="rId1000" Type="http://schemas.openxmlformats.org/officeDocument/2006/relationships/slide" Target="slides/slide29.xml" /><ns0:Relationship Id="rId1001" Type="http://schemas.openxmlformats.org/officeDocument/2006/relationships/slideMaster" Target="slideMasters/dp64k_slideMaster1.xml" /><ns0:Relationship Id="rId1002" Type="http://schemas.openxmlformats.org/officeDocument/2006/relationships/notesMaster" Target="notesMasters/dp64k_notesMaster1.xml" /><ns0:Relationship Id="rId1003" Type="http://schemas.openxmlformats.org/officeDocument/2006/relationships/slide" Target="slides/slide30.xml" /><ns0:Relationship Id="rId1004" Type="http://schemas.openxmlformats.org/officeDocument/2006/relationships/slide" Target="slides/slide31.xml" /><ns0:Relationship Id="rId1005" Type="http://schemas.openxmlformats.org/officeDocument/2006/relationships/slide" Target="slides/slide32.xml" /><ns0:Relationship Id="rId1006" Type="http://schemas.openxmlformats.org/officeDocument/2006/relationships/slideMaster" Target="slideMasters/slo_slideMaster1.xml" /><ns0:Relationship Id="rId1007" Type="http://schemas.openxmlformats.org/officeDocument/2006/relationships/notesMaster" Target="notesMasters/slo_notesMaster1.xml" /></ns0:Relationships>
</file>

<file path=ppt/notesMasters/_rels/dp64k_notesMaster1.xml.rels><?xml version='1.0' encoding='utf-8'?>
<ns0:Relationships xmlns:ns0="http://schemas.openxmlformats.org/package/2006/relationships"><ns0:Relationship Type="http://schemas.openxmlformats.org/officeDocument/2006/relationships/theme" Target="theme/dp64k_theme3.xml" Id="Rbdc2b5e8e5d2400a" /></ns0: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a6ca4e11025d4025" /></Relationships>
</file>

<file path=ppt/notesMasters/_rels/slo_notesMaster1.xml.rels><?xml version='1.0' encoding='utf-8'?>
<ns0:Relationships xmlns:ns0="http://schemas.openxmlformats.org/package/2006/relationships"><ns0:Relationship Type="http://schemas.openxmlformats.org/officeDocument/2006/relationships/theme" Target="theme/slo_theme3.xml" Id="R898db325694845de" /></ns0:Relationships>
</file>

<file path=ppt/notesMasters/dp64k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slo_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dp64k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slo_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dp64k_notesSlide1.xml.rels><?xml version='1.0' encoding='utf-8'?>
<ns0:Relationships xmlns:ns0="http://schemas.openxmlformats.org/package/2006/relationships"><ns0:Relationship Type="http://schemas.openxmlformats.org/officeDocument/2006/relationships/slide" Target="../slides/slide29.xml" Id="R53f72e63b57e4d65" /><ns0:Relationship Type="http://schemas.openxmlformats.org/officeDocument/2006/relationships/notesMaster" Target="../notesMasters/dp64k_notesMaster1.xml" Id="R0bb1231cddc8473b" /></ns0:Relationships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5f4109df87404b" /><Relationship Type="http://schemas.openxmlformats.org/officeDocument/2006/relationships/notesMaster" Target="/ppt/notesMasters/notesMaster1.xml" Id="Rbffd051b624443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ea3994d78741c5" /><Relationship Type="http://schemas.openxmlformats.org/officeDocument/2006/relationships/notesMaster" Target="/ppt/notesMasters/notesMaster1.xml" Id="Rca976bc67cb1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4ef1326ec64017" /><Relationship Type="http://schemas.openxmlformats.org/officeDocument/2006/relationships/notesMaster" Target="/ppt/notesMasters/notesMaster1.xml" Id="Ra9f1e759709142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e4b14a2ae54235" /><Relationship Type="http://schemas.openxmlformats.org/officeDocument/2006/relationships/notesMaster" Target="/ppt/notesMasters/notesMaster1.xml" Id="Rd16bcc5576ab42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2c154e9b14fbf" /><Relationship Type="http://schemas.openxmlformats.org/officeDocument/2006/relationships/notesMaster" Target="/ppt/notesMasters/notesMaster1.xml" Id="R7285f26950d540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05cd14597b4053" /><Relationship Type="http://schemas.openxmlformats.org/officeDocument/2006/relationships/notesMaster" Target="/ppt/notesMasters/notesMaster1.xml" Id="Rf2a74c897632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df534f6a124af6" /><Relationship Type="http://schemas.openxmlformats.org/officeDocument/2006/relationships/notesMaster" Target="/ppt/notesMasters/notesMaster1.xml" Id="Re4ebf99300c440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f3434419164a43" /><Relationship Type="http://schemas.openxmlformats.org/officeDocument/2006/relationships/notesMaster" Target="/ppt/notesMasters/notesMaster1.xml" Id="R111cf5f52ab040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b79cdbacf44e4b" /><Relationship Type="http://schemas.openxmlformats.org/officeDocument/2006/relationships/notesMaster" Target="/ppt/notesMasters/notesMaster1.xml" Id="R27080749201c48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635007695341fc" /><Relationship Type="http://schemas.openxmlformats.org/officeDocument/2006/relationships/notesMaster" Target="/ppt/notesMasters/notesMaster1.xml" Id="R5f73eb6b2c034b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1ca2a198b44c57" /><Relationship Type="http://schemas.openxmlformats.org/officeDocument/2006/relationships/notesMaster" Target="/ppt/notesMasters/notesMaster1.xml" Id="R8479884e857648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c42cbeb4554af8" /><Relationship Type="http://schemas.openxmlformats.org/officeDocument/2006/relationships/notesMaster" Target="/ppt/notesMasters/notesMaster1.xml" Id="Rd22eaa99f6e84a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8526926e754f0d" /><Relationship Type="http://schemas.openxmlformats.org/officeDocument/2006/relationships/notesMaster" Target="/ppt/notesMasters/notesMaster1.xml" Id="R142849962b2c49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d53a0d476048cb" /><Relationship Type="http://schemas.openxmlformats.org/officeDocument/2006/relationships/notesMaster" Target="/ppt/notesMasters/notesMaster1.xml" Id="R1c19e0335ffb44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a2bc556e234aaf" /><Relationship Type="http://schemas.openxmlformats.org/officeDocument/2006/relationships/notesMaster" Target="/ppt/notesMasters/notesMaster1.xml" Id="R52f37cdccb054a2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3b4dec1c6a4009" /><Relationship Type="http://schemas.openxmlformats.org/officeDocument/2006/relationships/notesMaster" Target="/ppt/notesMasters/notesMaster1.xml" Id="Rfbd8a96cf9d74c8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7fd97fc3ed4f50" /><Relationship Type="http://schemas.openxmlformats.org/officeDocument/2006/relationships/notesMaster" Target="/ppt/notesMasters/notesMaster1.xml" Id="R2c719016ab24440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9cc808d16f14ca4" /><Relationship Type="http://schemas.openxmlformats.org/officeDocument/2006/relationships/notesMaster" Target="/ppt/notesMasters/notesMaster1.xml" Id="R939495c191454a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382e865039e4945" /><Relationship Type="http://schemas.openxmlformats.org/officeDocument/2006/relationships/notesMaster" Target="/ppt/notesMasters/notesMaster1.xml" Id="R01e449d767c44d8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5dbac0626d4cee" /><Relationship Type="http://schemas.openxmlformats.org/officeDocument/2006/relationships/notesMaster" Target="/ppt/notesMasters/notesMaster1.xml" Id="Rb041df5cc4d94b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9b990348fc43a2" /><Relationship Type="http://schemas.openxmlformats.org/officeDocument/2006/relationships/notesMaster" Target="/ppt/notesMasters/notesMaster1.xml" Id="R1200ae397ac241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6b400bdba04fb3" /><Relationship Type="http://schemas.openxmlformats.org/officeDocument/2006/relationships/notesMaster" Target="/ppt/notesMasters/notesMaster1.xml" Id="R4cea27aeb6e743c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f57c9919554400" /><Relationship Type="http://schemas.openxmlformats.org/officeDocument/2006/relationships/notesMaster" Target="/ppt/notesMasters/notesMaster1.xml" Id="Rbc3da7c05e8140d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8f1eccc635c4d7c" /><Relationship Type="http://schemas.openxmlformats.org/officeDocument/2006/relationships/notesMaster" Target="/ppt/notesMasters/notesMaster1.xml" Id="Re334ea6c1b564e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324b129580497a" /><Relationship Type="http://schemas.openxmlformats.org/officeDocument/2006/relationships/notesMaster" Target="/ppt/notesMasters/notesMaster1.xml" Id="Rf2d7d6709c1947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eeff93846204a9f" /><Relationship Type="http://schemas.openxmlformats.org/officeDocument/2006/relationships/notesMaster" Target="/ppt/notesMasters/notesMaster1.xml" Id="Rb16249875392412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05eaad26b34079" /><Relationship Type="http://schemas.openxmlformats.org/officeDocument/2006/relationships/notesMaster" Target="/ppt/notesMasters/notesMaster1.xml" Id="R3cdd5d1e3f3243e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ab57c503fe743e9" /><Relationship Type="http://schemas.openxmlformats.org/officeDocument/2006/relationships/notesMaster" Target="/ppt/notesMasters/notesMaster1.xml" Id="R7ea0ab404687477d" /></Relationships>
</file>

<file path=ppt/notesSlides/_rels/slo_notesSlide1.xml.rels><?xml version='1.0' encoding='utf-8'?>
<ns0:Relationships xmlns:ns0="http://schemas.openxmlformats.org/package/2006/relationships"><ns0:Relationship Type="http://schemas.openxmlformats.org/officeDocument/2006/relationships/slide" Target="../slides/slide30.xml" Id="R2bd3ab744ab6410e" /><ns0:Relationship Type="http://schemas.openxmlformats.org/officeDocument/2006/relationships/notesMaster" Target="../notesMasters/slo_notesMaster1.xml" Id="R49a55a3d80564e15" /></ns0:Relationships>
</file>

<file path=ppt/notesSlides/_rels/slo_notesSlide2.xml.rels><?xml version='1.0' encoding='utf-8'?>
<ns0:Relationships xmlns:ns0="http://schemas.openxmlformats.org/package/2006/relationships"><ns0:Relationship Type="http://schemas.openxmlformats.org/officeDocument/2006/relationships/slide" Target="../slides/slide31.xml" Id="R5663702c3f0e4bd9" /><ns0:Relationship Type="http://schemas.openxmlformats.org/officeDocument/2006/relationships/notesMaster" Target="../notesMasters/slo_notesMaster1.xml" Id="Rc146a444863c41ff" /></ns0:Relationships>
</file>

<file path=ppt/notesSlides/_rels/slo_notesSlide3.xml.rels><?xml version='1.0' encoding='utf-8'?>
<ns0:Relationships xmlns:ns0="http://schemas.openxmlformats.org/package/2006/relationships"><ns0:Relationship Type="http://schemas.openxmlformats.org/officeDocument/2006/relationships/slide" Target="../slides/slide32.xml" Id="Rc29dae0f8b0645c6" /><ns0:Relationship Type="http://schemas.openxmlformats.org/officeDocument/2006/relationships/notesMaster" Target="../notesMasters/slo_notesMaster1.xml" Id="R9da0a745fded48f7" /></ns0:Relationships>
</file>

<file path=ppt/notesSlides/dp64k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tp2-dp-64k-throughput.png。数据源：/Users/wentiange/afd-download/dsv4-flash-20260910-rps325to5/afd_dp4tp2/chunk_65536；/Users/wentiange/afd-download/dsv4-flash-20260914/afd_dp{6,8,10,12}tp2/chunk_65536。完整来源路径和计算值见同任务目录tp2-dp-64k-data.json。DP4为单机、旧插件、FFN HCCL_BUFFSIZE=4096；DP6–12为双机、FFN HCCL_BUFFSIZE=5000。跨配置历史比较仅作趋势参考。图中误差线为重复间样本标准差。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当前部署 MoE 模型的一项主要挑战，在于 Attention 与 MoE 层之间存在异构性。</a:t>
            </a:r>
          </a:p>
          <a:p xmlns:a="http://schemas.openxmlformats.org/drawingml/2006/main">
            <a:r>
              <a:t>Attention 受限于 KV Cache 容量：随着上下文长度增加，一个解码批次能够容纳的活跃请求会越来越少。相比之下，MoE 层需要足够大的批次，才能保证专家 GEMM 运算的效率。</a:t>
            </a:r>
          </a:p>
          <a:p xmlns:a="http://schemas.openxmlformats.org/drawingml/2006/main">
            <a:r>
              <a:t>因此，随着上下文变长，活跃解码批次逐渐缩小，Attention 的开销主要由 KV Cache 读取主导；与此同时，MoE 无法获得高效执行专家计算所需的足够 Token 数量。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AFD-Plugin.pptx, source slide 4 (architecture diagram, legend, component labels, and grouping).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/Users/jiangkuaixue/Desktop/vllm-afd-plugin-architecture.svg</a:t>
            </a:r>
          </a:p>
          <a:p xmlns:a="http://schemas.openxmlformats.org/drawingml/2006/main">
            <a:r>
              <a:t>- /Users/jiangkuaixue/code/afd-plugin (current source tree; vLLM 0.26.0 pin)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/Users/jiangkuaixue/Desktop/afd-connector-base-diagram-v2.png (built-in ImageGen output)</a:t>
            </a:r>
          </a:p>
          <a:p xmlns:a="http://schemas.openxmlformats.org/drawingml/2006/main">
            <a:r>
              <a:t>- /Users/jiangkuaixue/code/afd-plugin/afd_plugin/connectors/base.py</a:t>
            </a:r>
          </a:p>
          <a:p xmlns:a="http://schemas.openxmlformats.org/drawingml/2006/main">
            <a:r>
              <a:t>- /Users/jiangkuaixue/code/afd-plugin/docs/design/module/connector_contracts.md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P4补充基础方案的问题总结，引导推到到下一页</a:t>
            </a:r>
            <a:br/>
            <a:r>
              <a:t>P6华为云的性能结果分析补充一些总结描述</a:t>
            </a:r>
            <a:br/>
            <a:r>
              <a:t>增加一个跟VLLM当前的配合状态，放在华为云之前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https://github.com/vllm-project/afd-plugin/pull/186</a:t>
            </a:r>
          </a:p>
          <a:p xmlns:a="http://schemas.openxmlformats.org/drawingml/2006/main">
            <a:r>
              <a:t>https://github.com/vllm-project/afd-plugin/issues/169</a:t>
            </a:r>
          </a:p>
          <a:p xmlns:a="http://schemas.openxmlformats.org/drawingml/2006/main">
            <a:r>
              <a:t>https://github.com/vllm-project/afd-plugin/issues/179</a:t>
            </a:r>
          </a:p>
          <a:p xmlns:a="http://schemas.openxmlformats.org/drawingml/2006/main">
            <a:r>
              <a:t>https://github.com/vllm-project/afd-plugin/pull/191</a:t>
            </a:r>
          </a:p>
          <a:p xmlns:a="http://schemas.openxmlformats.org/drawingml/2006/main">
            <a:r>
              <a:t>https://github.com/vllm-project/afd-plugin/issues/202</a:t>
            </a:r>
          </a:p>
          <a:p xmlns:a="http://schemas.openxmlformats.org/drawingml/2006/main">
            <a:r>
              <a:t>https://github.com/vllm-project/afd-plugin/pull/205</a:t>
            </a:r>
          </a:p>
          <a:p xmlns:a="http://schemas.openxmlformats.org/drawingml/2006/main">
            <a:r>
              <a:t>https://github.com/vllm-project/afd-plugin/pull/216</a:t>
            </a:r>
          </a:p>
          <a:p xmlns:a="http://schemas.openxmlformats.org/drawingml/2006/main">
            <a:r>
              <a:t>https://github.com/vllm-project/afd-plugin/pull/222</a:t>
            </a:r>
          </a:p>
          <a:p xmlns:a="http://schemas.openxmlformats.org/drawingml/2006/main">
            <a:r>
              <a:t>https://github.com/vllm-project/afd-plugin/issues/224</a:t>
            </a:r>
          </a:p>
          <a:p xmlns:a="http://schemas.openxmlformats.org/drawingml/2006/main">
            <a:r>
              <a:t>https://github.com/vllm-project/afd-plugin/issues/227</a:t>
            </a:r>
          </a:p>
          <a:p xmlns:a="http://schemas.openxmlformats.org/drawingml/2006/main">
            <a:r>
              <a:t>https://github.com/vllm-project/afd-plugin/issues/228</a:t>
            </a:r>
          </a:p>
          <a:p xmlns:a="http://schemas.openxmlformats.org/drawingml/2006/main">
            <a:r>
              <a:t>Accessed 2026-08-12.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DP4TP4与DP8TP2保留上一版数据，MBT=4K，属于原2026-09-07/08批次。跨批次配置比较。红色最优值按未四舍五入的均值判断。</a:t>
            </a:r>
          </a:p>
          <a:p xmlns:a="http://schemas.openxmlformats.org/drawingml/2006/main">
            <a:r>
              <a:t>AFD来源：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EP16来源：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/Users/wentiange/afd-download/afd_experiment_results_20260907_20260908/dsv4-flash-six-node-rerun-20260907/exp3_jcz_afd4/ep16_dp4tp4/chunk_4096/rps_2/repeat_1/result.json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/Users/wentiange/afd-download/afd_experiment_results_20260907_20260908/dsv4-flash-six-node-rerun-20260907/exp3_jcz_afd4/ep16_dp4tp4/chunk_4096/rps_2/repeat_2/result.json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/Users/wentiange/afd-download/afd_experiment_results_20260907_20260908/dsv4-flash-six-node-rerun-20260907/exp3_jcz_afd4/ep16_dp4tp4/chunk_4096/rps_2/repeat_3/result.json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/Users/wentiange/afd-download/afd_experiment_results_20260907_20260908/dsv4-flash-six-node-rerun-20260907/exp3_jcz_afd4/ep16_dp4tp4/chunk_4096/rps_3/repeat_1/result.json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/Users/wentiange/afd-download/afd_experiment_results_20260907_20260908/dsv4-flash-six-node-rerun-20260907/exp3_jcz_afd4/ep16_dp4tp4/chunk_4096/rps_3/repeat_2/result.json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/Users/wentiange/afd-download/afd_experiment_results_20260907_20260908/dsv4-flash-six-node-rerun-20260907/exp3_jcz_afd4/ep16_dp4tp4/chunk_4096/rps_3/repeat_3/result.json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/Users/wentiange/afd-download/afd_experiment_results_20260907_20260908/dsv4-flash-six-node-rerun-20260907/exp3_jcz_afd4/ep16_dp4tp4/chunk_4096/rps_4/repeat_1/result.json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/Users/wentiange/afd-download/afd_experiment_results_20260907_20260908/dsv4-flash-six-node-rerun-20260907/exp3_jcz_afd4/ep16_dp4tp4/chunk_4096/rps_4/repeat_2/result.json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/Users/wentiange/afd-download/afd_experiment_results_20260907_20260908/dsv4-flash-six-node-rerun-20260907/exp3_jcz_afd4/ep16_dp4tp4/chunk_4096/rps_4/repeat_3/result.json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/Users/wentiange/afd-download/afd_experiment_results_20260907_20260908/dsv4-flash/exp4_ep16_dp8tp2_jcz_afd5_20260907_2348/ep16_dp8tp2/chunk_4096/rps_2/repeat_1/result.json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/Users/wentiange/afd-download/afd_experiment_results_20260907_20260908/dsv4-flash/exp4_ep16_dp8tp2_jcz_afd5_20260907_2348/ep16_dp8tp2/chunk_4096/rps_2/repeat_2/result.json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/Users/wentiange/afd-download/afd_experiment_results_20260907_20260908/dsv4-flash/exp4_ep16_dp8tp2_jcz_afd5_20260907_2348/ep16_dp8tp2/chunk_4096/rps_2/repeat_3/result.json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/Users/wentiange/afd-download/afd_experiment_results_20260907_20260908/dsv4-flash/exp4_ep16_dp8tp2_jcz_afd5_20260907_2348/ep16_dp8tp2/chunk_4096/rps_3/repeat_1/result.json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/Users/wentiange/afd-download/afd_experiment_results_20260907_20260908/dsv4-flash/exp4_ep16_dp8tp2_jcz_afd5_20260907_2348/ep16_dp8tp2/chunk_4096/rps_3/repeat_2/result.json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/Users/wentiange/afd-download/afd_experiment_results_20260907_20260908/dsv4-flash/exp4_ep16_dp8tp2_jcz_afd5_20260907_2348/ep16_dp8tp2/chunk_4096/rps_3/repeat_3/result.json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/Users/wentiange/afd-download/afd_experiment_results_20260907_20260908/dsv4-flash/exp4_ep16_dp8tp2_jcz_afd5_20260907_2348/ep16_dp8tp2/chunk_4096/rps_4/repeat_1/result.json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/Users/wentiange/afd-download/afd_experiment_results_20260907_20260908/dsv4-flash/exp4_ep16_dp8tp2_jcz_afd5_20260907_2348/ep16_dp8tp2/chunk_4096/rps_4/repeat_2/result.json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/Users/wentiange/afd-download/afd_experiment_results_20260907_20260908/dsv4-flash/exp4_ep16_dp8tp2_jcz_afd5_20260907_2348/ep16_dp8tp2/chunk_4096/rps_4/repeat_3/result.json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DP4TP4与DP8TP2保留上一版数据，MBT=8K，属于原2026-09-07/08批次。跨批次配置比较。红色最优值按未四舍五入的均值判断。</a:t>
            </a:r>
          </a:p>
          <a:p xmlns:a="http://schemas.openxmlformats.org/drawingml/2006/main">
            <a:r>
              <a:t>AFD来源：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EP16来源：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/Users/wentiange/afd-download/afd_experiment_results_20260907_20260908/dsv4-flash-six-node-rerun-20260907/exp3_jcz_afd4/ep16_dp4tp4/chunk_8192/rps_2/repeat_1/result.json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/Users/wentiange/afd-download/afd_experiment_results_20260907_20260908/dsv4-flash-six-node-rerun-20260907/exp3_jcz_afd4/ep16_dp4tp4/chunk_8192/rps_2/repeat_2/result.json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/Users/wentiange/afd-download/afd_experiment_results_20260907_20260908/dsv4-flash-six-node-rerun-20260907/exp3_jcz_afd4/ep16_dp4tp4/chunk_8192/rps_2/repeat_3/result.json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/Users/wentiange/afd-download/afd_experiment_results_20260907_20260908/dsv4-flash-six-node-rerun-20260907/exp3_jcz_afd4/ep16_dp4tp4/chunk_8192/rps_3/repeat_1/result.json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/Users/wentiange/afd-download/afd_experiment_results_20260907_20260908/dsv4-flash-six-node-rerun-20260907/exp3_jcz_afd4/ep16_dp4tp4/chunk_8192/rps_3/repeat_2/result.json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/Users/wentiange/afd-download/afd_experiment_results_20260907_20260908/dsv4-flash-six-node-rerun-20260907/exp3_jcz_afd4/ep16_dp4tp4/chunk_8192/rps_3/repeat_3/result.json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/Users/wentiange/afd-download/afd_experiment_results_20260907_20260908/dsv4-flash-six-node-rerun-20260907/exp3_jcz_afd4/ep16_dp4tp4/chunk_8192/rps_4/repeat_1/result.json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/Users/wentiange/afd-download/afd_experiment_results_20260907_20260908/dsv4-flash-six-node-rerun-20260907/exp3_jcz_afd4/ep16_dp4tp4/chunk_8192/rps_4/repeat_2/result.json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/Users/wentiange/afd-download/afd_experiment_results_20260907_20260908/dsv4-flash-six-node-rerun-20260907/exp3_jcz_afd4/ep16_dp4tp4/chunk_8192/rps_4/repeat_3/result.json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/Users/wentiange/afd-download/afd_experiment_results_20260907_20260908/dsv4-flash/exp4_ep16_dp8tp2_jcz_afd5_20260907_2348/ep16_dp8tp2/chunk_8192/rps_2/repeat_1/result.json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/Users/wentiange/afd-download/afd_experiment_results_20260907_20260908/dsv4-flash/exp4_ep16_dp8tp2_jcz_afd5_20260907_2348/ep16_dp8tp2/chunk_8192/rps_2/repeat_2/result.json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/Users/wentiange/afd-download/afd_experiment_results_20260907_20260908/dsv4-flash/exp4_ep16_dp8tp2_jcz_afd5_20260907_2348/ep16_dp8tp2/chunk_8192/rps_2/repeat_3/result.json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/Users/wentiange/afd-download/afd_experiment_results_20260907_20260908/dsv4-flash/exp4_ep16_dp8tp2_jcz_afd5_20260907_2348/ep16_dp8tp2/chunk_8192/rps_3/repeat_1/result.json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/Users/wentiange/afd-download/afd_experiment_results_20260907_20260908/dsv4-flash/exp4_ep16_dp8tp2_jcz_afd5_20260907_2348/ep16_dp8tp2/chunk_8192/rps_3/repeat_2/result.json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/Users/wentiange/afd-download/afd_experiment_results_20260907_20260908/dsv4-flash/exp4_ep16_dp8tp2_jcz_afd5_20260907_2348/ep16_dp8tp2/chunk_8192/rps_3/repeat_3/result.json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/Users/wentiange/afd-download/afd_experiment_results_20260907_20260908/dsv4-flash/exp4_ep16_dp8tp2_jcz_afd5_20260907_2348/ep16_dp8tp2/chunk_8192/rps_4/repeat_1/result.json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/Users/wentiange/afd-download/afd_experiment_results_20260907_20260908/dsv4-flash/exp4_ep16_dp8tp2_jcz_afd5_20260907_2348/ep16_dp8tp2/chunk_8192/rps_4/repeat_2/result.json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/Users/wentiange/afd-download/afd_experiment_results_20260907_20260908/dsv4-flash/exp4_ep16_dp8tp2_jcz_afd5_20260907_2348/ep16_dp8tp2/chunk_8192/rps_4/repeat_3/result.json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AFD已刷新为本次dsv4-flash-20260908-rps234批次，MBT65536，RPS2/3/4每档repeat1/2/3的客户端分位数算术均值，毫秒转秒。与final_report/summary.csv核对一致。RPS2和4各有1个请求失败，仍保留三轮，统计成功请求。EP16 DP4TP4与DP8TP2保留上一版数据，MBT=16K，属于原2026-09-07/08批次。跨批次配置比较。红色最优值按未四舍五入的均值判断。</a:t>
            </a:r>
          </a:p>
          <a:p xmlns:a="http://schemas.openxmlformats.org/drawingml/2006/main">
            <a:r>
              <a:t>AFD来源：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EP16来源：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/Users/wentiange/afd-download/afd_experiment_results_20260907_20260908/dsv4-flash-six-node-rerun-20260907/exp3_jcz_afd4/ep16_dp4tp4/chunk_16384/rps_2/repeat_1/result.json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/Users/wentiange/afd-download/afd_experiment_results_20260907_20260908/dsv4-flash-six-node-rerun-20260907/exp3_jcz_afd4/ep16_dp4tp4/chunk_16384/rps_2/repeat_2/result.json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/Users/wentiange/afd-download/afd_experiment_results_20260907_20260908/dsv4-flash-six-node-rerun-20260907/exp3_jcz_afd4/ep16_dp4tp4/chunk_16384/rps_2/repeat_3/result.json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/Users/wentiange/afd-download/afd_experiment_results_20260907_20260908/dsv4-flash-six-node-rerun-20260907/exp3_jcz_afd4/ep16_dp4tp4/chunk_16384/rps_3/repeat_1/result.json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/Users/wentiange/afd-download/afd_experiment_results_20260907_20260908/dsv4-flash-six-node-rerun-20260907/exp3_jcz_afd4/ep16_dp4tp4/chunk_16384/rps_3/repeat_2/result.json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/Users/wentiange/afd-download/afd_experiment_results_20260907_20260908/dsv4-flash-six-node-rerun-20260907/exp3_jcz_afd4/ep16_dp4tp4/chunk_16384/rps_3/repeat_3/result.json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/Users/wentiange/afd-download/afd_experiment_results_20260907_20260908/dsv4-flash-six-node-rerun-20260907/exp3_jcz_afd4/ep16_dp4tp4/chunk_16384/rps_4/repeat_1/result.json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/Users/wentiange/afd-download/afd_experiment_results_20260907_20260908/dsv4-flash-six-node-rerun-20260907/exp3_jcz_afd4/ep16_dp4tp4/chunk_16384/rps_4/repeat_2/result.json</a:t>
            </a:r>
          </a:p>
          <a:p xmlns:a="http://schemas.openxmlformats.org/drawingml/2006/main">
            <a:r>
              <a:t>/Users/wentiange/afd-download/afd_experiment_results_20260907_20260908/dsv4-flash-six-node-rerun-20260907/exp3_jcz_afd4/ep16_dp4tp4/chunk_16384/rps_4/repeat_3/result.json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/Users/wentiange/afd-download/afd_experiment_results_20260907_20260908/dsv4-flash/exp4_ep16_dp8tp2_jcz_afd5_20260907_2348/ep16_dp8tp2/chunk_16384/rps_2/repeat_1/result.json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/Users/wentiange/afd-download/afd_experiment_results_20260907_20260908/dsv4-flash/exp4_ep16_dp8tp2_jcz_afd5_20260907_2348/ep16_dp8tp2/chunk_16384/rps_2/repeat_2/result.json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/Users/wentiange/afd-download/afd_experiment_results_20260907_20260908/dsv4-flash/exp4_ep16_dp8tp2_jcz_afd5_20260907_2348/ep16_dp8tp2/chunk_16384/rps_2/repeat_3/result.json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/Users/wentiange/afd-download/afd_experiment_results_20260907_20260908/dsv4-flash/exp4_ep16_dp8tp2_jcz_afd5_20260907_2348/ep16_dp8tp2/chunk_16384/rps_3/repeat_1/result.json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/Users/wentiange/afd-download/afd_experiment_results_20260907_20260908/dsv4-flash/exp4_ep16_dp8tp2_jcz_afd5_20260907_2348/ep16_dp8tp2/chunk_16384/rps_3/repeat_2/result.json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/Users/wentiange/afd-download/afd_experiment_results_20260907_20260908/dsv4-flash/exp4_ep16_dp8tp2_jcz_afd5_20260907_2348/ep16_dp8tp2/chunk_16384/rps_3/repeat_3/result.json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/Users/wentiange/afd-download/afd_experiment_results_20260907_20260908/dsv4-flash/exp4_ep16_dp8tp2_jcz_afd5_20260907_2348/ep16_dp8tp2/chunk_16384/rps_4/repeat_1/result.json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/Users/wentiange/afd-download/afd_experiment_results_20260907_20260908/dsv4-flash/exp4_ep16_dp8tp2_jcz_afd5_20260907_2348/ep16_dp8tp2/chunk_16384/rps_4/repeat_2/result.json</a:t>
            </a:r>
          </a:p>
          <a:p xmlns:a="http://schemas.openxmlformats.org/drawingml/2006/main">
            <a:r>
              <a:t>/Users/wentiange/afd-download/afd_experiment_results_20260907_20260908/dsv4-flash/exp4_ep16_dp8tp2_jcz_afd5_20260907_2348/ep16_dp8tp2/chunk_16384/rps_4/repeat_3/result.json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ns1:t>
            </ns1:r>
          </ns1:p>
          <ns1:p>
            <ns1:r>
              <ns1:t>/Users/wentiange/afd-download/dsv4-flash-20260909-afd8k-rps234/afd_dp4tp2/chunk_8192/rps_2/repeat_1/result.json</ns1:t>
            </ns1:r>
          </ns1:p>
          <ns1:p>
            <ns1:r>
              <ns1:t>/Users/wentiange/afd-download/dsv4-flash-20260909-afd8k-rps234/afd_dp4tp2/chunk_8192/rps_3/repeat_1/result.json</ns1:t>
            </ns1:r>
          </ns1:p>
          <ns1:p>
            <ns1:r>
              <ns1:t>/Users/wentiange/afd-download/dsv4-flash-20260909-afd8k-rps234/afd_dp4tp2/chunk_8192/rps_4/repeat_1/result.json</ns1:t>
            </ns1:r>
          </ns1:p>
          <ns1:p>
            <ns1:r>
              <ns1:t>/Users/wentiange/afd-download/dsv4-flash-20260909-afd16k32k-rps234/afd_dp4tp2/chunk_16384/rps_2/repeat_1/result.json</ns1:t>
            </ns1:r>
          </ns1:p>
          <ns1:p>
            <ns1:r>
              <ns1:t>/Users/wentiange/afd-download/dsv4-flash-20260909-afd16k32k-rps234/afd_dp4tp2/chunk_16384/rps_3/repeat_1/result.json</ns1:t>
            </ns1:r>
          </ns1:p>
          <ns1:p>
            <ns1:r>
              <ns1:t>/Users/wentiange/afd-download/dsv4-flash-20260909-afd16k32k-rps234/afd_dp4tp2/chunk_16384/rps_4/repeat_1/result.json</ns1:t>
            </ns1:r>
          </ns1:p>
          <ns1:p>
            <ns1:r>
              <ns1:t>/Users/wentiange/afd-download/dsv4-flash-20260909-afd16k32k-rps234/afd_dp4tp2/chunk_32768/rps_2/repeat_1/result.json</ns1:t>
            </ns1:r>
          </ns1:p>
          <ns1:p>
            <ns1:r>
              <ns1:t>/Users/wentiange/afd-download/dsv4-flash-20260909-afd16k32k-rps234/afd_dp4tp2/chunk_32768/rps_3/repeat_1/result.json</ns1:t>
            </ns1:r>
          </ns1:p>
          <ns1:p>
            <ns1:r>
              <ns1:t>/Users/wentiange/afd-download/dsv4-flash-20260909-afd16k32k-rps234/afd_dp4tp2/chunk_32768/rps_4/repeat_1/result.json</ns1:t>
            </ns1:r>
          </ns1:p>
          <ns1:p>
            <ns1:r>
              <ns1:t>/Users/wentiange/afd-download/dsv4-flash-20260908-rps234/afd_dp4tp2/chunk_65536/rps_2/repeat_1/result.json</ns1:t>
            </ns1:r>
          </ns1:p>
          <ns1:p>
            <ns1:r>
              <ns1:t>/Users/wentiange/afd-download/dsv4-flash-20260908-rps234/afd_dp4tp2/chunk_65536/rps_2/repeat_2/result.json</ns1:t>
            </ns1:r>
          </ns1:p>
          <ns1:p>
            <ns1:r>
              <ns1:t>/Users/wentiange/afd-download/dsv4-flash-20260908-rps234/afd_dp4tp2/chunk_65536/rps_2/repeat_3/result.json</ns1:t>
            </ns1:r>
          </ns1:p>
          <ns1:p>
            <ns1:r>
              <ns1:t>/Users/wentiange/afd-download/dsv4-flash-20260908-rps234/afd_dp4tp2/chunk_65536/rps_3/repeat_1/result.json</ns1:t>
            </ns1:r>
          </ns1:p>
          <ns1:p>
            <ns1:r>
              <ns1:t>/Users/wentiange/afd-download/dsv4-flash-20260908-rps234/afd_dp4tp2/chunk_65536/rps_3/repeat_2/result.json</ns1:t>
            </ns1:r>
          </ns1:p>
          <ns1:p>
            <ns1:r>
              <ns1:t>/Users/wentiange/afd-download/dsv4-flash-20260908-rps234/afd_dp4tp2/chunk_65536/rps_3/repeat_3/result.json</ns1:t>
            </ns1:r>
          </ns1:p>
          <ns1:p>
            <ns1:r>
              <ns1:t>/Users/wentiange/afd-download/dsv4-flash-20260908-rps234/afd_dp4tp2/chunk_65536/rps_4/repeat_1/result.json</ns1:t>
            </ns1:r>
          </ns1:p>
          <ns1:p>
            <ns1:r>
              <ns1:t>/Users/wentiange/afd-download/dsv4-flash-20260908-rps234/afd_dp4tp2/chunk_65536/rps_4/repeat_2/result.json</ns1:t>
            </ns1:r>
          </ns1:p>
          <ns1:p>
            <ns1:r>
              <ns1:t>/Users/wentiange/afd-download/dsv4-flash-20260908-rps234/afd_dp4tp2/chunk_65536/rps_4/repeat_3/result.json</ns1:t>
            </ns1:r>
          </ns1:p>
          <ns1:p>
            <ns1:r>
              <ns1:t>/Users/wentiange/afd-download/dsv4-flash-20260908-rps234/ep16_dp4tp4/chunk_8192/rps_2/repeat_1/result.json</ns1:t>
            </ns1:r>
          </ns1:p>
          <ns1:p>
            <ns1:r>
              <ns1:t>/Users/wentiange/afd-download/dsv4-flash-20260908-rps234/ep16_dp4tp4/chunk_8192/rps_2/repeat_2/result.json</ns1:t>
            </ns1:r>
          </ns1:p>
          <ns1:p>
            <ns1:r>
              <ns1:t>/Users/wentiange/afd-download/dsv4-flash-20260908-rps234/ep16_dp4tp4/chunk_8192/rps_2/repeat_3/result.json</ns1:t>
            </ns1:r>
          </ns1:p>
          <ns1:p>
            <ns1:r>
              <ns1:t>/Users/wentiange/afd-download/dsv4-flash-20260908-rps234/ep16_dp4tp4/chunk_8192/rps_3/repeat_1/result.json</ns1:t>
            </ns1:r>
          </ns1:p>
          <ns1:p>
            <ns1:r>
              <ns1:t>/Users/wentiange/afd-download/dsv4-flash-20260908-rps234/ep16_dp4tp4/chunk_8192/rps_3/repeat_2/result.json</ns1:t>
            </ns1:r>
          </ns1:p>
          <ns1:p>
            <ns1:r>
              <ns1:t>/Users/wentiange/afd-download/dsv4-flash-20260908-rps234/ep16_dp4tp4/chunk_8192/rps_3/repeat_3/result.json</ns1:t>
            </ns1:r>
          </ns1:p>
          <ns1:p>
            <ns1:r>
              <ns1:t>/Users/wentiange/afd-download/dsv4-flash-20260908-rps234/ep16_dp4tp4/chunk_8192/rps_4/repeat_1/result.json</ns1:t>
            </ns1:r>
          </ns1:p>
          <ns1:p>
            <ns1:r>
              <ns1:t>/Users/wentiange/afd-download/dsv4-flash-20260908-rps234/ep16_dp4tp4/chunk_8192/rps_4/repeat_2/result.json</ns1:t>
            </ns1:r>
          </ns1:p>
          <ns1:p>
            <ns1:r>
              <ns1:t>/Users/wentiange/afd-download/dsv4-flash-20260908-rps234/ep16_dp4tp4/chunk_8192/rps_4/repeat_3/result.json</ns1:t>
            </ns1:r>
          </ns1:p>
          <ns1:p>
            <ns1:r>
              <ns1:t>/Users/wentiange/afd-download/dsv4-flash-20260908-rps234/ep16_dp4tp4/chunk_16384/rps_2/repeat_1/result.json</ns1:t>
            </ns1:r>
          </ns1:p>
          <ns1:p>
            <ns1:r>
              <ns1:t>/Users/wentiange/afd-download/dsv4-flash-20260908-rps234/ep16_dp4tp4/chunk_16384/rps_2/repeat_2/result.json</ns1:t>
            </ns1:r>
          </ns1:p>
          <ns1:p>
            <ns1:r>
              <ns1:t>/Users/wentiange/afd-download/dsv4-flash-20260908-rps234/ep16_dp4tp4/chunk_16384/rps_2/repeat_3/result.json</ns1:t>
            </ns1:r>
          </ns1:p>
          <ns1:p>
            <ns1:r>
              <ns1:t>/Users/wentiange/afd-download/dsv4-flash-20260908-rps234/ep16_dp4tp4/chunk_16384/rps_3/repeat_1/result.json</ns1:t>
            </ns1:r>
          </ns1:p>
          <ns1:p>
            <ns1:r>
              <ns1:t>/Users/wentiange/afd-download/dsv4-flash-20260908-rps234/ep16_dp4tp4/chunk_16384/rps_3/repeat_2/result.json</ns1:t>
            </ns1:r>
          </ns1:p>
          <ns1:p>
            <ns1:r>
              <ns1:t>/Users/wentiange/afd-download/dsv4-flash-20260908-rps234/ep16_dp4tp4/chunk_16384/rps_3/repeat_3/result.json</ns1:t>
            </ns1:r>
          </ns1:p>
          <ns1:p>
            <ns1:r>
              <ns1:t>/Users/wentiange/afd-download/dsv4-flash-20260908-rps234/ep16_dp4tp4/chunk_16384/rps_4/repeat_1/result.json</ns1:t>
            </ns1:r>
          </ns1:p>
          <ns1:p>
            <ns1:r>
              <ns1:t>/Users/wentiange/afd-download/dsv4-flash-20260908-rps234/ep16_dp4tp4/chunk_16384/rps_4/repeat_2/result.json</ns1:t>
            </ns1:r>
          </ns1:p>
          <ns1:p>
            <ns1:r>
              <ns1:t>/Users/wentiange/afd-download/dsv4-flash-20260908-rps234/ep16_dp4tp4/chunk_16384/rps_4/repeat_3/result.json</ns1:t>
            </ns1:r>
          </ns1:p>
          <ns1:p>
            <ns1:r>
              <ns1:t>/Users/wentiange/afd-download/dsv4-flash-20260908-rps234/ep16_dp8tp2/chunk_8192/rps_2/repeat_1/result.json</ns1:t>
            </ns1:r>
          </ns1:p>
          <ns1:p>
            <ns1:r>
              <ns1:t>/Users/wentiange/afd-download/dsv4-flash-20260908-rps234/ep16_dp8tp2/chunk_8192/rps_2/repeat_2/result.json</ns1:t>
            </ns1:r>
          </ns1:p>
          <ns1:p>
            <ns1:r>
              <ns1:t>/Users/wentiange/afd-download/dsv4-flash-20260908-rps234/ep16_dp8tp2/chunk_8192/rps_2/repeat_3/result.json</ns1:t>
            </ns1:r>
          </ns1:p>
          <ns1:p>
            <ns1:r>
              <ns1:t>/Users/wentiange/afd-download/dsv4-flash-20260908-rps234/ep16_dp8tp2/chunk_8192/rps_3/repeat_1/result.json</ns1:t>
            </ns1:r>
          </ns1:p>
          <ns1:p>
            <ns1:r>
              <ns1:t>/Users/wentiange/afd-download/dsv4-flash-20260908-rps234/ep16_dp8tp2/chunk_8192/rps_3/repeat_2/result.json</ns1:t>
            </ns1:r>
          </ns1:p>
          <ns1:p>
            <ns1:r>
              <ns1:t>/Users/wentiange/afd-download/dsv4-flash-20260908-rps234/ep16_dp8tp2/chunk_8192/rps_3/repeat_3/result.json</ns1:t>
            </ns1:r>
          </ns1:p>
          <ns1:p>
            <ns1:r>
              <ns1:t>/Users/wentiange/afd-download/dsv4-flash-20260908-rps234/ep16_dp8tp2/chunk_8192/rps_4/repeat_1/result.json</ns1:t>
            </ns1:r>
          </ns1:p>
          <ns1:p>
            <ns1:r>
              <ns1:t>/Users/wentiange/afd-download/dsv4-flash-20260908-rps234/ep16_dp8tp2/chunk_8192/rps_4/repeat_2/result.json</ns1:t>
            </ns1:r>
          </ns1:p>
          <ns1:p>
            <ns1:r>
              <ns1:t>/Users/wentiange/afd-download/dsv4-flash-20260908-rps234/ep16_dp8tp2/chunk_8192/rps_4/repeat_3/result.json</ns1:t>
            </ns1:r>
          </ns1:p>
          <ns1:p>
            <ns1:r>
              <ns1:t>/Users/wentiange/afd-download/dsv4-flash-20260908-rps234/ep16_dp8tp2/chunk_16384/rps_2/repeat_1/result.json</ns1:t>
            </ns1:r>
          </ns1:p>
          <ns1:p>
            <ns1:r>
              <ns1:t>/Users/wentiange/afd-download/dsv4-flash-20260908-rps234/ep16_dp8tp2/chunk_16384/rps_2/repeat_2/result.json</ns1:t>
            </ns1:r>
          </ns1:p>
          <ns1:p>
            <ns1:r>
              <ns1:t>/Users/wentiange/afd-download/dsv4-flash-20260908-rps234/ep16_dp8tp2/chunk_16384/rps_2/repeat_3/result.json</ns1:t>
            </ns1:r>
          </ns1:p>
          <ns1:p>
            <ns1:r>
              <ns1:t>/Users/wentiange/afd-download/dsv4-flash-20260908-rps234/ep16_dp8tp2/chunk_16384/rps_3/repeat_1/result.json</ns1:t>
            </ns1:r>
          </ns1:p>
          <ns1:p>
            <ns1:r>
              <ns1:t>/Users/wentiange/afd-download/dsv4-flash-20260908-rps234/ep16_dp8tp2/chunk_16384/rps_3/repeat_2/result.json</ns1:t>
            </ns1:r>
          </ns1:p>
          <ns1:p>
            <ns1:r>
              <ns1:t>/Users/wentiange/afd-download/dsv4-flash-20260908-rps234/ep16_dp8tp2/chunk_16384/rps_3/repeat_3/result.json</ns1:t>
            </ns1:r>
          </ns1:p>
          <ns1:p>
            <ns1:r>
              <ns1:t>/Users/wentiange/afd-download/dsv4-flash-20260908-rps234/ep16_dp8tp2/chunk_16384/rps_4/repeat_1/result.json</ns1:t>
            </ns1:r>
          </ns1:p>
          <ns1:p>
            <ns1:r>
              <ns1:t>/Users/wentiange/afd-download/dsv4-flash-20260908-rps234/ep16_dp8tp2/chunk_16384/rps_4/repeat_2/result.json</ns1:t>
            </ns1:r>
          </ns1:p>
          <ns1:p>
            <ns1:r>
              <ns1:t>/Users/wentiange/afd-download/dsv4-flash-20260908-rps234/ep16_dp8tp2/chunk_16384/rps_4/repeat_3/result.json</ns1:t>
            </ns1:r>
          </ns1:p>
          <ns1:p>
            <ns1:r>
              <ns1:t>/Users/wentiange/afd-download/dsv4-flash-20260908-rps234/afd_dp4tp2/chunk_65536/rps_3/repeat_1/metrics/attention_before.prom</ns1:t>
            </ns1:r>
          </ns1:p>
          <ns1:p>
            <ns1:r>
              <ns1:t>/Users/wentiange/afd-download/dsv4-flash-20260908-rps234/afd_dp4tp2/chunk_65536/rps_3/repeat_1/metrics/attention_after.prom</ns1:t>
            </ns1:r>
          </ns1:p>
          <ns1:p>
            <ns1:r>
              <ns1:t>/Users/wentiange/afd-download/dsv4-flash-20260908-rps234/afd_dp4tp2/chunk_65536/rps_3/repeat_2/metrics/attention_before.prom</ns1:t>
            </ns1:r>
          </ns1:p>
          <ns1:p>
            <ns1:r>
              <ns1:t>/Users/wentiange/afd-download/dsv4-flash-20260908-rps234/afd_dp4tp2/chunk_65536/rps_3/repeat_2/metrics/attention_after.prom</ns1:t>
            </ns1:r>
          </ns1:p>
          <ns1:p>
            <ns1:r>
              <ns1:t>/Users/wentiange/afd-download/dsv4-flash-20260908-rps234/afd_dp4tp2/chunk_65536/rps_3/repeat_3/metrics/attention_before.prom</ns1:t>
            </ns1:r>
          </ns1:p>
          <ns1:p>
            <ns1:r>
              <ns1:t>/Users/wentiange/afd-download/dsv4-flash-20260908-rps234/afd_dp4tp2/chunk_65536/rps_3/repeat_3/metrics/attention_after.prom</ns1:t>
            </ns1:r>
          </ns1:p>
          <ns1:p>
            <ns1:r>
              <ns1:t>/Users/wentiange/afd-download/dsv4-flash-20260908-rps234/afd_dp4tp2/chunk_65536/rps_4/repeat_1/metrics/attention_before.prom</ns1:t>
            </ns1:r>
          </ns1:p>
          <ns1:p>
            <ns1:r>
              <ns1:t>/Users/wentiange/afd-download/dsv4-flash-20260908-rps234/afd_dp4tp2/chunk_65536/rps_4/repeat_1/metrics/attention_after.prom</ns1:t>
            </ns1:r>
          </ns1:p>
          <ns1:p>
            <ns1:r>
              <ns1:t>/Users/wentiange/afd-download/dsv4-flash-20260908-rps234/afd_dp4tp2/chunk_65536/rps_4/repeat_2/metrics/attention_before.prom</ns1:t>
            </ns1:r>
          </ns1:p>
          <ns1:p>
            <ns1:r>
              <ns1:t>/Users/wentiange/afd-download/dsv4-flash-20260908-rps234/afd_dp4tp2/chunk_65536/rps_4/repeat_2/metrics/attention_after.prom</ns1:t>
            </ns1:r>
          </ns1:p>
          <ns1:p>
            <ns1:r>
              <ns1:t>/Users/wentiange/afd-download/dsv4-flash-20260908-rps234/afd_dp4tp2/chunk_65536/rps_4/repeat_3/metrics/attention_before.prom</ns1:t>
            </ns1:r>
          </ns1:p>
          <ns1:p>
            <ns1:r>
              <ns1:t>/Users/wentiange/afd-download/dsv4-flash-20260908-rps234/afd_dp4tp2/chunk_65536/rps_4/repeat_3/metrics/attention_after.prom</ns1:t>
            </ns1:r>
          </ns1:p>
          <ns1:p>
            <ns1:r>
              <ns1:t>/Users/wentiange/afd-download/dsv4-flash-20260908-afd-length-analysis/summary.csv</ns1:t>
            </ns1:r>
          </ns1:p>
          <ns1:p>
            <ns1:r>
              <ns1:t>/Users/wentiange/afd-download/dsv4-flash-20260908-afd-request-share/requests.csv</ns1:t>
            </ns1:r>
          </ns1:p>
          <ns1:p>
            <ns1:r>
              <ns1:t>补充DP8TP2来源：/Users/wentiange/afd-download/dsv4-flash-20260908-rps234/ep16_dp8tp2/chunk_8192/rps_{3,4}/repeat_{1,2,3}/timing_audit.json，以及对应before/after原始metrics。各轮取sum/count后求三轮均值，增量用未舍入均值相减。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验来源：20260908-rps234（AFD64K、EP16），20260909-afd16k32k-rps234、20260909-afd8k-rps234。AFD64K及EP16每档3轮，AFD8/16/32K每档1轮。TTFT分位数为逐轮分位数均值；长度分组页使用合并三轮成功请求分位数。少量请求失败保留实验，不纳入延迟。metrics为每轮Attention API histogram before/after差分sum/count，再取三轮均值。请求级M(r)按DP rank本地batch计算，非耗时占比、空泡率或硬件效率。数据与分析来源：</a:t>
            </a:r>
          </a:p>
          <a:p xmlns:a="http://schemas.openxmlformats.org/drawingml/2006/main">
            <a:r>
              <a:t>/Users/wentiange/afd-download/dsv4-flash-20260909-afd8k-rps234/afd_dp4tp2/chunk_8192/rps_2/repeat_1/result.json</a:t>
            </a:r>
          </a:p>
          <a:p xmlns:a="http://schemas.openxmlformats.org/drawingml/2006/main">
            <a:r>
              <a:t>/Users/wentiange/afd-download/dsv4-flash-20260909-afd8k-rps234/afd_dp4tp2/chunk_8192/rps_3/repeat_1/result.json</a:t>
            </a:r>
          </a:p>
          <a:p xmlns:a="http://schemas.openxmlformats.org/drawingml/2006/main">
            <a:r>
              <a:t>/Users/wentiange/afd-download/dsv4-flash-20260909-afd8k-rps234/afd_dp4tp2/chunk_8192/rps_4/repeat_1/result.json</a:t>
            </a:r>
          </a:p>
          <a:p xmlns:a="http://schemas.openxmlformats.org/drawingml/2006/main">
            <a:r>
              <a:t>/Users/wentiange/afd-download/dsv4-flash-20260909-afd16k32k-rps234/afd_dp4tp2/chunk_16384/rps_2/repeat_1/result.json</a:t>
            </a:r>
          </a:p>
          <a:p xmlns:a="http://schemas.openxmlformats.org/drawingml/2006/main">
            <a:r>
              <a:t>/Users/wentiange/afd-download/dsv4-flash-20260909-afd16k32k-rps234/afd_dp4tp2/chunk_16384/rps_3/repeat_1/result.json</a:t>
            </a:r>
          </a:p>
          <a:p xmlns:a="http://schemas.openxmlformats.org/drawingml/2006/main">
            <a:r>
              <a:t>/Users/wentiange/afd-download/dsv4-flash-20260909-afd16k32k-rps234/afd_dp4tp2/chunk_16384/rps_4/repeat_1/result.json</a:t>
            </a:r>
          </a:p>
          <a:p xmlns:a="http://schemas.openxmlformats.org/drawingml/2006/main">
            <a:r>
              <a:t>/Users/wentiange/afd-download/dsv4-flash-20260909-afd16k32k-rps234/afd_dp4tp2/chunk_32768/rps_2/repeat_1/result.json</a:t>
            </a:r>
          </a:p>
          <a:p xmlns:a="http://schemas.openxmlformats.org/drawingml/2006/main">
            <a:r>
              <a:t>/Users/wentiange/afd-download/dsv4-flash-20260909-afd16k32k-rps234/afd_dp4tp2/chunk_32768/rps_3/repeat_1/result.json</a:t>
            </a:r>
          </a:p>
          <a:p xmlns:a="http://schemas.openxmlformats.org/drawingml/2006/main">
            <a:r>
              <a:t>/Users/wentiange/afd-download/dsv4-flash-20260909-afd16k32k-rps234/afd_dp4tp2/chunk_32768/rps_4/repeat_1/result.json</a:t>
            </a:r>
          </a:p>
          <a:p xmlns:a="http://schemas.openxmlformats.org/drawingml/2006/main">
            <a:r>
              <a:t>/Users/wentiange/afd-download/dsv4-flash-20260908-rps234/afd_dp4tp2/chunk_65536/rps_2/repeat_1/result.json</a:t>
            </a:r>
          </a:p>
          <a:p xmlns:a="http://schemas.openxmlformats.org/drawingml/2006/main">
            <a:r>
              <a:t>/Users/wentiange/afd-download/dsv4-flash-20260908-rps234/afd_dp4tp2/chunk_65536/rps_2/repeat_2/result.json</a:t>
            </a:r>
          </a:p>
          <a:p xmlns:a="http://schemas.openxmlformats.org/drawingml/2006/main">
            <a:r>
              <a:t>/Users/wentiange/afd-download/dsv4-flash-20260908-rps234/afd_dp4tp2/chunk_65536/rps_2/repeat_3/result.json</a:t>
            </a:r>
          </a:p>
          <a:p xmlns:a="http://schemas.openxmlformats.org/drawingml/2006/main">
            <a:r>
              <a:t>/Users/wentiange/afd-download/dsv4-flash-20260908-rps234/afd_dp4tp2/chunk_65536/rps_3/repeat_1/result.json</a:t>
            </a:r>
          </a:p>
          <a:p xmlns:a="http://schemas.openxmlformats.org/drawingml/2006/main">
            <a:r>
              <a:t>/Users/wentiange/afd-download/dsv4-flash-20260908-rps234/afd_dp4tp2/chunk_65536/rps_3/repeat_2/result.json</a:t>
            </a:r>
          </a:p>
          <a:p xmlns:a="http://schemas.openxmlformats.org/drawingml/2006/main">
            <a:r>
              <a:t>/Users/wentiange/afd-download/dsv4-flash-20260908-rps234/afd_dp4tp2/chunk_65536/rps_3/repeat_3/result.json</a:t>
            </a:r>
          </a:p>
          <a:p xmlns:a="http://schemas.openxmlformats.org/drawingml/2006/main">
            <a:r>
              <a:t>/Users/wentiange/afd-download/dsv4-flash-20260908-rps234/afd_dp4tp2/chunk_65536/rps_4/repeat_1/result.json</a:t>
            </a:r>
          </a:p>
          <a:p xmlns:a="http://schemas.openxmlformats.org/drawingml/2006/main">
            <a:r>
              <a:t>/Users/wentiange/afd-download/dsv4-flash-20260908-rps234/afd_dp4tp2/chunk_65536/rps_4/repeat_2/result.json</a:t>
            </a:r>
          </a:p>
          <a:p xmlns:a="http://schemas.openxmlformats.org/drawingml/2006/main">
            <a:r>
              <a:t>/Users/wentiange/afd-download/dsv4-flash-20260908-rps234/afd_dp4tp2/chunk_65536/rps_4/repeat_3/result.json</a:t>
            </a:r>
          </a:p>
          <a:p xmlns:a="http://schemas.openxmlformats.org/drawingml/2006/main">
            <a:r>
              <a:t>/Users/wentiange/afd-download/dsv4-flash-20260908-rps234/ep16_dp4tp4/chunk_8192/rps_2/repeat_1/result.json</a:t>
            </a:r>
          </a:p>
          <a:p xmlns:a="http://schemas.openxmlformats.org/drawingml/2006/main">
            <a:r>
              <a:t>/Users/wentiange/afd-download/dsv4-flash-20260908-rps234/ep16_dp4tp4/chunk_8192/rps_2/repeat_2/result.json</a:t>
            </a:r>
          </a:p>
          <a:p xmlns:a="http://schemas.openxmlformats.org/drawingml/2006/main">
            <a:r>
              <a:t>/Users/wentiange/afd-download/dsv4-flash-20260908-rps234/ep16_dp4tp4/chunk_8192/rps_2/repeat_3/result.json</a:t>
            </a:r>
          </a:p>
          <a:p xmlns:a="http://schemas.openxmlformats.org/drawingml/2006/main">
            <a:r>
              <a:t>/Users/wentiange/afd-download/dsv4-flash-20260908-rps234/ep16_dp4tp4/chunk_8192/rps_3/repeat_1/result.json</a:t>
            </a:r>
          </a:p>
          <a:p xmlns:a="http://schemas.openxmlformats.org/drawingml/2006/main">
            <a:r>
              <a:t>/Users/wentiange/afd-download/dsv4-flash-20260908-rps234/ep16_dp4tp4/chunk_8192/rps_3/repeat_2/result.json</a:t>
            </a:r>
          </a:p>
          <a:p xmlns:a="http://schemas.openxmlformats.org/drawingml/2006/main">
            <a:r>
              <a:t>/Users/wentiange/afd-download/dsv4-flash-20260908-rps234/ep16_dp4tp4/chunk_8192/rps_3/repeat_3/result.json</a:t>
            </a:r>
          </a:p>
          <a:p xmlns:a="http://schemas.openxmlformats.org/drawingml/2006/main">
            <a:r>
              <a:t>/Users/wentiange/afd-download/dsv4-flash-20260908-rps234/ep16_dp4tp4/chunk_8192/rps_4/repeat_1/result.json</a:t>
            </a:r>
          </a:p>
          <a:p xmlns:a="http://schemas.openxmlformats.org/drawingml/2006/main">
            <a:r>
              <a:t>/Users/wentiange/afd-download/dsv4-flash-20260908-rps234/ep16_dp4tp4/chunk_8192/rps_4/repeat_2/result.json</a:t>
            </a:r>
          </a:p>
          <a:p xmlns:a="http://schemas.openxmlformats.org/drawingml/2006/main">
            <a:r>
              <a:t>/Users/wentiange/afd-download/dsv4-flash-20260908-rps234/ep16_dp4tp4/chunk_8192/rps_4/repeat_3/result.json</a:t>
            </a:r>
          </a:p>
          <a:p xmlns:a="http://schemas.openxmlformats.org/drawingml/2006/main">
            <a:r>
              <a:t>/Users/wentiange/afd-download/dsv4-flash-20260908-rps234/ep16_dp4tp4/chunk_16384/rps_2/repeat_1/result.json</a:t>
            </a:r>
          </a:p>
          <a:p xmlns:a="http://schemas.openxmlformats.org/drawingml/2006/main">
            <a:r>
              <a:t>/Users/wentiange/afd-download/dsv4-flash-20260908-rps234/ep16_dp4tp4/chunk_16384/rps_2/repeat_2/result.json</a:t>
            </a:r>
          </a:p>
          <a:p xmlns:a="http://schemas.openxmlformats.org/drawingml/2006/main">
            <a:r>
              <a:t>/Users/wentiange/afd-download/dsv4-flash-20260908-rps234/ep16_dp4tp4/chunk_16384/rps_2/repeat_3/result.json</a:t>
            </a:r>
          </a:p>
          <a:p xmlns:a="http://schemas.openxmlformats.org/drawingml/2006/main">
            <a:r>
              <a:t>/Users/wentiange/afd-download/dsv4-flash-20260908-rps234/ep16_dp4tp4/chunk_16384/rps_3/repeat_1/result.json</a:t>
            </a:r>
          </a:p>
          <a:p xmlns:a="http://schemas.openxmlformats.org/drawingml/2006/main">
            <a:r>
              <a:t>/Users/wentiange/afd-download/dsv4-flash-20260908-rps234/ep16_dp4tp4/chunk_16384/rps_3/repeat_2/result.json</a:t>
            </a:r>
          </a:p>
          <a:p xmlns:a="http://schemas.openxmlformats.org/drawingml/2006/main">
            <a:r>
              <a:t>/Users/wentiange/afd-download/dsv4-flash-20260908-rps234/ep16_dp4tp4/chunk_16384/rps_3/repeat_3/result.json</a:t>
            </a:r>
          </a:p>
          <a:p xmlns:a="http://schemas.openxmlformats.org/drawingml/2006/main">
            <a:r>
              <a:t>/Users/wentiange/afd-download/dsv4-flash-20260908-rps234/ep16_dp4tp4/chunk_16384/rps_4/repeat_1/result.json</a:t>
            </a:r>
          </a:p>
          <a:p xmlns:a="http://schemas.openxmlformats.org/drawingml/2006/main">
            <a:r>
              <a:t>/Users/wentiange/afd-download/dsv4-flash-20260908-rps234/ep16_dp4tp4/chunk_16384/rps_4/repeat_2/result.json</a:t>
            </a:r>
          </a:p>
          <a:p xmlns:a="http://schemas.openxmlformats.org/drawingml/2006/main">
            <a:r>
              <a:t>/Users/wentiange/afd-download/dsv4-flash-20260908-rps234/ep16_dp4tp4/chunk_16384/rps_4/repeat_3/result.json</a:t>
            </a:r>
          </a:p>
          <a:p xmlns:a="http://schemas.openxmlformats.org/drawingml/2006/main">
            <a:r>
              <a:t>/Users/wentiange/afd-download/dsv4-flash-20260908-rps234/ep16_dp8tp2/chunk_8192/rps_2/repeat_1/result.json</a:t>
            </a:r>
          </a:p>
          <a:p xmlns:a="http://schemas.openxmlformats.org/drawingml/2006/main">
            <a:r>
              <a:t>/Users/wentiange/afd-download/dsv4-flash-20260908-rps234/ep16_dp8tp2/chunk_8192/rps_2/repeat_2/result.json</a:t>
            </a:r>
          </a:p>
          <a:p xmlns:a="http://schemas.openxmlformats.org/drawingml/2006/main">
            <a:r>
              <a:t>/Users/wentiange/afd-download/dsv4-flash-20260908-rps234/ep16_dp8tp2/chunk_8192/rps_2/repeat_3/result.json</a:t>
            </a:r>
          </a:p>
          <a:p xmlns:a="http://schemas.openxmlformats.org/drawingml/2006/main">
            <a:r>
              <a:t>/Users/wentiange/afd-download/dsv4-flash-20260908-rps234/ep16_dp8tp2/chunk_8192/rps_3/repeat_1/result.json</a:t>
            </a:r>
          </a:p>
          <a:p xmlns:a="http://schemas.openxmlformats.org/drawingml/2006/main">
            <a:r>
              <a:t>/Users/wentiange/afd-download/dsv4-flash-20260908-rps234/ep16_dp8tp2/chunk_8192/rps_3/repeat_2/result.json</a:t>
            </a:r>
          </a:p>
          <a:p xmlns:a="http://schemas.openxmlformats.org/drawingml/2006/main">
            <a:r>
              <a:t>/Users/wentiange/afd-download/dsv4-flash-20260908-rps234/ep16_dp8tp2/chunk_8192/rps_3/repeat_3/result.json</a:t>
            </a:r>
          </a:p>
          <a:p xmlns:a="http://schemas.openxmlformats.org/drawingml/2006/main">
            <a:r>
              <a:t>/Users/wentiange/afd-download/dsv4-flash-20260908-rps234/ep16_dp8tp2/chunk_8192/rps_4/repeat_1/result.json</a:t>
            </a:r>
          </a:p>
          <a:p xmlns:a="http://schemas.openxmlformats.org/drawingml/2006/main">
            <a:r>
              <a:t>/Users/wentiange/afd-download/dsv4-flash-20260908-rps234/ep16_dp8tp2/chunk_8192/rps_4/repeat_2/result.json</a:t>
            </a:r>
          </a:p>
          <a:p xmlns:a="http://schemas.openxmlformats.org/drawingml/2006/main">
            <a:r>
              <a:t>/Users/wentiange/afd-download/dsv4-flash-20260908-rps234/ep16_dp8tp2/chunk_8192/rps_4/repeat_3/result.json</a:t>
            </a:r>
          </a:p>
          <a:p xmlns:a="http://schemas.openxmlformats.org/drawingml/2006/main">
            <a:r>
              <a:t>/Users/wentiange/afd-download/dsv4-flash-20260908-rps234/ep16_dp8tp2/chunk_16384/rps_2/repeat_1/result.json</a:t>
            </a:r>
          </a:p>
          <a:p xmlns:a="http://schemas.openxmlformats.org/drawingml/2006/main">
            <a:r>
              <a:t>/Users/wentiange/afd-download/dsv4-flash-20260908-rps234/ep16_dp8tp2/chunk_16384/rps_2/repeat_2/result.json</a:t>
            </a:r>
          </a:p>
          <a:p xmlns:a="http://schemas.openxmlformats.org/drawingml/2006/main">
            <a:r>
              <a:t>/Users/wentiange/afd-download/dsv4-flash-20260908-rps234/ep16_dp8tp2/chunk_16384/rps_2/repeat_3/result.json</a:t>
            </a:r>
          </a:p>
          <a:p xmlns:a="http://schemas.openxmlformats.org/drawingml/2006/main">
            <a:r>
              <a:t>/Users/wentiange/afd-download/dsv4-flash-20260908-rps234/ep16_dp8tp2/chunk_16384/rps_3/repeat_1/result.json</a:t>
            </a:r>
          </a:p>
          <a:p xmlns:a="http://schemas.openxmlformats.org/drawingml/2006/main">
            <a:r>
              <a:t>/Users/wentiange/afd-download/dsv4-flash-20260908-rps234/ep16_dp8tp2/chunk_16384/rps_3/repeat_2/result.json</a:t>
            </a:r>
          </a:p>
          <a:p xmlns:a="http://schemas.openxmlformats.org/drawingml/2006/main">
            <a:r>
              <a:t>/Users/wentiange/afd-download/dsv4-flash-20260908-rps234/ep16_dp8tp2/chunk_16384/rps_3/repeat_3/result.json</a:t>
            </a:r>
          </a:p>
          <a:p xmlns:a="http://schemas.openxmlformats.org/drawingml/2006/main">
            <a:r>
              <a:t>/Users/wentiange/afd-download/dsv4-flash-20260908-rps234/ep16_dp8tp2/chunk_16384/rps_4/repeat_1/result.json</a:t>
            </a:r>
          </a:p>
          <a:p xmlns:a="http://schemas.openxmlformats.org/drawingml/2006/main">
            <a:r>
              <a:t>/Users/wentiange/afd-download/dsv4-flash-20260908-rps234/ep16_dp8tp2/chunk_16384/rps_4/repeat_2/result.json</a:t>
            </a:r>
          </a:p>
          <a:p xmlns:a="http://schemas.openxmlformats.org/drawingml/2006/main">
            <a:r>
              <a:t>/Users/wentiange/afd-download/dsv4-flash-20260908-rps234/ep16_dp8tp2/chunk_16384/rps_4/repeat_3/result.json</a:t>
            </a:r>
          </a:p>
          <a:p xmlns:a="http://schemas.openxmlformats.org/drawingml/2006/main">
            <a:r>
              <a:t>/Users/wentiange/afd-download/dsv4-flash-20260908-rps234/afd_dp4tp2/chunk_65536/rps_3/repeat_1/metrics/attention_before.prom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/Users/wentiange/afd-download/dsv4-flash-20260908-rps234/afd_dp4tp2/chunk_65536/rps_3/repeat_3/metrics/attention_before.prom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/Users/wentiange/afd-download/dsv4-flash-20260908-rps234/afd_dp4tp2/chunk_65536/rps_3/repeat_3/metrics/attention_after.prom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/Users/wentiange/afd-download/dsv4-flash-20260908-rps234/afd_dp4tp2/chunk_65536/rps_4/repeat_1/metrics/attention_before.prom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/Users/wentiange/afd-download/dsv4-flash-20260908-rps234/afd_dp4tp2/chunk_65536/rps_4/repeat_1/metrics/attention_after.prom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/Users/wentiange/afd-download/dsv4-flash-20260908-rps234/afd_dp4tp2/chunk_65536/rps_4/repeat_2/metrics/attention_before.prom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/Users/wentiange/afd-download/dsv4-flash-20260908-rps234/afd_dp4tp2/chunk_65536/rps_4/repeat_2/metrics/attention_after.prom</a:t>
            </a:r>
          </a:p>
          <a:p xmlns:a="http://schemas.openxmlformats.org/drawingml/2006/main">
            <a:r>
              <a:t>/Users/wentiange/afd-download/dsv4-flash-20260908-rps234/afd_dp4tp2/chunk_65536/rps_4/repeat_3/metrics/attention_before.prom</a:t>
            </a:r>
          </a:p>
          <a:p xmlns:a="http://schemas.openxmlformats.org/drawingml/2006/main">
            <a:r>
              <a:t>/Users/wentiange/afd-download/dsv4-flash-20260908-rps234/afd_dp4tp2/chunk_65536/rps_4/repeat_3/metrics/attention_after.prom</a:t>
            </a:r>
          </a:p>
          <a:p xmlns:a="http://schemas.openxmlformats.org/drawingml/2006/main">
            <a:r>
              <a:t>/Users/wentiange/afd-download/dsv4-flash-20260908-afd-length-analysis/summary.csv</a:t>
            </a:r>
          </a:p>
          <a:p xmlns:a="http://schemas.openxmlformats.org/drawingml/2006/main">
            <a:r>
              <a:t>/Users/wentiange/afd-download/dsv4-flash-20260908-afd-request-share/requests.csv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下一步围绕 FFN 的同步、入图和通信控核开销开展优化。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lo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4096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4K","rates":{"2":{"at10":99.76128472222221,"scale":[100,100,100,100,100,100,100,100,100,100,99.76128472222221,91.84027777777779],"percentiles":{"25":1.1112057277932763,"50":1.816377775122722,"90":4.633404955267906,"95":6.008528912129502,"99":8.301711083514002},"failed":0},"3":{"at10":96.24565972222221,"scale":[100,100,100,100,100,100,100,100,100,99.71788194444444,96.24565972222221,73.95833333333333],"percentiles":{"25":1.837532591695587,"50":3.1865838735053935,"90":7.61622683207194,"95":9.197015212538341,"99":12.909390794734165},"failed":0},"4":{"at10":9.1796875,"scale":[99.63107638888889,98.00347222222223,93.48958333333333,85.30815972222221,76.28038194444444,65.42968750000001,49.69618055555556,32.443576388888886,21.571180555555554,15.668402777777779,9.1796875,3.103298611111111],"percentiles":{"25":22.171944693972666,"50":30.074087555830676,"90":47.33734494075179,"95":51.25458312562356,"99":56.949655518122036},"failed":0}}},{"name":"EP16 DP8TP2 4K","rates":{"2":{"at10":98.74131944444444,"scale":[100,100,100,100,100,100,100,100,100,99.95659722222223,98.74131944444444,89.21440972222221],"percentiles":{"25":1.230010274099186,"50":1.9753090164934595,"90":5.124845764910181,"95":6.483921441249549,"99":10.237622215350477},"failed":0},"3":{"at10":97.69965277777779,"scale":[100,100,100,100,100,100,100,100,100,99.97829861111111,97.69965277777779,82.13975694444444],"percentiles":{"25":1.5964741279215862,"50":2.531782894705733,"90":6.214728743303567,"95":8.024309556543207,"99":11.162746429940068},"failed":0},"4":{"at10":94.7265625,"scale":[100,100,100,100,100,100,100,100,99.97829861111111,99.50086805555556,94.7265625,69.37934027777777],"percentiles":{"25":2.167761188466102,"50":3.488759712781757,"90":8.144284384790808,"95":10.185274205170572,"99":12.986161493246144},"failed":0}}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lo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8192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8K","rates":{"2":{"at10":99.71788194444444,"scale":[100,100,100,100,100,100,100,100,100,99.97829861111111,99.71788194444444,87.84722222222221],"percentiles":{"25":1.7907607185964782,"50":2.5724083396295705,"90":5.2942909728735685,"95":6.622404955327511,"99":8.891578614215064},"failed":0},"3":{"at10":98.04687499999999,"scale":[100,100,100,100,100,100,100,100,100,99.97829861111111,98.04687499999999,71.22395833333333],"percentiles":{"25":2.57772664912045,"50":3.653233910600344,"90":7.249252452204625,"95":8.577872270718217,"99":11.05817665799211},"failed":0},"4":{"at10":62.521701388888886,"scale":[100,100,100,100,100,100,100,100,98.56770833333333,89.73524305555556,62.521701388888886,17.1875],"percentiles":{"25":5.95976707773904,"50":8.623764546588063,"90":15.062554584195217,"95":16.84744916856289,"99":20.385753283773862},"failed":0}}},{"name":"EP16 DP8TP2 8K","rates":{"2":{"at10":97.39583333333333,"scale":[100,100,100,100,100,100,100,100,100,99.89149305555556,97.39583333333333,77.03993055555556],"percentiles":{"25":2.2936930718521276,"50":3.252773870403568,"90":6.663616052207847,"95":8.250655280891806,"99":11.975677930718913},"failed":0},"3":{"at10":94.83506944444444,"scale":[100,100,100,100,100,100,100,100,100,99.43576388888889,94.83506944444444,63.020833333333336],"percentiles":{"25":3.1169630073321364,"50":4.207905201551815,"90":8.354183196400603,"95":10.071615917763362,"99":13.449840901745501},"failed":0},"4":{"at10":89.56163194444444,"scale":[100,100,100,100,100,100,100,100,99.95659722222221,98.52430555555556,89.56163194444444,48.00347222222222],"percentiles":{"25":3.733680306157718,"50":5.152407061619063,"90":10.120132042095065,"95":12.025209024005258,"99":15.901029686847105},"failed":0}}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lo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方法参考：DistServe, arXiv:2401.09670v3, Figure 8, https://arxiv.org/pdf/2401.09670 。论文同时考察TTFT与TPOT。本页为prefill-only TTFT达标率，不复用论文数值。用户指定基准TTFT≤10秒、90%目标。每轮1536条正式请求，无warmup；错误或非正/非有限TTFT记未达标。各轮达标率算术平均，不从分位数反推。所有系列均16 NPU die，左图x=总offered RPS/16，并非实际吞吐。右图固定总RPS4，阈值=10秒×Scale。三轮的135个分位数汇总值与原第17–19页全部核对。完整文件路径与SHA256见slo-data.json。AFD源：dsv4-flash-20260908-rps234；EP16源：afd_experiment_results_20260907_20260908/dsv4-flash-six-node-rerun-20260907/exp3_jcz_afd4、dsv4-flash/exp4_ep16_dp8tp2_jcz_afd5_20260907_2348。各点完整数据：{"mbt":16384,"series":[{"name":"AFD DP4TP2 64K","rates":{"2":{"at10":99.89149305555556,"scale":[99.97829861111111,99.97829861111111,99.97829861111111,99.97829861111111,99.97829861111111,99.97829861111111,99.97829861111111,99.97829861111111,99.97829861111111,99.97829861111111,99.89149305555556,95.42100694444444],"percentiles":{"25":0.649599902681075,"50":1.1067454607691616,"90":3.43778223527285,"95":4.7976982543089735,"99":6.97718446761991},"failed":1},"3":{"at10":97.8298611111111,"scale":[100,100,100,100,100,100,100,100,100,99.91319444444444,97.8298611111111,82.16145833333333],"percentiles":{"25":1.0241084224932517,"50":1.9707925617694855,"90":6.583986029416944,"95":8.420161043138554,"99":11.059541733462058},"failed":0},"4":{"at10":62.99913194444445,"scale":[99.97829861111111,99.97829861111111,99.97829861111111,99.97829861111111,99.97829861111111,99.97829861111111,99.97829861111111,99.86979166666667,98.41579861111111,90.25607638888889,62.99913194444445,26.71440972222222],"percentiles":{"25":4.810057254469332,"50":8.406920288689435,"90":14.75990702911901,"95":16.803805825781698,"99":20.284885105489156},"failed":1}}},{"name":"EP16 DP4TP4 16K","rates":{"2":{"at10":96.74479166666667,"scale":[100,100,100,100,100,100,100,100,100,99.78298611111111,96.74479166666667,56.705729166666664],"percentiles":{"25":3.551767404501637,"50":4.6893975387016935,"90":7.840256173784534,"95":9.162166531818608,"99":12.012135140970361},"failed":0},"3":{"at10":91.6015625,"scale":[100,100,100,100,100,100,100,100,99.95659722222223,99.4357638888889,91.6015625,32.400173611111114],"percentiles":{"25":4.689332753730317,"50":5.8233625671515865,"90":9.599189821009835,"95":11.047861258809766,"99":14.082038091309373},"failed":0},"4":{"at10":66.29774305555556,"scale":[100,100,100,100,100,100,100,99.95659722222221,99.67447916666667,94.68315972222223,66.29774305555556,12.999131944444445],"percentiles":{"25":6.088788283057511,"50":8.401742336029807,"90":13.611160033072034,"95":15.118597842752934,"99":18.246145718544735},"failed":0}}},{"name":"EP16 DP8TP2 16K","rates":{"2":{"at10":84.30989583333333,"scale":[100,100,100,100,100,100,100,99.97829861111111,99.84809027777777,97.4392361111111,84.30989583333333,19.227430555555557],"percentiles":{"25":5.426110147265717,"50":7.06239201206093,"90":11.337681417353451,"95":13.313225952986008,"99":16.565372069987166},"failed":0},"3":{"at10":63.975694444444436,"scale":[100,100,100,100,100,99.95659722222221,99.89149305555556,99.82638888888889,98.93663194444444,92.578125,63.975694444444436,3.1684027777777777],"percentiles":{"25":7.3458586429866655,"50":8.873912262419859,"90":14.12471725186333,"95":16.088032054171588,"99":19.753332204123343},"failed":0},"4":{"at10":59.59201388888889,"scale":[100,100,100,100,100,100,100,99.91319444444444,98.69791666666667,90.88541666666666,59.59201388888889,1.0416666666666667],"percentiles":{"25":7.481995730350415,"50":9.211385090835392,"90":14.688100746522347,"95":16.659023971762508,"99":20.541766609779263},"failed":0}}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dp64k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dp64k_slideMaster1.xml" Id="R905c11c29a41405c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d5f5d894c44a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f86e26893481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07d9f4091c9476c" /></Relationships>
</file>

<file path=ppt/slideLayouts/_rels/slo_slideLayout1.xml.rels><?xml version='1.0' encoding='utf-8'?>
<ns0:Relationships xmlns:ns0="http://schemas.openxmlformats.org/package/2006/relationships"><ns0:Relationship Type="http://schemas.openxmlformats.org/officeDocument/2006/relationships/slideMaster" Target="../slideMasters/slo_slideMaster1.xml" Id="R44f82266a36e448b" /></ns0:Relationships>
</file>

<file path=ppt/slideLayouts/dp64k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B9B59B1-7AB3-4C7D-903E-83E508E91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7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99B2CCA-0525-415A-8D15-98070A86263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5470FC-5A4B-4C4F-BC69-3A91EB799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EB28265-B6C2-42EE-B55A-32D6726BAC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2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99BFA26-DAC8-4F12-AE24-5ECF161520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2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o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dp64k_slideMaster1.xml.rels><?xml version='1.0' encoding='utf-8'?>
<ns0:Relationships xmlns:ns0="http://schemas.openxmlformats.org/package/2006/relationships"><ns0:Relationship Type="http://schemas.openxmlformats.org/officeDocument/2006/relationships/theme" Target="theme/dp64k_theme2.xml" Id="R2d9a83801e894bda" /><ns0:Relationship Type="http://schemas.openxmlformats.org/officeDocument/2006/relationships/slideLayout" Target="../slideLayouts/dp64k_slideLayout1.xml" Id="Rf23af5642dc24a82" /></ns0:Relationships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79d40699454703" /><Relationship Type="http://schemas.openxmlformats.org/officeDocument/2006/relationships/slideLayout" Target="/ppt/slideLayouts/slideLayout1.xml" Id="Rbe9d5fc8d96e4889" /><Relationship Type="http://schemas.openxmlformats.org/officeDocument/2006/relationships/slideLayout" Target="/ppt/slideLayouts/slideLayout2.xml" Id="R77f9d3c8d51c4cc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8b5bc15b61149cb" /><Relationship Type="http://schemas.openxmlformats.org/officeDocument/2006/relationships/slideLayout" Target="/ppt/slideLayouts/slideLayout3.xml" Id="R669a0d5f3bb4463d" /></Relationships>
</file>

<file path=ppt/slideMasters/_rels/slo_slideMaster1.xml.rels><?xml version='1.0' encoding='utf-8'?>
<ns0:Relationships xmlns:ns0="http://schemas.openxmlformats.org/package/2006/relationships"><ns0:Relationship Type="http://schemas.openxmlformats.org/officeDocument/2006/relationships/theme" Target="theme/slo_theme2.xml" Id="R66b5bdd1efe742b2" /><ns0:Relationship Type="http://schemas.openxmlformats.org/officeDocument/2006/relationships/slideLayout" Target="../slideLayouts/slo_slideLayout1.xml" Id="R4885ce948d8c4c4a" /></ns0:Relationships>
</file>

<file path=ppt/slideMasters/dp64k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af5642dc24a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9d5fc8d96e4889"/>
    <p:sldLayoutId xmlns:r="http://schemas.openxmlformats.org/officeDocument/2006/relationships" id="2147483650" r:id="R77f9d3c8d51c4c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669a0d5f3bb446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o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85ce948d8c4c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dp64k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slo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8876f5a0d47ef" /><Relationship Type="http://schemas.openxmlformats.org/officeDocument/2006/relationships/notesSlide" Target="/ppt/notesSlides/notesSlide1.xml" Id="R9112918e4f354b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b015c2c3a4e43" /><Relationship Type="http://schemas.openxmlformats.org/officeDocument/2006/relationships/image" Target="/ppt/media/image.png" Id="R622f75bada2b48d9" /><Relationship Type="http://schemas.openxmlformats.org/officeDocument/2006/relationships/notesSlide" Target="/ppt/notesSlides/notesSlide2.xml" Id="R02965ca6588244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ac14608f74e90" /><Relationship Type="http://schemas.openxmlformats.org/officeDocument/2006/relationships/image" Target="/ppt/media/image2.png" Id="Rf04c228ffc1a4502" /><Relationship Type="http://schemas.openxmlformats.org/officeDocument/2006/relationships/image" Target="/ppt/media/image3.png" Id="R0e607c8541124c12" /><Relationship Type="http://schemas.openxmlformats.org/officeDocument/2006/relationships/image" Target="/ppt/media/image4.png" Id="R4eea222766fb43e2" /><Relationship Type="http://schemas.openxmlformats.org/officeDocument/2006/relationships/image" Target="/ppt/media/image5.png" Id="R5b5049cc5ec14000" /><Relationship Type="http://schemas.openxmlformats.org/officeDocument/2006/relationships/image" Target="/ppt/media/image6.png" Id="Rf6b552ecf6444cd1" /><Relationship Type="http://schemas.openxmlformats.org/officeDocument/2006/relationships/notesSlide" Target="/ppt/notesSlides/notesSlide3.xml" Id="R2638105aa8af47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fc2b1f19a46ce" /><Relationship Type="http://schemas.openxmlformats.org/officeDocument/2006/relationships/image" Target="/ppt/media/image7.png" Id="Rcbdea1ce162f4852" /><Relationship Type="http://schemas.openxmlformats.org/officeDocument/2006/relationships/notesSlide" Target="/ppt/notesSlides/notesSlide4.xml" Id="Rd589ddf860744d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df3e659794987" /><Relationship Type="http://schemas.openxmlformats.org/officeDocument/2006/relationships/image" Target="/ppt/media/image8.png" Id="Re10c6b8c62fd44d6" /><Relationship Type="http://schemas.openxmlformats.org/officeDocument/2006/relationships/notesSlide" Target="/ppt/notesSlides/notesSlide5.xml" Id="Rb2cea5234fdd41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feaf229d5487e" /><Relationship Type="http://schemas.openxmlformats.org/officeDocument/2006/relationships/image" Target="/ppt/media/image9.png" Id="Re1d45c99bcbd4364" /><Relationship Type="http://schemas.openxmlformats.org/officeDocument/2006/relationships/notesSlide" Target="/ppt/notesSlides/notesSlide6.xml" Id="R33b4bcdf40664d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da07de0bf40df" /><Relationship Type="http://schemas.openxmlformats.org/officeDocument/2006/relationships/image" Target="/ppt/media/image10.png" Id="R45d3d4c6b8e442fc" /><Relationship Type="http://schemas.openxmlformats.org/officeDocument/2006/relationships/notesSlide" Target="/ppt/notesSlides/notesSlide7.xml" Id="R6a7160375a184f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fdb5669e74770" /><Relationship Type="http://schemas.openxmlformats.org/officeDocument/2006/relationships/image" Target="/ppt/media/image11.png" Id="Ra16099ba22584a18" /><Relationship Type="http://schemas.openxmlformats.org/officeDocument/2006/relationships/notesSlide" Target="/ppt/notesSlides/notesSlide8.xml" Id="R90d4891f47894f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bc4bba29824dd9" /><Relationship Type="http://schemas.openxmlformats.org/officeDocument/2006/relationships/image" Target="/ppt/media/image12.png" Id="R14f00ea4bf5b459c" /><Relationship Type="http://schemas.openxmlformats.org/officeDocument/2006/relationships/image" Target="/ppt/media/image13.png" Id="R7d48aa6fe83b49eb" /><Relationship Type="http://schemas.openxmlformats.org/officeDocument/2006/relationships/image" Target="/ppt/media/image14.png" Id="Rdda3c79ecfe443cc" /><Relationship Type="http://schemas.openxmlformats.org/officeDocument/2006/relationships/notesSlide" Target="/ppt/notesSlides/notesSlide9.xml" Id="Rd94da1985f3b40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0855de2bb42dd" /><Relationship Type="http://schemas.openxmlformats.org/officeDocument/2006/relationships/image" Target="/ppt/media/image12.png" Id="R17472a78daa7438d" /><Relationship Type="http://schemas.openxmlformats.org/officeDocument/2006/relationships/image" Target="/ppt/media/image13.png" Id="R3505814d23cb43af" /><Relationship Type="http://schemas.openxmlformats.org/officeDocument/2006/relationships/image" Target="/ppt/media/image14.png" Id="R177ecac953f64a7c" /><Relationship Type="http://schemas.openxmlformats.org/officeDocument/2006/relationships/notesSlide" Target="/ppt/notesSlides/notesSlide10.xml" Id="R3d5d644362fc4d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b7d0fc324411e" /><Relationship Type="http://schemas.openxmlformats.org/officeDocument/2006/relationships/image" Target="/ppt/media/image15.png" Id="R5d4d773ce12b4400" /><Relationship Type="http://schemas.openxmlformats.org/officeDocument/2006/relationships/image" Target="/ppt/media/image16.png" Id="R35c596caf460495d" /><Relationship Type="http://schemas.openxmlformats.org/officeDocument/2006/relationships/notesSlide" Target="/ppt/notesSlides/notesSlide11.xml" Id="Re441897fbe0549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f093d3fb54332" /><Relationship Type="http://schemas.openxmlformats.org/officeDocument/2006/relationships/image" Target="/ppt/media/image17.png" Id="R236200ab6442483d" /><Relationship Type="http://schemas.openxmlformats.org/officeDocument/2006/relationships/image" Target="/ppt/media/image18.png" Id="Rb9e1b60ebf7143e7" /><Relationship Type="http://schemas.openxmlformats.org/officeDocument/2006/relationships/notesSlide" Target="/ppt/notesSlides/notesSlide12.xml" Id="R9d0a3480084743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2f8f6e6b0c4dbb" /><Relationship Type="http://schemas.openxmlformats.org/officeDocument/2006/relationships/notesSlide" Target="/ppt/notesSlides/notesSlide13.xml" Id="Rd0491bc2e3bf46a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e18cf55b441d" /><Relationship Type="http://schemas.openxmlformats.org/officeDocument/2006/relationships/image" Target="/ppt/media/image19.png" Id="Rc546f683dadf459f" /><Relationship Type="http://schemas.openxmlformats.org/officeDocument/2006/relationships/hyperlink" Target="https://github.com/vllm-project/afd-plugin" TargetMode="External" Id="R9a1e2f319d6e4f49" /><Relationship Type="http://schemas.openxmlformats.org/officeDocument/2006/relationships/image" Target="/ppt/media/image20.png" Id="Rb4e7168167384519" /><Relationship Type="http://schemas.openxmlformats.org/officeDocument/2006/relationships/hyperlink" Target="https://vllm-dev.slack.com/archives/C0B4C1D84GG" TargetMode="External" Id="Rf6a118ecd2984171" /><Relationship Type="http://schemas.openxmlformats.org/officeDocument/2006/relationships/image" Target="/ppt/media/image21.png" Id="R2393f99f31594d6c" /><Relationship Type="http://schemas.openxmlformats.org/officeDocument/2006/relationships/notesSlide" Target="/ppt/notesSlides/notesSlide14.xml" Id="R7b1e03ecf9f54de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53e814b964a29" /><Relationship Type="http://schemas.openxmlformats.org/officeDocument/2006/relationships/notesSlide" Target="/ppt/notesSlides/notesSlide15.xml" Id="R099030d38d0549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56c8b03564a4e" /><Relationship Type="http://schemas.openxmlformats.org/officeDocument/2006/relationships/chart" Target="/ppt/slides/charts/chart1.xml" Id="R338ac37c917e400b" /><Relationship Type="http://schemas.openxmlformats.org/officeDocument/2006/relationships/notesSlide" Target="/ppt/notesSlides/notesSlide16.xml" Id="R0711e179e51a466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dc19203494de1" /><Relationship Type="http://schemas.openxmlformats.org/officeDocument/2006/relationships/chart" Target="/ppt/slides/charts/chart2.xml" Id="R1603e2f45fa041f8" /><Relationship Type="http://schemas.openxmlformats.org/officeDocument/2006/relationships/chart" Target="/ppt/slides/charts/chart3.xml" Id="Rea77a01857134206" /><Relationship Type="http://schemas.openxmlformats.org/officeDocument/2006/relationships/chart" Target="/ppt/slides/charts/chart4.xml" Id="R23301f2f79ad412b" /><Relationship Type="http://schemas.openxmlformats.org/officeDocument/2006/relationships/chart" Target="/ppt/slides/charts/chart5.xml" Id="R9b6686489eb94935" /><Relationship Type="http://schemas.openxmlformats.org/officeDocument/2006/relationships/chart" Target="/ppt/slides/charts/chart6.xml" Id="R9773b3c5b87f4dbc" /><Relationship Type="http://schemas.openxmlformats.org/officeDocument/2006/relationships/notesSlide" Target="/ppt/notesSlides/notesSlide17.xml" Id="R86272d11b9c240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ab57ea4b54cc8" /><Relationship Type="http://schemas.openxmlformats.org/officeDocument/2006/relationships/chart" Target="/ppt/slides/charts/chart7.xml" Id="R7dd543df468549dd" /><Relationship Type="http://schemas.openxmlformats.org/officeDocument/2006/relationships/chart" Target="/ppt/slides/charts/chart8.xml" Id="R5f07452e5bd24211" /><Relationship Type="http://schemas.openxmlformats.org/officeDocument/2006/relationships/chart" Target="/ppt/slides/charts/chart9.xml" Id="R99b0e8f0cd0a4ca0" /><Relationship Type="http://schemas.openxmlformats.org/officeDocument/2006/relationships/chart" Target="/ppt/slides/charts/chart10.xml" Id="R7d60958ee8944684" /><Relationship Type="http://schemas.openxmlformats.org/officeDocument/2006/relationships/chart" Target="/ppt/slides/charts/chart11.xml" Id="R2d8c8d0090d94137" /><Relationship Type="http://schemas.openxmlformats.org/officeDocument/2006/relationships/notesSlide" Target="/ppt/notesSlides/notesSlide18.xml" Id="R55bc8ea0891a462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e7c0ed1884190" /><Relationship Type="http://schemas.openxmlformats.org/officeDocument/2006/relationships/chart" Target="/ppt/slides/charts/chart12.xml" Id="Rfdd2ab9e6d9349dc" /><Relationship Type="http://schemas.openxmlformats.org/officeDocument/2006/relationships/chart" Target="/ppt/slides/charts/chart13.xml" Id="Rae972cb31a7048aa" /><Relationship Type="http://schemas.openxmlformats.org/officeDocument/2006/relationships/chart" Target="/ppt/slides/charts/chart14.xml" Id="R39c7132c17454a77" /><Relationship Type="http://schemas.openxmlformats.org/officeDocument/2006/relationships/chart" Target="/ppt/slides/charts/chart15.xml" Id="R793d602895ea4d36" /><Relationship Type="http://schemas.openxmlformats.org/officeDocument/2006/relationships/chart" Target="/ppt/slides/charts/chart16.xml" Id="Rf488ad370e3543d6" /><Relationship Type="http://schemas.openxmlformats.org/officeDocument/2006/relationships/notesSlide" Target="/ppt/notesSlides/notesSlide19.xml" Id="R268e3824defc4d4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2a207fc8714b53" /><Relationship Type="http://schemas.openxmlformats.org/officeDocument/2006/relationships/chart" Target="/ppt/slides/charts/chart17.xml" Id="R2ba762d8955f4574" /><Relationship Type="http://schemas.openxmlformats.org/officeDocument/2006/relationships/notesSlide" Target="/ppt/notesSlides/notesSlide20.xml" Id="R5c20be3e162649c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24ce8ccbbe34bb9" /><Relationship Type="http://schemas.openxmlformats.org/officeDocument/2006/relationships/notesSlide" Target="/ppt/notesSlides/notesSlide21.xml" Id="Ree5102ee9c304b3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e553125d5740ae" /><Relationship Type="http://schemas.openxmlformats.org/officeDocument/2006/relationships/chart" Target="/ppt/slides/charts/chart18.xml" Id="R81a601f309564dbf" /><Relationship Type="http://schemas.openxmlformats.org/officeDocument/2006/relationships/notesSlide" Target="/ppt/notesSlides/notesSlide22.xml" Id="R7463c7a684de43d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e479884ebc4eda" /><Relationship Type="http://schemas.openxmlformats.org/officeDocument/2006/relationships/notesSlide" Target="/ppt/notesSlides/notesSlide23.xml" Id="Rfece8f5efe45432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18dd1aec514e15" /><Relationship Type="http://schemas.openxmlformats.org/officeDocument/2006/relationships/notesSlide" Target="/ppt/notesSlides/notesSlide24.xml" Id="R34d4cc26569a48f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9f89ad0c09f4888" /><Relationship Type="http://schemas.openxmlformats.org/officeDocument/2006/relationships/notesSlide" Target="/ppt/notesSlides/notesSlide25.xml" Id="R581822665662434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e5a2eada2e241c5" /><Relationship Type="http://schemas.openxmlformats.org/officeDocument/2006/relationships/chart" Target="/ppt/slides/charts/chart19.xml" Id="Raf92f447ad354210" /><Relationship Type="http://schemas.openxmlformats.org/officeDocument/2006/relationships/chart" Target="/ppt/slides/charts/chart20.xml" Id="Rce2494b6d5cd483d" /><Relationship Type="http://schemas.openxmlformats.org/officeDocument/2006/relationships/chart" Target="/ppt/slides/charts/chart21.xml" Id="R47dda3b143454db5" /><Relationship Type="http://schemas.openxmlformats.org/officeDocument/2006/relationships/chart" Target="/ppt/slides/charts/chart22.xml" Id="R7d2f20e15140419c" /><Relationship Type="http://schemas.openxmlformats.org/officeDocument/2006/relationships/chart" Target="/ppt/slides/charts/chart23.xml" Id="R8a0eecd4ee534a07" /><Relationship Type="http://schemas.openxmlformats.org/officeDocument/2006/relationships/notesSlide" Target="/ppt/notesSlides/notesSlide26.xml" Id="Rc21a5c080f3a45f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5729fa00244ae8" /><Relationship Type="http://schemas.openxmlformats.org/officeDocument/2006/relationships/chart" Target="/ppt/slides/charts/chart24.xml" Id="R1d1773d0fd99488e" /><Relationship Type="http://schemas.openxmlformats.org/officeDocument/2006/relationships/chart" Target="/ppt/slides/charts/chart25.xml" Id="R8661a46fa0114429" /><Relationship Type="http://schemas.openxmlformats.org/officeDocument/2006/relationships/chart" Target="/ppt/slides/charts/chart26.xml" Id="R57a926890a2e4a60" /><Relationship Type="http://schemas.openxmlformats.org/officeDocument/2006/relationships/chart" Target="/ppt/slides/charts/chart27.xml" Id="Ra05a2a6abac34e84" /><Relationship Type="http://schemas.openxmlformats.org/officeDocument/2006/relationships/chart" Target="/ppt/slides/charts/chart28.xml" Id="R2e4153b13e9b4b89" /><Relationship Type="http://schemas.openxmlformats.org/officeDocument/2006/relationships/notesSlide" Target="/ppt/notesSlides/notesSlide27.xml" Id="Rd502c4bcead64c5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e517ff98304aa2" /><Relationship Type="http://schemas.openxmlformats.org/officeDocument/2006/relationships/chart" Target="/ppt/slides/charts/chart29.xml" Id="R7b27ca2ebd384ed0" /><Relationship Type="http://schemas.openxmlformats.org/officeDocument/2006/relationships/chart" Target="/ppt/slides/charts/chart30.xml" Id="R98650a83a72042e1" /><Relationship Type="http://schemas.openxmlformats.org/officeDocument/2006/relationships/chart" Target="/ppt/slides/charts/chart31.xml" Id="R9657f48aad254edf" /><Relationship Type="http://schemas.openxmlformats.org/officeDocument/2006/relationships/chart" Target="/ppt/slides/charts/chart32.xml" Id="R8ba1aa7a95f5412e" /><Relationship Type="http://schemas.openxmlformats.org/officeDocument/2006/relationships/chart" Target="/ppt/slides/charts/chart33.xml" Id="Rc05ccb13000c4d14" /><Relationship Type="http://schemas.openxmlformats.org/officeDocument/2006/relationships/notesSlide" Target="/ppt/notesSlides/notesSlide28.xml" Id="R052ea659c6b34b6e" /></Relationships>
</file>

<file path=ppt/slides/_rels/slide29.xml.rels><?xml version='1.0' encoding='utf-8'?>
<ns0:Relationships xmlns:ns0="http://schemas.openxmlformats.org/package/2006/relationships"><ns0:Relationship Type="http://schemas.openxmlformats.org/officeDocument/2006/relationships/slideLayout" Target="../slideLayouts/dp64k_slideLayout1.xml" Id="R63570b07b6bc4a49" /><ns0:Relationship Type="http://schemas.openxmlformats.org/officeDocument/2006/relationships/image" Target="../media/dp64k_image.png" Id="R9c3061a1f8e049ee" /><ns0:Relationship Type="http://schemas.openxmlformats.org/officeDocument/2006/relationships/notesSlide" Target="../notesSlides/dp64k_notesSlide1.xml" Id="R8363c116c2e54cdd" /></ns0:Relationships>
</file>

<file path=ppt/slides/_rels/slide30.xml.rels><?xml version='1.0' encoding='utf-8'?>
<ns0:Relationships xmlns:ns0="http://schemas.openxmlformats.org/package/2006/relationships"><ns0:Relationship Type="http://schemas.openxmlformats.org/officeDocument/2006/relationships/slideLayout" Target="../slideLayouts/slo_slideLayout1.xml" Id="Rb6917dedc3c1414e" /><ns0:Relationship Type="http://schemas.openxmlformats.org/officeDocument/2006/relationships/chart" Target="charts/slo_chart1.xml" Id="Rd9a0c585251846cd" /><ns0:Relationship Type="http://schemas.openxmlformats.org/officeDocument/2006/relationships/chart" Target="charts/slo_chart2.xml" Id="Rf0cef07eb8244e7e" /><ns0:Relationship Type="http://schemas.openxmlformats.org/officeDocument/2006/relationships/notesSlide" Target="../notesSlides/slo_notesSlide1.xml" Id="R13565b1a4d7346ad" /></ns0:Relationships>
</file>

<file path=ppt/slides/_rels/slide31.xml.rels><?xml version='1.0' encoding='utf-8'?>
<ns0:Relationships xmlns:ns0="http://schemas.openxmlformats.org/package/2006/relationships"><ns0:Relationship Type="http://schemas.openxmlformats.org/officeDocument/2006/relationships/slideLayout" Target="../slideLayouts/slo_slideLayout1.xml" Id="Rcaa469b5b1e349f0" /><ns0:Relationship Type="http://schemas.openxmlformats.org/officeDocument/2006/relationships/chart" Target="charts/slo_chart3.xml" Id="R8a00d2b15c5c467d" /><ns0:Relationship Type="http://schemas.openxmlformats.org/officeDocument/2006/relationships/chart" Target="charts/slo_chart4.xml" Id="Rcff1cb9a69804820" /><ns0:Relationship Type="http://schemas.openxmlformats.org/officeDocument/2006/relationships/notesSlide" Target="../notesSlides/slo_notesSlide2.xml" Id="R07e20852dfcf4aca" /></ns0:Relationships>
</file>

<file path=ppt/slides/_rels/slide32.xml.rels><?xml version='1.0' encoding='utf-8'?>
<ns0:Relationships xmlns:ns0="http://schemas.openxmlformats.org/package/2006/relationships"><ns0:Relationship Type="http://schemas.openxmlformats.org/officeDocument/2006/relationships/slideLayout" Target="../slideLayouts/slo_slideLayout1.xml" Id="R7116aba597344d78" /><ns0:Relationship Type="http://schemas.openxmlformats.org/officeDocument/2006/relationships/chart" Target="charts/slo_chart5.xml" Id="Rd9d7e61d844a48dc" /><ns0:Relationship Type="http://schemas.openxmlformats.org/officeDocument/2006/relationships/chart" Target="charts/slo_chart6.xml" Id="Rb3a318aed28b4307" /><ns0:Relationship Type="http://schemas.openxmlformats.org/officeDocument/2006/relationships/notesSlide" Target="../notesSlides/slo_notesSlide3.xml" Id="Rf2da6f490a4f4dd3" /></ns0:Relationships>
</file>

<file path=ppt/slides/charts/_rels/slo_chart1.xml.rels><?xml version='1.0' encoding='utf-8'?>
<ns0:Relationships xmlns:ns0="http://schemas.openxmlformats.org/package/2006/relationships"><ns0:Relationship Id="rIdChartSnapshot1" Type="http://schemas.openxmlformats.org/officeDocument/2006/relationships/package" Target="../../embeddings/slo_chart-data-snapshot-001.xlsx" /></ns0:Relationships>
</file>

<file path=ppt/slides/charts/_rels/slo_chart2.xml.rels><?xml version='1.0' encoding='utf-8'?>
<ns0:Relationships xmlns:ns0="http://schemas.openxmlformats.org/package/2006/relationships"><ns0:Relationship Id="rIdChartSnapshot1" Type="http://schemas.openxmlformats.org/officeDocument/2006/relationships/package" Target="../../embeddings/slo_chart-data-snapshot-002.xlsx" /></ns0:Relationships>
</file>

<file path=ppt/slides/charts/_rels/slo_chart3.xml.rels><?xml version='1.0' encoding='utf-8'?>
<ns0:Relationships xmlns:ns0="http://schemas.openxmlformats.org/package/2006/relationships"><ns0:Relationship Id="rIdChartSnapshot1" Type="http://schemas.openxmlformats.org/officeDocument/2006/relationships/package" Target="../../embeddings/slo_chart-data-snapshot-003.xlsx" /></ns0:Relationships>
</file>

<file path=ppt/slides/charts/_rels/slo_chart4.xml.rels><?xml version='1.0' encoding='utf-8'?>
<ns0:Relationships xmlns:ns0="http://schemas.openxmlformats.org/package/2006/relationships"><ns0:Relationship Id="rIdChartSnapshot1" Type="http://schemas.openxmlformats.org/officeDocument/2006/relationships/package" Target="../../embeddings/slo_chart-data-snapshot-004.xlsx" /></ns0:Relationships>
</file>

<file path=ppt/slides/charts/_rels/slo_chart5.xml.rels><?xml version='1.0' encoding='utf-8'?>
<ns0:Relationships xmlns:ns0="http://schemas.openxmlformats.org/package/2006/relationships"><ns0:Relationship Id="rIdChartSnapshot1" Type="http://schemas.openxmlformats.org/officeDocument/2006/relationships/package" Target="../../embeddings/slo_chart-data-snapshot-005.xlsx" /></ns0:Relationships>
</file>

<file path=ppt/slides/charts/_rels/slo_chart6.xml.rels><?xml version='1.0' encoding='utf-8'?>
<ns0:Relationships xmlns:ns0="http://schemas.openxmlformats.org/package/2006/relationships"><ns0:Relationship Id="rIdChartSnapshot1" Type="http://schemas.openxmlformats.org/officeDocument/2006/relationships/package" Target="../../embeddings/slo_chart-data-snapshot-006.xlsx" /></ns0: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请求占比</c:v>
          </c:tx>
          <c:spPr>
            <a:solidFill xmlns:a="http://schemas.openxmlformats.org/drawingml/2006/main">
              <a:srgbClr val="4472C4"/>
            </a:solidFill>
            <a:ln xmlns:a="http://schemas.openxmlformats.org/drawingml/2006/main" w="9525">
              <a:solidFill>
                <a:srgbClr val="4472C4"/>
              </a:solidFill>
              <a:prstDash val="solid"/>
            </a:ln>
          </c:spPr>
          <c:dPt>
            <c:idx val="0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472C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2A90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2A900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F2A900"/>
              </a:solidFill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75" b="1">
                    <a:solidFill>
                      <a:srgbClr val="222222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Data'!$A$2:$A$7</c:f>
              <c:strCache>
                <c:ptCount val="6"/>
                <c:pt idx="0">
                  <c:v>1–1K</c:v>
                </c:pt>
                <c:pt idx="1">
                  <c:v>1K–4K</c:v>
                </c:pt>
                <c:pt idx="2">
                  <c:v>4K–8K</c:v>
                </c:pt>
                <c:pt idx="3">
                  <c:v>8K–16K</c:v>
                </c:pt>
                <c:pt idx="4">
                  <c:v>16K–32K</c:v>
                </c:pt>
                <c:pt idx="5">
                  <c:v>32K–64K</c:v>
                </c:pt>
              </c:strCache>
            </c:strRef>
          </c:cat>
          <c:val>
            <c:numRef>
              <c:f>'Chart Data'!$B$2:$B$7</c:f>
              <c:numCache>
                <c:formatCode>0"%"</c:formatCode>
                <c:ptCount val="6"/>
                <c:pt idx="0">
                  <c:v>11.7</c:v>
                </c:pt>
                <c:pt idx="1">
                  <c:v>23.1</c:v>
                </c:pt>
                <c:pt idx="2">
                  <c:v>22.3</c:v>
                </c:pt>
                <c:pt idx="3">
                  <c:v>22.7</c:v>
                </c:pt>
                <c:pt idx="4">
                  <c:v>15.5</c:v>
                </c:pt>
                <c:pt idx="5">
                  <c:v>4.8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1.111</c:v>
                </c:pt>
                <c:pt idx="1">
                  <c:v>1.838</c:v>
                </c:pt>
                <c:pt idx="2">
                  <c:v>22.172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1.23</c:v>
                </c:pt>
                <c:pt idx="1">
                  <c:v>1.596</c:v>
                </c:pt>
                <c:pt idx="2">
                  <c:v>2.168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1.816</c:v>
                </c:pt>
                <c:pt idx="1">
                  <c:v>3.187</c:v>
                </c:pt>
                <c:pt idx="2">
                  <c:v>30.074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1.975</c:v>
                </c:pt>
                <c:pt idx="1">
                  <c:v>2.532</c:v>
                </c:pt>
                <c:pt idx="2">
                  <c:v>3.489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4.633</c:v>
                </c:pt>
                <c:pt idx="1">
                  <c:v>7.616</c:v>
                </c:pt>
                <c:pt idx="2">
                  <c:v>47.337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5.125</c:v>
                </c:pt>
                <c:pt idx="1">
                  <c:v>6.215</c:v>
                </c:pt>
                <c:pt idx="2">
                  <c:v>8.144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6.009</c:v>
                </c:pt>
                <c:pt idx="1">
                  <c:v>9.197</c:v>
                </c:pt>
                <c:pt idx="2">
                  <c:v>51.255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6.484</c:v>
                </c:pt>
                <c:pt idx="1">
                  <c:v>8.024</c:v>
                </c:pt>
                <c:pt idx="2">
                  <c:v>10.185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8.302</c:v>
                </c:pt>
                <c:pt idx="1">
                  <c:v>12.909</c:v>
                </c:pt>
                <c:pt idx="2">
                  <c:v>56.95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10.238</c:v>
                </c:pt>
                <c:pt idx="1">
                  <c:v>11.163</c:v>
                </c:pt>
                <c:pt idx="2">
                  <c:v>12.986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1.791</c:v>
                </c:pt>
                <c:pt idx="1">
                  <c:v>2.578</c:v>
                </c:pt>
                <c:pt idx="2">
                  <c:v>5.96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2.294</c:v>
                </c:pt>
                <c:pt idx="1">
                  <c:v>3.117</c:v>
                </c:pt>
                <c:pt idx="2">
                  <c:v>3.734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2.572</c:v>
                </c:pt>
                <c:pt idx="1">
                  <c:v>3.653</c:v>
                </c:pt>
                <c:pt idx="2">
                  <c:v>8.624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3.253</c:v>
                </c:pt>
                <c:pt idx="1">
                  <c:v>4.208</c:v>
                </c:pt>
                <c:pt idx="2">
                  <c:v>5.152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5.294</c:v>
                </c:pt>
                <c:pt idx="1">
                  <c:v>7.249</c:v>
                </c:pt>
                <c:pt idx="2">
                  <c:v>15.063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6.664</c:v>
                </c:pt>
                <c:pt idx="1">
                  <c:v>8.354</c:v>
                </c:pt>
                <c:pt idx="2">
                  <c:v>10.12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6.622</c:v>
                </c:pt>
                <c:pt idx="1">
                  <c:v>8.578</c:v>
                </c:pt>
                <c:pt idx="2">
                  <c:v>16.847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8.251</c:v>
                </c:pt>
                <c:pt idx="1">
                  <c:v>10.072</c:v>
                </c:pt>
                <c:pt idx="2">
                  <c:v>12.025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8.892</c:v>
                </c:pt>
                <c:pt idx="1">
                  <c:v>11.058</c:v>
                </c:pt>
                <c:pt idx="2">
                  <c:v>20.386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11.976</c:v>
                </c:pt>
                <c:pt idx="1">
                  <c:v>13.45</c:v>
                </c:pt>
                <c:pt idx="2">
                  <c:v>15.901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0.65</c:v>
                </c:pt>
                <c:pt idx="1">
                  <c:v>1.024</c:v>
                </c:pt>
                <c:pt idx="2">
                  <c:v>4.81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3.552</c:v>
                </c:pt>
                <c:pt idx="1">
                  <c:v>4.689</c:v>
                </c:pt>
                <c:pt idx="2">
                  <c:v>6.089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5.426</c:v>
                </c:pt>
                <c:pt idx="1">
                  <c:v>7.346</c:v>
                </c:pt>
                <c:pt idx="2">
                  <c:v>7.482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1.107</c:v>
                </c:pt>
                <c:pt idx="1">
                  <c:v>1.971</c:v>
                </c:pt>
                <c:pt idx="2">
                  <c:v>8.407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4.689</c:v>
                </c:pt>
                <c:pt idx="1">
                  <c:v>5.823</c:v>
                </c:pt>
                <c:pt idx="2">
                  <c:v>8.402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7.062</c:v>
                </c:pt>
                <c:pt idx="1">
                  <c:v>8.874</c:v>
                </c:pt>
                <c:pt idx="2">
                  <c:v>9.211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3.438</c:v>
                </c:pt>
                <c:pt idx="1">
                  <c:v>6.584</c:v>
                </c:pt>
                <c:pt idx="2">
                  <c:v>14.76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7.84</c:v>
                </c:pt>
                <c:pt idx="1">
                  <c:v>9.599</c:v>
                </c:pt>
                <c:pt idx="2">
                  <c:v>13.611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11.338</c:v>
                </c:pt>
                <c:pt idx="1">
                  <c:v>14.125</c:v>
                </c:pt>
                <c:pt idx="2">
                  <c:v>14.688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4.798</c:v>
                </c:pt>
                <c:pt idx="1">
                  <c:v>8.42</c:v>
                </c:pt>
                <c:pt idx="2">
                  <c:v>16.804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9.162</c:v>
                </c:pt>
                <c:pt idx="1">
                  <c:v>11.048</c:v>
                </c:pt>
                <c:pt idx="2">
                  <c:v>15.119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13.313</c:v>
                </c:pt>
                <c:pt idx="1">
                  <c:v>16.088</c:v>
                </c:pt>
                <c:pt idx="2">
                  <c:v>16.659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latin typeface="微软雅黑"/>
                <a:ea typeface="微软雅黑"/>
                <a:cs typeface="微软雅黑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latin typeface="微软雅黑"/>
              <a:ea typeface="微软雅黑"/>
              <a:cs typeface="微软雅黑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6.977</c:v>
                </c:pt>
                <c:pt idx="1">
                  <c:v>11.06</c:v>
                </c:pt>
                <c:pt idx="2">
                  <c:v>20.285</c:v>
                </c:pt>
              </c:numCache>
            </c:numRef>
          </c:val>
          <c:smooth val="0"/>
        </c:ser>
        <c:ser>
          <c:idx val="1"/>
          <c:order val="1"/>
          <c:tx>
            <c:v>DP4TP4</c:v>
          </c:tx>
          <c:spPr>
            <a:ln xmlns:a="http://schemas.openxmlformats.org/drawingml/2006/main" w="19050">
              <a:solidFill>
                <a:srgbClr val="548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12.012</c:v>
                </c:pt>
                <c:pt idx="1">
                  <c:v>14.082</c:v>
                </c:pt>
                <c:pt idx="2">
                  <c:v>18.246</c:v>
                </c:pt>
              </c:numCache>
            </c:numRef>
          </c:val>
          <c:smooth val="0"/>
        </c:ser>
        <c:ser>
          <c:idx val="2"/>
          <c:order val="2"/>
          <c:tx>
            <c:v>DP8TP2</c:v>
          </c:tx>
          <c:spPr>
            <a:ln xmlns:a="http://schemas.openxmlformats.org/drawingml/2006/main" w="19050">
              <a:solidFill>
                <a:srgbClr val="4472C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16.565</c:v>
                </c:pt>
                <c:pt idx="1">
                  <c:v>19.753</c:v>
                </c:pt>
                <c:pt idx="2">
                  <c:v>20.542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5715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4763">
            <a:solidFill>
              <a:srgbClr val="CCCCC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7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8K</c:v>
          </c:tx>
          <c:spPr>
            <a:ln xmlns:a="http://schemas.openxmlformats.org/drawingml/2006/main" w="19050">
              <a:solidFill>
                <a:srgbClr val="C000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00000"/>
              </a:solidFill>
            </c:spPr>
          </c:marker>
          <c:cat>
            <c:strRef>
              <c:f>'Chart Data'!$A$2:$A$4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1.974441</c:v>
                </c:pt>
                <c:pt idx="1">
                  <c:v>4.004952</c:v>
                </c:pt>
                <c:pt idx="2">
                  <c:v>32.115772</c:v>
                </c:pt>
              </c:numCache>
            </c:numRef>
          </c:val>
          <c:smooth val="0"/>
        </c:ser>
        <c:ser>
          <c:idx val="1"/>
          <c:order val="1"/>
          <c:tx>
            <c:v>16K</c:v>
          </c:tx>
          <c:spPr>
            <a:ln xmlns:a="http://schemas.openxmlformats.org/drawingml/2006/main" w="19050">
              <a:solidFill>
                <a:srgbClr val="2B50A4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B50A4"/>
              </a:solidFill>
            </c:spPr>
          </c:marker>
          <c:cat>
            <c:strRef>
              <c:f>'Chart Data'!$C$2:$C$4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1.535552</c:v>
                </c:pt>
                <c:pt idx="1">
                  <c:v>2.628173</c:v>
                </c:pt>
                <c:pt idx="2">
                  <c:v>10.155534</c:v>
                </c:pt>
              </c:numCache>
            </c:numRef>
          </c:val>
          <c:smooth val="0"/>
        </c:ser>
        <c:ser>
          <c:idx val="2"/>
          <c:order val="2"/>
          <c:tx>
            <c:v>32K</c:v>
          </c:tx>
          <c:spPr>
            <a:ln xmlns:a="http://schemas.openxmlformats.org/drawingml/2006/main" w="19050">
              <a:solidFill>
                <a:srgbClr val="548A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8A00"/>
              </a:solidFill>
            </c:spPr>
          </c:marker>
          <c:cat>
            <c:strRef>
              <c:f>'Chart Data'!$E$2:$E$4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1.671063</c:v>
                </c:pt>
                <c:pt idx="1">
                  <c:v>2.76739</c:v>
                </c:pt>
                <c:pt idx="2">
                  <c:v>7.5424</c:v>
                </c:pt>
              </c:numCache>
            </c:numRef>
          </c:val>
          <c:smooth val="0"/>
        </c:ser>
        <c:ser>
          <c:idx val="3"/>
          <c:order val="3"/>
          <c:tx>
            <c:v>64K</c:v>
          </c:tx>
          <c:spPr>
            <a:ln xmlns:a="http://schemas.openxmlformats.org/drawingml/2006/main" w="19050">
              <a:solidFill>
                <a:srgbClr val="F2A30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F2A300"/>
              </a:solidFill>
            </c:spPr>
          </c:marker>
          <c:cat>
            <c:strRef>
              <c:f>'Chart Data'!$G$2:$G$4</c:f>
              <c:strCache>
                <c:ptCount val="3"/>
                <c:pt idx="0">
                  <c:v>RPS 2</c:v>
                </c:pt>
                <c:pt idx="1">
                  <c:v>RPS 3</c:v>
                </c:pt>
                <c:pt idx="2">
                  <c:v>RPS 4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1.62058</c:v>
                </c:pt>
                <c:pt idx="1">
                  <c:v>2.896497</c:v>
                </c:pt>
                <c:pt idx="2">
                  <c:v>8.555265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8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v>RPS 3</c:v>
          </c:tx>
          <c:spPr>
            <a:solidFill xmlns:a="http://schemas.openxmlformats.org/drawingml/2006/main">
              <a:srgbClr val="2B50A4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Data'!$A$2:$A$4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2.896497</c:v>
                </c:pt>
                <c:pt idx="1">
                  <c:v>1.970793</c:v>
                </c:pt>
                <c:pt idx="2">
                  <c:v>11.059542</c:v>
                </c:pt>
              </c:numCache>
            </c:numRef>
          </c:val>
        </c:ser>
        <c:ser>
          <c:idx val="1"/>
          <c:order val="1"/>
          <c:tx>
            <c:v>RPS 4</c:v>
          </c:tx>
          <c:spPr>
            <a:solidFill xmlns:a="http://schemas.openxmlformats.org/drawingml/2006/main">
              <a:srgbClr val="F2A300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50"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Data'!$C$2:$C$4</c:f>
              <c:strCache>
                <c:ptCount val="3"/>
                <c:pt idx="0">
                  <c:v>平均</c:v>
                </c:pt>
                <c:pt idx="1">
                  <c:v>P50</c:v>
                </c:pt>
                <c:pt idx="2">
                  <c:v>P99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8.555265</c:v>
                </c:pt>
                <c:pt idx="1">
                  <c:v>8.40692</c:v>
                </c:pt>
                <c:pt idx="2">
                  <c:v>20.284885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DDDDD"/>
              </a:solidFill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5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19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1.093</c:v>
                </c:pt>
                <c:pt idx="1">
                  <c:v>1.792</c:v>
                </c:pt>
                <c:pt idx="2">
                  <c:v>12.123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0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1.753</c:v>
                </c:pt>
                <c:pt idx="1">
                  <c:v>2.959</c:v>
                </c:pt>
                <c:pt idx="2">
                  <c:v>17.854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4.524</c:v>
                </c:pt>
                <c:pt idx="1">
                  <c:v>6.784</c:v>
                </c:pt>
                <c:pt idx="2">
                  <c:v>28.606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5.762</c:v>
                </c:pt>
                <c:pt idx="1">
                  <c:v>8.289</c:v>
                </c:pt>
                <c:pt idx="2">
                  <c:v>30.993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8.155</c:v>
                </c:pt>
                <c:pt idx="1">
                  <c:v>10.824</c:v>
                </c:pt>
                <c:pt idx="2">
                  <c:v>35.725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4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1.775</c:v>
                </c:pt>
                <c:pt idx="1">
                  <c:v>2.599</c:v>
                </c:pt>
                <c:pt idx="2">
                  <c:v>5.394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5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2.575</c:v>
                </c:pt>
                <c:pt idx="1">
                  <c:v>3.612</c:v>
                </c:pt>
                <c:pt idx="2">
                  <c:v>7.423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6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5.206</c:v>
                </c:pt>
                <c:pt idx="1">
                  <c:v>7.365</c:v>
                </c:pt>
                <c:pt idx="2">
                  <c:v>12.161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7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6.482</c:v>
                </c:pt>
                <c:pt idx="1">
                  <c:v>8.879</c:v>
                </c:pt>
                <c:pt idx="2">
                  <c:v>13.829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8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8.755</c:v>
                </c:pt>
                <c:pt idx="1">
                  <c:v>11.46</c:v>
                </c:pt>
                <c:pt idx="2">
                  <c:v>16.79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29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P25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1.236</c:v>
                </c:pt>
                <c:pt idx="1">
                  <c:v>2.279</c:v>
                </c:pt>
                <c:pt idx="2">
                  <c:v>8.176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3.571</c:v>
                </c:pt>
                <c:pt idx="1">
                  <c:v>4.779</c:v>
                </c:pt>
                <c:pt idx="2">
                  <c:v>5.898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0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P50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1.746</c:v>
                </c:pt>
                <c:pt idx="1">
                  <c:v>3.363</c:v>
                </c:pt>
                <c:pt idx="2">
                  <c:v>10.961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4.798</c:v>
                </c:pt>
                <c:pt idx="1">
                  <c:v>5.936</c:v>
                </c:pt>
                <c:pt idx="2">
                  <c:v>7.859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1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P90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4.057</c:v>
                </c:pt>
                <c:pt idx="1">
                  <c:v>7.182</c:v>
                </c:pt>
                <c:pt idx="2">
                  <c:v>17.824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7.981</c:v>
                </c:pt>
                <c:pt idx="1">
                  <c:v>9.991</c:v>
                </c:pt>
                <c:pt idx="2">
                  <c:v>12.648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2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P95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5.258</c:v>
                </c:pt>
                <c:pt idx="1">
                  <c:v>8.512</c:v>
                </c:pt>
                <c:pt idx="2">
                  <c:v>20.01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9.513</c:v>
                </c:pt>
                <c:pt idx="1">
                  <c:v>11.557</c:v>
                </c:pt>
                <c:pt idx="2">
                  <c:v>14.213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chart33.xml><?xml version="1.0" encoding="utf-8"?>
<c:chartSpace xmlns:c="http://schemas.openxmlformats.org/drawingml/2006/chart">
  <c:lang val="en-US"/>
  <c:roundedCorners val="1"/>
  <c:style val="2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P99 TTFT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222222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ineChart>
        <c:grouping val="standard"/>
        <c:varyColors val="0"/>
        <c:ser>
          <c:idx val="0"/>
          <c:order val="0"/>
          <c:tx>
            <c:v>AFD (PR #320)</c:v>
          </c:tx>
          <c:spPr>
            <a:ln xmlns:a="http://schemas.openxmlformats.org/drawingml/2006/main" w="21908">
              <a:solidFill>
                <a:srgbClr val="F2A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2A900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F2A900"/>
                </a:solidFill>
                <a:prstDash val="solid"/>
              </a:ln>
            </c:spPr>
          </c:dPt>
          <c:cat>
            <c:numRef>
              <c:f>'Chart Data'!$A$2:$A$4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7.127</c:v>
                </c:pt>
                <c:pt idx="1">
                  <c:v>11.265</c:v>
                </c:pt>
                <c:pt idx="2">
                  <c:v>24.962</c:v>
                </c:pt>
              </c:numCache>
            </c:numRef>
          </c:val>
          <c:smooth val="0"/>
        </c:ser>
        <c:ser>
          <c:idx val="1"/>
          <c:order val="1"/>
          <c:tx>
            <c:v>2×EP16 + Router</c:v>
          </c:tx>
          <c:spPr>
            <a:ln xmlns:a="http://schemas.openxmlformats.org/drawingml/2006/main" w="21908">
              <a:solidFill>
                <a:srgbClr val="4472C4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4472C4"/>
              </a:solidFill>
            </c:spPr>
          </c:marker>
          <c:dPt>
            <c:idx val="0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1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dPt>
            <c:idx val="2"/>
            <c:spPr>
              <a:ln xmlns:a="http://schemas.openxmlformats.org/drawingml/2006/main" w="9525">
                <a:solidFill>
                  <a:srgbClr val="4472C4"/>
                </a:solidFill>
                <a:prstDash val="solid"/>
              </a:ln>
            </c:spPr>
          </c:dPt>
          <c:cat>
            <c:numRef>
              <c:f>'Chart Data'!$C$2:$C$4</c:f>
              <c:numCache>
                <c:formatCode>General</c:formatCode>
                <c:ptCount val="3"/>
                <c:pt idx="0">
                  <c:v>4</c:v>
                </c:pt>
                <c:pt idx="1">
                  <c:v>6</c:v>
                </c:pt>
                <c:pt idx="2">
                  <c:v>8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12.266</c:v>
                </c:pt>
                <c:pt idx="1">
                  <c:v>14.676</c:v>
                </c:pt>
                <c:pt idx="2">
                  <c:v>17.253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numFmt formatCode="0.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9D9D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ECECEC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0D0D0"/>
      </a:solidFill>
      <a:prstDash val="solid"/>
    </a:ln>
  </c:spPr>
</c:chartSpace>
</file>

<file path=ppt/slides/charts/slo_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latin typeface="微软雅黑"/>
              <a:ea typeface="微软雅黑"/>
              <a:cs typeface="微软雅黑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AFD DP4TP2 64K</c:v>
          </c:tx>
          <c:spPr>
            <a:ln xmlns:a="http://schemas.openxmlformats.org/drawingml/2006/main" w="23813">
              <a:solidFill>
                <a:srgbClr val="F0A000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F0A0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99.891493</c:v>
                </c:pt>
                <c:pt idx="1">
                  <c:v>97.829861</c:v>
                </c:pt>
                <c:pt idx="2">
                  <c:v>62.999132</c:v>
                </c:pt>
              </c:numCache>
            </c:numRef>
          </c:val>
          <c:smooth val="0"/>
        </c:ser>
        <c:ser>
          <c:idx val="1"/>
          <c:order val="1"/>
          <c:tx>
            <c:v>EP16 DP4TP4 4K</c:v>
          </c:tx>
          <c:spPr>
            <a:ln xmlns:a="http://schemas.openxmlformats.org/drawingml/2006/main" w="23813">
              <a:solidFill>
                <a:srgbClr val="548235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99.761285</c:v>
                </c:pt>
                <c:pt idx="1">
                  <c:v>96.24566</c:v>
                </c:pt>
                <c:pt idx="2">
                  <c:v>9.179688</c:v>
                </c:pt>
              </c:numCache>
            </c:numRef>
          </c:val>
          <c:smooth val="0"/>
        </c:ser>
        <c:ser>
          <c:idx val="2"/>
          <c:order val="2"/>
          <c:tx>
            <c:v>EP16 DP8TP2 4K</c:v>
          </c:tx>
          <c:spPr>
            <a:ln xmlns:a="http://schemas.openxmlformats.org/drawingml/2006/main" w="23813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98.741319</c:v>
                </c:pt>
                <c:pt idx="1">
                  <c:v>97.699653</c:v>
                </c:pt>
                <c:pt idx="2">
                  <c:v>94.726563</c:v>
                </c:pt>
              </c:numCache>
            </c:numRef>
          </c:val>
          <c:smooth val="0"/>
        </c:ser>
        <c:ser>
          <c:idx val="3"/>
          <c:order val="3"/>
          <c:tx>
            <c:v>90% target</c:v>
          </c:tx>
          <c:spPr>
            <a:ln xmlns:a="http://schemas.openxmlformats.org/drawingml/2006/main" w="14288">
              <a:solidFill>
                <a:srgbClr val="888888"/>
              </a:solidFill>
              <a:prstDash val="dash"/>
            </a:ln>
          </c:spPr>
          <c:marker>
            <c:symbol val="none"/>
          </c:marker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slo_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latin typeface="微软雅黑"/>
              <a:ea typeface="微软雅黑"/>
              <a:cs typeface="微软雅黑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AFD DP4TP2 64K</c:v>
          </c:tx>
          <c:spPr>
            <a:ln xmlns:a="http://schemas.openxmlformats.org/drawingml/2006/main" w="23813">
              <a:solidFill>
                <a:srgbClr val="F0A000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F0A000"/>
              </a:solidFill>
            </c:spPr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</c:v>
                </c:pt>
                <c:pt idx="1">
                  <c:v>99.978299</c:v>
                </c:pt>
                <c:pt idx="2">
                  <c:v>99.978299</c:v>
                </c:pt>
                <c:pt idx="3">
                  <c:v>99.978299</c:v>
                </c:pt>
                <c:pt idx="4">
                  <c:v>99.978299</c:v>
                </c:pt>
                <c:pt idx="5">
                  <c:v>99.978299</c:v>
                </c:pt>
                <c:pt idx="6">
                  <c:v>99.978299</c:v>
                </c:pt>
                <c:pt idx="7">
                  <c:v>99.869792</c:v>
                </c:pt>
                <c:pt idx="8">
                  <c:v>98.415799</c:v>
                </c:pt>
                <c:pt idx="9">
                  <c:v>90.256076</c:v>
                </c:pt>
                <c:pt idx="10">
                  <c:v>62.999132</c:v>
                </c:pt>
                <c:pt idx="11">
                  <c:v>26.71441</c:v>
                </c:pt>
              </c:numCache>
            </c:numRef>
          </c:val>
          <c:smooth val="0"/>
        </c:ser>
        <c:ser>
          <c:idx val="1"/>
          <c:order val="1"/>
          <c:tx>
            <c:v>EP16 DP4TP4 4K</c:v>
          </c:tx>
          <c:spPr>
            <a:ln xmlns:a="http://schemas.openxmlformats.org/drawingml/2006/main" w="23813">
              <a:solidFill>
                <a:srgbClr val="548235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99.631076</c:v>
                </c:pt>
                <c:pt idx="1">
                  <c:v>98.003472</c:v>
                </c:pt>
                <c:pt idx="2">
                  <c:v>93.489583</c:v>
                </c:pt>
                <c:pt idx="3">
                  <c:v>85.30816</c:v>
                </c:pt>
                <c:pt idx="4">
                  <c:v>76.280382</c:v>
                </c:pt>
                <c:pt idx="5">
                  <c:v>65.429688</c:v>
                </c:pt>
                <c:pt idx="6">
                  <c:v>49.696181</c:v>
                </c:pt>
                <c:pt idx="7">
                  <c:v>32.443576</c:v>
                </c:pt>
                <c:pt idx="8">
                  <c:v>21.571181</c:v>
                </c:pt>
                <c:pt idx="9">
                  <c:v>15.668403</c:v>
                </c:pt>
                <c:pt idx="10">
                  <c:v>9.179688</c:v>
                </c:pt>
                <c:pt idx="11">
                  <c:v>3.103299</c:v>
                </c:pt>
              </c:numCache>
            </c:numRef>
          </c:val>
          <c:smooth val="0"/>
        </c:ser>
        <c:ser>
          <c:idx val="2"/>
          <c:order val="2"/>
          <c:tx>
            <c:v>EP16 DP8TP2 4K</c:v>
          </c:tx>
          <c:spPr>
            <a:ln xmlns:a="http://schemas.openxmlformats.org/drawingml/2006/main" w="23813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99.978299</c:v>
                </c:pt>
                <c:pt idx="9">
                  <c:v>99.500868</c:v>
                </c:pt>
                <c:pt idx="10">
                  <c:v>94.726563</c:v>
                </c:pt>
                <c:pt idx="11">
                  <c:v>69.37934</c:v>
                </c:pt>
              </c:numCache>
            </c:numRef>
          </c:val>
          <c:smooth val="0"/>
        </c:ser>
        <c:ser>
          <c:idx val="3"/>
          <c:order val="3"/>
          <c:tx>
            <c:v>90% target</c:v>
          </c:tx>
          <c:spPr>
            <a:ln xmlns:a="http://schemas.openxmlformats.org/drawingml/2006/main" w="14288">
              <a:solidFill>
                <a:srgbClr val="888888"/>
              </a:solidFill>
              <a:prstDash val="dash"/>
            </a:ln>
          </c:spPr>
          <c:marker>
            <c:symbol val="none"/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slo_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latin typeface="微软雅黑"/>
              <a:ea typeface="微软雅黑"/>
              <a:cs typeface="微软雅黑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AFD DP4TP2 64K</c:v>
          </c:tx>
          <c:spPr>
            <a:ln xmlns:a="http://schemas.openxmlformats.org/drawingml/2006/main" w="23813">
              <a:solidFill>
                <a:srgbClr val="F0A000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F0A0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99.891493</c:v>
                </c:pt>
                <c:pt idx="1">
                  <c:v>97.829861</c:v>
                </c:pt>
                <c:pt idx="2">
                  <c:v>62.999132</c:v>
                </c:pt>
              </c:numCache>
            </c:numRef>
          </c:val>
          <c:smooth val="0"/>
        </c:ser>
        <c:ser>
          <c:idx val="1"/>
          <c:order val="1"/>
          <c:tx>
            <c:v>EP16 DP4TP4 8K</c:v>
          </c:tx>
          <c:spPr>
            <a:ln xmlns:a="http://schemas.openxmlformats.org/drawingml/2006/main" w="23813">
              <a:solidFill>
                <a:srgbClr val="548235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99.717882</c:v>
                </c:pt>
                <c:pt idx="1">
                  <c:v>98.046875</c:v>
                </c:pt>
                <c:pt idx="2">
                  <c:v>62.521701</c:v>
                </c:pt>
              </c:numCache>
            </c:numRef>
          </c:val>
          <c:smooth val="0"/>
        </c:ser>
        <c:ser>
          <c:idx val="2"/>
          <c:order val="2"/>
          <c:tx>
            <c:v>EP16 DP8TP2 8K</c:v>
          </c:tx>
          <c:spPr>
            <a:ln xmlns:a="http://schemas.openxmlformats.org/drawingml/2006/main" w="23813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97.395833</c:v>
                </c:pt>
                <c:pt idx="1">
                  <c:v>94.835069</c:v>
                </c:pt>
                <c:pt idx="2">
                  <c:v>89.561632</c:v>
                </c:pt>
              </c:numCache>
            </c:numRef>
          </c:val>
          <c:smooth val="0"/>
        </c:ser>
        <c:ser>
          <c:idx val="3"/>
          <c:order val="3"/>
          <c:tx>
            <c:v>90% target</c:v>
          </c:tx>
          <c:spPr>
            <a:ln xmlns:a="http://schemas.openxmlformats.org/drawingml/2006/main" w="14288">
              <a:solidFill>
                <a:srgbClr val="888888"/>
              </a:solidFill>
              <a:prstDash val="dash"/>
            </a:ln>
          </c:spPr>
          <c:marker>
            <c:symbol val="none"/>
          </c:marker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slo_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latin typeface="微软雅黑"/>
              <a:ea typeface="微软雅黑"/>
              <a:cs typeface="微软雅黑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AFD DP4TP2 64K</c:v>
          </c:tx>
          <c:spPr>
            <a:ln xmlns:a="http://schemas.openxmlformats.org/drawingml/2006/main" w="23813">
              <a:solidFill>
                <a:srgbClr val="F0A000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F0A000"/>
              </a:solidFill>
            </c:spPr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</c:v>
                </c:pt>
                <c:pt idx="1">
                  <c:v>99.978299</c:v>
                </c:pt>
                <c:pt idx="2">
                  <c:v>99.978299</c:v>
                </c:pt>
                <c:pt idx="3">
                  <c:v>99.978299</c:v>
                </c:pt>
                <c:pt idx="4">
                  <c:v>99.978299</c:v>
                </c:pt>
                <c:pt idx="5">
                  <c:v>99.978299</c:v>
                </c:pt>
                <c:pt idx="6">
                  <c:v>99.978299</c:v>
                </c:pt>
                <c:pt idx="7">
                  <c:v>99.869792</c:v>
                </c:pt>
                <c:pt idx="8">
                  <c:v>98.415799</c:v>
                </c:pt>
                <c:pt idx="9">
                  <c:v>90.256076</c:v>
                </c:pt>
                <c:pt idx="10">
                  <c:v>62.999132</c:v>
                </c:pt>
                <c:pt idx="11">
                  <c:v>26.71441</c:v>
                </c:pt>
              </c:numCache>
            </c:numRef>
          </c:val>
          <c:smooth val="0"/>
        </c:ser>
        <c:ser>
          <c:idx val="1"/>
          <c:order val="1"/>
          <c:tx>
            <c:v>EP16 DP4TP4 8K</c:v>
          </c:tx>
          <c:spPr>
            <a:ln xmlns:a="http://schemas.openxmlformats.org/drawingml/2006/main" w="23813">
              <a:solidFill>
                <a:srgbClr val="548235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98.567708</c:v>
                </c:pt>
                <c:pt idx="9">
                  <c:v>89.735243</c:v>
                </c:pt>
                <c:pt idx="10">
                  <c:v>62.521701</c:v>
                </c:pt>
                <c:pt idx="11">
                  <c:v>17.1875</c:v>
                </c:pt>
              </c:numCache>
            </c:numRef>
          </c:val>
          <c:smooth val="0"/>
        </c:ser>
        <c:ser>
          <c:idx val="2"/>
          <c:order val="2"/>
          <c:tx>
            <c:v>EP16 DP8TP2 8K</c:v>
          </c:tx>
          <c:spPr>
            <a:ln xmlns:a="http://schemas.openxmlformats.org/drawingml/2006/main" w="23813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99.956597</c:v>
                </c:pt>
                <c:pt idx="9">
                  <c:v>98.524306</c:v>
                </c:pt>
                <c:pt idx="10">
                  <c:v>89.561632</c:v>
                </c:pt>
                <c:pt idx="11">
                  <c:v>48.003472</c:v>
                </c:pt>
              </c:numCache>
            </c:numRef>
          </c:val>
          <c:smooth val="0"/>
        </c:ser>
        <c:ser>
          <c:idx val="3"/>
          <c:order val="3"/>
          <c:tx>
            <c:v>90% target</c:v>
          </c:tx>
          <c:spPr>
            <a:ln xmlns:a="http://schemas.openxmlformats.org/drawingml/2006/main" w="14288">
              <a:solidFill>
                <a:srgbClr val="888888"/>
              </a:solidFill>
              <a:prstDash val="dash"/>
            </a:ln>
          </c:spPr>
          <c:marker>
            <c:symbol val="none"/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slo_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latin typeface="微软雅黑"/>
                <a:ea typeface="微软雅黑"/>
                <a:cs typeface="微软雅黑"/>
              </a:rPr>
              <a:t>固定 TTFT≤10s，增加请求速率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latin typeface="微软雅黑"/>
              <a:ea typeface="微软雅黑"/>
              <a:cs typeface="微软雅黑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AFD DP4TP2 64K</c:v>
          </c:tx>
          <c:spPr>
            <a:ln xmlns:a="http://schemas.openxmlformats.org/drawingml/2006/main" w="23813">
              <a:solidFill>
                <a:srgbClr val="F0A000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F0A000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Data'!$B$2:$B$4</c:f>
              <c:numCache>
                <c:formatCode>0</c:formatCode>
                <c:ptCount val="3"/>
                <c:pt idx="0">
                  <c:v>99.891493</c:v>
                </c:pt>
                <c:pt idx="1">
                  <c:v>97.829861</c:v>
                </c:pt>
                <c:pt idx="2">
                  <c:v>62.999132</c:v>
                </c:pt>
              </c:numCache>
            </c:numRef>
          </c:val>
          <c:smooth val="0"/>
        </c:ser>
        <c:ser>
          <c:idx val="1"/>
          <c:order val="1"/>
          <c:tx>
            <c:v>EP16 DP4TP4 16K</c:v>
          </c:tx>
          <c:spPr>
            <a:ln xmlns:a="http://schemas.openxmlformats.org/drawingml/2006/main" w="23813">
              <a:solidFill>
                <a:srgbClr val="548235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Data'!$D$2:$D$4</c:f>
              <c:numCache>
                <c:formatCode>0</c:formatCode>
                <c:ptCount val="3"/>
                <c:pt idx="0">
                  <c:v>96.744792</c:v>
                </c:pt>
                <c:pt idx="1">
                  <c:v>91.601563</c:v>
                </c:pt>
                <c:pt idx="2">
                  <c:v>66.297743</c:v>
                </c:pt>
              </c:numCache>
            </c:numRef>
          </c:val>
          <c:smooth val="0"/>
        </c:ser>
        <c:ser>
          <c:idx val="2"/>
          <c:order val="2"/>
          <c:tx>
            <c:v>EP16 DP8TP2 16K</c:v>
          </c:tx>
          <c:spPr>
            <a:ln xmlns:a="http://schemas.openxmlformats.org/drawingml/2006/main" w="23813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Data'!$F$2:$F$4</c:f>
              <c:numCache>
                <c:formatCode>0</c:formatCode>
                <c:ptCount val="3"/>
                <c:pt idx="0">
                  <c:v>84.309896</c:v>
                </c:pt>
                <c:pt idx="1">
                  <c:v>63.975694</c:v>
                </c:pt>
                <c:pt idx="2">
                  <c:v>59.592014</c:v>
                </c:pt>
              </c:numCache>
            </c:numRef>
          </c:val>
          <c:smooth val="0"/>
        </c:ser>
        <c:ser>
          <c:idx val="3"/>
          <c:order val="3"/>
          <c:tx>
            <c:v>90% target</c:v>
          </c:tx>
          <c:spPr>
            <a:ln xmlns:a="http://schemas.openxmlformats.org/drawingml/2006/main" w="14288">
              <a:solidFill>
                <a:srgbClr val="888888"/>
              </a:solidFill>
              <a:prstDash val="dash"/>
            </a:ln>
          </c:spPr>
          <c:marker>
            <c:symbol val="none"/>
          </c:marker>
          <c:cat>
            <c:numRef>
              <c:f>'Chart Data'!$G$2:$G$4</c:f>
              <c:numCache>
                <c:formatCode>General</c:formatCode>
                <c:ptCount val="3"/>
                <c:pt idx="0">
                  <c:v>0.125</c:v>
                </c:pt>
                <c:pt idx="1">
                  <c:v>0.1875</c:v>
                </c:pt>
                <c:pt idx="2">
                  <c:v>0.25</c:v>
                </c:pt>
              </c:numCache>
            </c:numRef>
          </c:cat>
          <c:val>
            <c:numRef>
              <c:f>'Chart Data'!$H$2:$H$4</c:f>
              <c:numCache>
                <c:formatCode>0</c:formatCode>
                <c:ptCount val="3"/>
                <c:pt idx="0">
                  <c:v>90</c:v>
                </c:pt>
                <c:pt idx="1">
                  <c:v>90</c:v>
                </c:pt>
                <c:pt idx="2">
                  <c:v>90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Offered rate (req/s per NPU die)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slo_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latin typeface="微软雅黑"/>
                <a:ea typeface="微软雅黑"/>
                <a:cs typeface="微软雅黑"/>
              </a:rPr>
              <a:t>固定 RPS=4，收紧 TTFT 门槛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latin typeface="微软雅黑"/>
              <a:ea typeface="微软雅黑"/>
              <a:cs typeface="微软雅黑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AFD DP4TP2 64K</c:v>
          </c:tx>
          <c:spPr>
            <a:ln xmlns:a="http://schemas.openxmlformats.org/drawingml/2006/main" w="23813">
              <a:solidFill>
                <a:srgbClr val="F0A000"/>
              </a:solidFill>
              <a:prstDash val="solid"/>
            </a:ln>
          </c:spPr>
          <c:marker>
            <c:symbol val="triangle"/>
            <c:size val="6"/>
            <c:spPr>
              <a:solidFill xmlns:a="http://schemas.openxmlformats.org/drawingml/2006/main">
                <a:srgbClr val="F0A000"/>
              </a:solidFill>
            </c:spPr>
          </c:marker>
          <c:cat>
            <c:numRef>
              <c:f>'Chart Data'!$A$2:$A$13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Data'!$B$2:$B$13</c:f>
              <c:numCache>
                <c:formatCode>0</c:formatCode>
                <c:ptCount val="12"/>
                <c:pt idx="0">
                  <c:v>99.978299</c:v>
                </c:pt>
                <c:pt idx="1">
                  <c:v>99.978299</c:v>
                </c:pt>
                <c:pt idx="2">
                  <c:v>99.978299</c:v>
                </c:pt>
                <c:pt idx="3">
                  <c:v>99.978299</c:v>
                </c:pt>
                <c:pt idx="4">
                  <c:v>99.978299</c:v>
                </c:pt>
                <c:pt idx="5">
                  <c:v>99.978299</c:v>
                </c:pt>
                <c:pt idx="6">
                  <c:v>99.978299</c:v>
                </c:pt>
                <c:pt idx="7">
                  <c:v>99.869792</c:v>
                </c:pt>
                <c:pt idx="8">
                  <c:v>98.415799</c:v>
                </c:pt>
                <c:pt idx="9">
                  <c:v>90.256076</c:v>
                </c:pt>
                <c:pt idx="10">
                  <c:v>62.999132</c:v>
                </c:pt>
                <c:pt idx="11">
                  <c:v>26.71441</c:v>
                </c:pt>
              </c:numCache>
            </c:numRef>
          </c:val>
          <c:smooth val="0"/>
        </c:ser>
        <c:ser>
          <c:idx val="1"/>
          <c:order val="1"/>
          <c:tx>
            <c:v>EP16 DP4TP4 16K</c:v>
          </c:tx>
          <c:spPr>
            <a:ln xmlns:a="http://schemas.openxmlformats.org/drawingml/2006/main" w="23813">
              <a:solidFill>
                <a:srgbClr val="548235"/>
              </a:solidFill>
              <a:prstDash val="solid"/>
            </a:ln>
          </c:spPr>
          <c:marker>
            <c:symbol val="diamond"/>
            <c:size val="6"/>
            <c:spPr>
              <a:solidFill xmlns:a="http://schemas.openxmlformats.org/drawingml/2006/main">
                <a:srgbClr val="548235"/>
              </a:solidFill>
            </c:spPr>
          </c:marker>
          <c:cat>
            <c:numRef>
              <c:f>'Chart Data'!$C$2:$C$13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Data'!$D$2:$D$13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99.956597</c:v>
                </c:pt>
                <c:pt idx="8">
                  <c:v>99.674479</c:v>
                </c:pt>
                <c:pt idx="9">
                  <c:v>94.68316</c:v>
                </c:pt>
                <c:pt idx="10">
                  <c:v>66.297743</c:v>
                </c:pt>
                <c:pt idx="11">
                  <c:v>12.999132</c:v>
                </c:pt>
              </c:numCache>
            </c:numRef>
          </c:val>
          <c:smooth val="0"/>
        </c:ser>
        <c:ser>
          <c:idx val="2"/>
          <c:order val="2"/>
          <c:tx>
            <c:v>EP16 DP8TP2 16K</c:v>
          </c:tx>
          <c:spPr>
            <a:ln xmlns:a="http://schemas.openxmlformats.org/drawingml/2006/main" w="23813">
              <a:solidFill>
                <a:srgbClr val="4472C4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72C4"/>
              </a:solidFill>
            </c:spPr>
          </c:marker>
          <c:cat>
            <c:numRef>
              <c:f>'Chart Data'!$E$2:$E$13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Data'!$F$2:$F$13</c:f>
              <c:numCache>
                <c:formatCode>0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99.913194</c:v>
                </c:pt>
                <c:pt idx="8">
                  <c:v>98.697917</c:v>
                </c:pt>
                <c:pt idx="9">
                  <c:v>90.885417</c:v>
                </c:pt>
                <c:pt idx="10">
                  <c:v>59.592014</c:v>
                </c:pt>
                <c:pt idx="11">
                  <c:v>1.041667</c:v>
                </c:pt>
              </c:numCache>
            </c:numRef>
          </c:val>
          <c:smooth val="0"/>
        </c:ser>
        <c:ser>
          <c:idx val="3"/>
          <c:order val="3"/>
          <c:tx>
            <c:v>90% target</c:v>
          </c:tx>
          <c:spPr>
            <a:ln xmlns:a="http://schemas.openxmlformats.org/drawingml/2006/main" w="14288">
              <a:solidFill>
                <a:srgbClr val="888888"/>
              </a:solidFill>
              <a:prstDash val="dash"/>
            </a:ln>
          </c:spPr>
          <c:marker>
            <c:symbol val="none"/>
          </c:marker>
          <c:cat>
            <c:numRef>
              <c:f>'Chart Data'!$G$2:$G$13</c:f>
              <c:numCache>
                <c:formatCode>General</c:formatCode>
                <c:ptCount val="12"/>
                <c:pt idx="0">
                  <c:v>6</c:v>
                </c:pt>
                <c:pt idx="1">
                  <c:v>5.5</c:v>
                </c:pt>
                <c:pt idx="2">
                  <c:v>5</c:v>
                </c:pt>
                <c:pt idx="3">
                  <c:v>4.5</c:v>
                </c:pt>
                <c:pt idx="4">
                  <c:v>4</c:v>
                </c:pt>
                <c:pt idx="5">
                  <c:v>3.5</c:v>
                </c:pt>
                <c:pt idx="6">
                  <c:v>3</c:v>
                </c:pt>
                <c:pt idx="7">
                  <c:v>2.5</c:v>
                </c:pt>
                <c:pt idx="8">
                  <c:v>2</c:v>
                </c:pt>
                <c:pt idx="9">
                  <c:v>1.5</c:v>
                </c:pt>
                <c:pt idx="10">
                  <c:v>1</c:v>
                </c:pt>
                <c:pt idx="11">
                  <c:v>0.5</c:v>
                </c:pt>
              </c:numCache>
            </c:numRef>
          </c:cat>
          <c:val>
            <c:numRef>
              <c:f>'Chart Data'!$H$2:$H$13</c:f>
              <c:numCache>
                <c:formatCode>0</c:formatCode>
                <c:ptCount val="12"/>
                <c:pt idx="0">
                  <c:v>90</c:v>
                </c:pt>
                <c:pt idx="1">
                  <c:v>90</c:v>
                </c:pt>
                <c:pt idx="2">
                  <c:v>90</c:v>
                </c:pt>
                <c:pt idx="3">
                  <c:v>90</c:v>
                </c:pt>
                <c:pt idx="4">
                  <c:v>90</c:v>
                </c:pt>
                <c:pt idx="5">
                  <c:v>90</c:v>
                </c:pt>
                <c:pt idx="6">
                  <c:v>90</c:v>
                </c:pt>
                <c:pt idx="7">
                  <c:v>90</c:v>
                </c:pt>
                <c:pt idx="8">
                  <c:v>90</c:v>
                </c:pt>
                <c:pt idx="9">
                  <c:v>90</c:v>
                </c:pt>
                <c:pt idx="10">
                  <c:v>90</c:v>
                </c:pt>
                <c:pt idx="11">
                  <c:v>90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SLO Scale (TTFT = 10s × scale)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125">
                    <a:latin typeface="Calibri"/>
                    <a:ea typeface="Calibri"/>
                    <a:cs typeface="Calibri"/>
                  </a:rPr>
                  <a:t>SLO attainment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FE4B36A2-FB5E-46B8-B62B-A7DDCB31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08C9273-AA7E-4A4C-BAF3-6C4E61B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vLLM EXTERNAL PLUGIN</a:t>
            </a:r>
            <a:endParaRPr sz="975" b="1">
              <a:solidFill>
                <a:srgbClr val="898989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88DB289-1EEC-4482-9E64-7EA12D6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2918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5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</a:t>
            </a:r>
            <a:endParaRPr sz="5400" b="1">
              <a:solidFill>
                <a:srgbClr val="C00000"/>
              </a:solidFill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6C8100B-7A12-4D03-B820-ADA0A201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765" y="3053080"/>
            <a:ext cx="6667500" cy="5835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lvl="0"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3200" b="1">
                <a:latin typeface="微软雅黑"/>
                <a:ea typeface="微软雅黑"/>
                <a:cs typeface="微软雅黑"/>
              </a:rPr>
              <a:t>vLLM 中的 Attention–FFN 解耦</a:t>
            </a:r>
            <a:endParaRPr sz="3200" b="1"/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0DDDC894-1510-4168-9DF0-3D19558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508A1625-B38E-48D1-A82D-F82315B1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7265" y="3881755"/>
            <a:ext cx="3469005" cy="706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b="1">
                <a:latin typeface="微软雅黑"/>
                <a:ea typeface="微软雅黑"/>
                <a:cs typeface="微软雅黑"/>
              </a:rPr>
              <a:t>江晨舟     </a:t>
            </a:r>
            <a:endParaRPr sz="2000" b="1"/>
          </a:p>
          <a:p xmlns:a="http://schemas.openxmlformats.org/drawingml/2006/main">
            <a:pPr algn="l">
              <a:buClrTx/>
              <a:buSzTx/>
              <a:buFontTx/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 sz="2000" b="1">
                <a:latin typeface="微软雅黑"/>
                <a:ea typeface="微软雅黑"/>
                <a:cs typeface="微软雅黑"/>
              </a:rPr>
              <a:t>蒲削锟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9BEDA103-0220-4EB7-A13F-02B95F7C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160" y="4050665"/>
            <a:ext cx="21386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微软雅黑"/>
                <a:ea typeface="微软雅黑"/>
                <a:cs typeface="微软雅黑"/>
              </a:defRPr>
            </a:pPr>
            <a:r>
              <a:rPr>
                <a:latin typeface="微软雅黑"/>
                <a:ea typeface="微软雅黑"/>
                <a:cs typeface="微软雅黑"/>
              </a:rPr>
              <a:t>@huawei</a:t>
            </a:r>
          </a:p>
        </p:txBody>
      </p:sp>
    </p:spTree>
    <p:extLst>
      <p:ext uri="{BB962C8B-B14F-4D97-AF65-F5344CB8AC3E}">
        <p14:creationId xmlns:p14="http://schemas.microsoft.com/office/powerpoint/2010/main" val="15597823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2045AE6-4D17-4F4D-907E-CBF880A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28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WHY AFD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F72431-354A-43C2-A037-3612BE20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8051"/>
            <a:ext cx="10744200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Attention 与 MoE 的资源需求越不匹配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D261C6-9D41-4A7D-B9DC-9F39053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14400"/>
            <a:ext cx="144475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BAE0C94-7F2B-4A9C-98C7-23276E1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005840"/>
            <a:ext cx="10789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50" b="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Attention 受 KV Cache 容量约束，而 MoE 依赖大批次提升专家 GEMM 效率。</a:t>
            </a:r>
          </a:p>
        </p:txBody>
      </p:sp>
      <p:pic>
        <p:nvPicPr>
          <p:cNvPr id="2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f75bada2b48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1825" y="1671320"/>
            <a:ext cx="9619615" cy="4244975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1B51716-7641-4F33-8026-EF66C7FE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60143"/>
            <a:ext cx="116128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13970">
            <a:solidFill>
              <a:srgbClr val="1F5FB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rIns="73152" b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1F5FB8"/>
                </a:solidFill>
                <a:latin typeface="Calibri"/>
                <a:ea typeface="Calibri"/>
                <a:cs typeface="Calibri"/>
              </a:rPr>
              <a:t>Attention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活跃请求 ↓
KV Cache 读取 ↑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4BD6904-9AB7-4633-BDAB-6BBA3A0A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87952"/>
            <a:ext cx="1161288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8EC"/>
          </a:solidFill>
          <a:ln xmlns:a="http://schemas.openxmlformats.org/drawingml/2006/main" w="13970">
            <a:solidFill>
              <a:srgbClr val="4F8D2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rIns="73152" bIns="36576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MoE / FFN</a:t>
            </a:r>
          </a:p>
          <a:p xmlns:a="http://schemas.openxmlformats.org/drawingml/2006/main">
            <a:pPr algn="ctr">
              <a:spcBef>
                <a:spcPts val="100"/>
              </a:spcBef>
              <a:buNone/>
            </a:pPr>
            <a:r>
              <a:rPr sz="1050">
                <a:solidFill>
                  <a:srgbClr val="676767"/>
                </a:solidFill>
                <a:latin typeface="Calibri"/>
                <a:ea typeface="Calibri"/>
                <a:cs typeface="Calibri"/>
              </a:rPr>
              <a:t>Token 批次 ↓
专家利用率 ↓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120D0FD-C8AA-4161-99B8-A23EA516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408" y="1353312"/>
            <a:ext cx="3383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252525"/>
                </a:solidFill>
                <a:latin typeface="Calibri"/>
                <a:ea typeface="Calibri"/>
                <a:cs typeface="Calibri"/>
              </a:rPr>
              <a:t>上下文长度：短  →  中  →  长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A613D76-21AA-4867-B204-C5D7CBF0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4486" y="3325876"/>
            <a:ext cx="2633472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2F2"/>
          </a:solidFill>
          <a:ln xmlns:a="http://schemas.openxmlformats.org/drawingml/2006/main" w="13970">
            <a:solidFill>
              <a:srgbClr val="C0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r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异构需求错配持续放大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6185072-7A82-4D88-A55B-F814B945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5567" y="5886831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4F8D22"/>
                </a:solidFill>
                <a:latin typeface="Calibri"/>
                <a:ea typeface="Calibri"/>
                <a:cs typeface="Calibri"/>
              </a:rPr>
              <a:t>批次充足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04183E5-B4C0-4D26-9571-2B246DD8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9278" y="5897626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B26500"/>
                </a:solidFill>
                <a:latin typeface="Calibri"/>
                <a:ea typeface="Calibri"/>
                <a:cs typeface="Calibri"/>
              </a:rPr>
              <a:t>批次收缩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0C8B506-1EA2-4173-AB19-22028C0D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4959" y="5886196"/>
            <a:ext cx="868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批次不足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09A072B-6D42-4770-8F16-AAD148C6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6144768"/>
            <a:ext cx="1097280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上下文增长使 Attention 更受内存约束，同时削弱 MoE 的批处理效率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3364456-4E42-4B09-8495-8DDC582E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601968"/>
            <a:ext cx="45720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8D8D8D"/>
                </a:solidFill>
                <a:latin typeface="Calibri"/>
                <a:ea typeface="Calibri"/>
                <a:cs typeface="Calibri"/>
              </a:rPr>
              <a:t>来源：用户提供的 AFD Plugin 动机说明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12D1475-E178-40D0-BD3D-7798CA42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6556248"/>
            <a:ext cx="182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797979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07309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57C257CB-FF7D-4A78-92E2-51360885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WHY AFD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063E848-E605-45BF-AC85-F0482968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Attention–FFN 解耦带来弹性配比、异构部署与低时延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E820112-4D24-4E9F-B8A8-EC5C4CB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4F26C3A-A648-45FB-B4C6-BF35D4A1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B6A551F-C0F5-4A26-BD52-1E457C3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447675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5781680-E09A-4C11-9B0C-5CCAFE0E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方法：拆分计算角色</a:t>
            </a:r>
          </a:p>
        </p:txBody>
      </p:sp>
      <p:pic>
        <p:nvPicPr>
          <p:cNvPr id="57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c228ffc1a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2969" y="1657350"/>
            <a:ext cx="2315563" cy="167640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DEB8E6B-8431-4626-BEB3-9607CA5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71675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N × FFN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984ECAA-2EA7-47E6-904B-927B1E2C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M × Attention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F97551-8F84-4029-ADA4-63A1C80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4019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将 Attention 与 FFN 部署到独立集群，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55757"/>
                </a:solidFill>
              </a:defRPr>
            </a:pPr>
            <a:r>
              <a:rPr sz="1125" b="0">
                <a:solidFill>
                  <a:srgbClr val="555757"/>
                </a:solidFill>
              </a:rPr>
              <a:t>通过 RDMA / NVLink / UB 交换激活。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140AD69-A3E7-4A54-B8EF-BC8BEFEA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外部趋势：吞吐与交互性同时优化</a:t>
            </a:r>
          </a:p>
        </p:txBody>
      </p:sp>
      <p:pic>
        <p:nvPicPr>
          <p:cNvPr id="62" name="图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07c8541124c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01542" y="4171950"/>
            <a:ext cx="2854766" cy="1676400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CF56A1B-7953-4963-AE02-3B710213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143000"/>
            <a:ext cx="6267450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806ADF8-FBD3-4533-B34B-17DDDF1C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57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01  弹性配比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50F32CE-0E1F-4D4A-9A67-40E39488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276350"/>
            <a:ext cx="384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解耦后可独立调整 A:F 实例比例，突破共置场景的共同 batch 上限。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85164E1-77C5-4644-BFE4-96F95BC0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621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898989"/>
                </a:solidFill>
              </a:defRPr>
            </a:pPr>
            <a:r>
              <a:rPr sz="975" b="1">
                <a:solidFill>
                  <a:srgbClr val="898989"/>
                </a:solidFill>
              </a:rPr>
              <a:t>共置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27B8F7-1783-4032-8802-32B71B77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C00000"/>
                </a:solidFill>
              </a:defRPr>
            </a:pPr>
            <a:r>
              <a:rPr sz="975" b="1">
                <a:solidFill>
                  <a:srgbClr val="C00000"/>
                </a:solidFill>
              </a:rPr>
              <a:t>解耦</a:t>
            </a:r>
          </a:p>
        </p:txBody>
      </p:sp>
      <p:pic>
        <p:nvPicPr>
          <p:cNvPr id="68" name="图片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a222766fb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37434" y="1752600"/>
            <a:ext cx="1517333" cy="1028700"/>
          </a:xfrm>
          <a:prstGeom xmlns:a="http://schemas.openxmlformats.org/drawingml/2006/main" prst="rect">
            <a:avLst/>
          </a:prstGeom>
        </p:spPr>
      </p:pic>
      <p:pic>
        <p:nvPicPr>
          <p:cNvPr id="69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049cc5ec1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88727" y="1752600"/>
            <a:ext cx="1539296" cy="1028700"/>
          </a:xfrm>
          <a:prstGeom xmlns:a="http://schemas.openxmlformats.org/drawingml/2006/main" prst="rect">
            <a:avLst/>
          </a:prstGeom>
        </p:spPr>
      </p:pic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D3A91E4-5631-4FC2-AE24-065E09F2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62674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24F9EE9-8F1D-428D-BC8E-92C84A63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02  异构部署</a:t>
            </a:r>
          </a:p>
        </p:txBody>
      </p:sp>
      <p:pic>
        <p:nvPicPr>
          <p:cNvPr id="72" name="图片 6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b552ecf644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80420" y="3467100"/>
            <a:ext cx="3545811" cy="1066800"/>
          </a:xfrm>
          <a:prstGeom xmlns:a="http://schemas.openxmlformats.org/drawingml/2006/main" prst="rect">
            <a:avLst/>
          </a:prstGeom>
        </p:spPr>
      </p:pic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C74FAF7-434E-48A2-A110-1DD7AE73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09950"/>
            <a:ext cx="1619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Attention 与 FFN 可分别选择成本效率更优的硬件。</a:t>
            </a:r>
          </a:p>
          <a:p xmlns:a="http://schemas.openxmlformats.org/drawingml/2006/main">
            <a:endParaRPr sz="975"/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异构组合具备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进一步压低 decode cost 的空间。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A6628EC-75A6-4202-9F4B-4E7D97FC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38700"/>
            <a:ext cx="62674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DEBBD7C-D7BE-4CB9-8984-478A6B65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03  低时延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A885715-835B-4DBA-AA22-89058EC7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555757"/>
                </a:solidFill>
              </a:defRPr>
            </a:pPr>
            <a:r>
              <a:rPr sz="900" b="1">
                <a:solidFill>
                  <a:srgbClr val="555757"/>
                </a:solidFill>
              </a:rPr>
              <a:t>同步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0D2C8EE-D891-4AB3-BF68-D7EC273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581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00000"/>
                </a:solidFill>
              </a:defRPr>
            </a:pPr>
            <a:r>
              <a:rPr sz="900" b="1">
                <a:solidFill>
                  <a:srgbClr val="C00000"/>
                </a:solidFill>
              </a:rPr>
              <a:t>异步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80A01FE-5276-47A3-BD40-71BE30720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E1F3A09-CB07-4EF7-96EA-347A91B1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DF7FCFD-12DF-4D7E-9F19-6EB55943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B7CCE16-9084-4B75-BD3B-629850A4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94859419-D70A-4370-842B-1F7070D8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58F1C4D-EA6C-40DB-81C2-AADE5A58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38750"/>
            <a:ext cx="9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713AAD9-D154-4850-ADD0-6C779E2B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578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7ADD27B-EF94-4062-912B-4085AE6C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898989"/>
                </a:solidFill>
              </a:defRPr>
            </a:pPr>
            <a:r>
              <a:rPr sz="750" b="0">
                <a:solidFill>
                  <a:srgbClr val="898989"/>
                </a:solidFill>
              </a:rPr>
              <a:t>全局屏障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8912F402-F919-4DFD-87FC-EB9211D2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9881DAA1-750C-475E-A9C6-A6083D8B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6B51A4D7-467A-4974-9EF2-E6DFDA08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292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081205A6-75F6-49F3-9408-70299146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543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830166C-7159-4832-B6DA-D4EEE92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58165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26AFE21-6695-47E2-AB9C-5D76A01B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638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49AF4C13-5E25-414E-8FDF-CABB1C8C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581650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999B286B-85C5-4BD9-9A06-1776247E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00650"/>
            <a:ext cx="1924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异步调度消除全局同步屏障，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让通信与计算重叠，减少 idle waiting。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BEB42FB-C48C-4012-BE00-EDBB7BAA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1 页（Methodology / Benefits）</a:t>
            </a:r>
          </a:p>
        </p:txBody>
      </p:sp>
    </p:spTree>
    <p:extLst>
      <p:ext uri="{BB962C8B-B14F-4D97-AF65-F5344CB8AC3E}">
        <p14:creationId xmlns:p14="http://schemas.microsoft.com/office/powerpoint/2010/main" val="1269430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967932D-F650-4873-A080-3319570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PROJECT OVERVIEW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2B1D35E-8623-482F-BEA4-024D84C5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 是 vLLM 的 Attention–FFN 解耦外部插件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1CB71FF-2B57-48AA-8693-6E2F8037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8C5124-777F-49B4-AE3E-9751EF3A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60FBF93-F891-4C99-AD08-412E7C14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69DA"/>
                </a:solidFill>
              </a:defRPr>
            </a:pPr>
            <a:r>
              <a:rPr sz="1500" b="1">
                <a:solidFill>
                  <a:srgbClr val="0969DA"/>
                </a:solidFill>
              </a:rPr>
              <a:t>github.com/vllm-project/afd-plugin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8563769-987E-41B4-9DA8-6201FA43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7DE"/>
          </a:solidFill>
          <a:ln xmlns:a="http://schemas.openxmlformats.org/drawingml/2006/main" w="0">
            <a:solidFill>
              <a:srgbClr val="D0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D6F7F51-FFEE-4AAA-9103-9C1B4C3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55757"/>
                </a:solidFill>
              </a:defRPr>
            </a:pPr>
            <a:r>
              <a:rPr sz="1275" b="0">
                <a:solidFill>
                  <a:srgbClr val="555757"/>
                </a:solidFill>
              </a:rPr>
              <a:t>将 Attention 与 FFN / MoE 拆为独立运行角色，通过 Connector 交换激活，并让两侧资源按负载独立扩缩。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7F6DC57-A900-45C0-B92A-D26E501E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6A0"/>
          </a:solidFill>
          <a:ln xmlns:a="http://schemas.openxmlformats.org/drawingml/2006/main" w="0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BD91893-385D-4B49-AD8A-B2F0CD2B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046A0"/>
                </a:solidFill>
              </a:defRPr>
            </a:pPr>
            <a:r>
              <a:rPr sz="1200" b="1">
                <a:solidFill>
                  <a:srgbClr val="2046A0"/>
                </a:solidFill>
              </a:rPr>
              <a:t>插件化接入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B250AF-EA0C-44D9-A4ED-67E6ADA7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194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通过 vllm.general_plugins、role worker、model wrapper 与 additional_config 接入。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ADFD1BC-82E8-4BB3-A7EE-195B6725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57B5"/>
          </a:solidFill>
          <a:ln xmlns:a="http://schemas.openxmlformats.org/drawingml/2006/main" w="0">
            <a:solidFill>
              <a:srgbClr val="775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90C3F35-D043-47D6-B2AE-5F6FEAF8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757B5"/>
                </a:solidFill>
              </a:defRPr>
            </a:pPr>
            <a:r>
              <a:rPr sz="1200" b="1">
                <a:solidFill>
                  <a:srgbClr val="7757B5"/>
                </a:solidFill>
              </a:rPr>
              <a:t>多硬件、多模式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6496EA0-3535-4DBB-AFCA-EF008B7D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8195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覆盖 CUDA 与 Ascend NPU，支持同步 Decode 与异步 Prefill Connector。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7DFD16-884B-4D32-A098-5FE411DF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66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70C"/>
          </a:solidFill>
          <a:ln xmlns:a="http://schemas.openxmlformats.org/drawingml/2006/main" w="0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054431-CAD5-420F-BD1F-8626AAE8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6870C"/>
                </a:solidFill>
              </a:defRPr>
            </a:pPr>
            <a:r>
              <a:rPr sz="1200" b="1">
                <a:solidFill>
                  <a:srgbClr val="56870C"/>
                </a:solidFill>
              </a:rPr>
              <a:t>明确的兼容边界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17E3E87-0D02-4E0C-9CCF-61458503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19625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不修改 vLLM/vLLM-Ascend source tree。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4E11A22-381A-4406-A09C-A293BB27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4667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AEDD744-AD68-4E77-BD09-1ADDD4F5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55757"/>
                </a:solidFill>
              </a:defRPr>
            </a:pPr>
            <a:r>
              <a:rPr sz="975" b="0">
                <a:solidFill>
                  <a:srgbClr val="555757"/>
                </a:solidFill>
              </a:rPr>
              <a:t>当前状态：experimental，仍需在更多硬件与大规模场景中验证。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2C0478-D1DF-4D28-9CC4-AD28C68E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143000"/>
            <a:ext cx="59245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9525">
            <a:solidFill>
              <a:srgbClr val="D0D7D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ea1ce162f4852"/>
          <a:srcRect xmlns:a="http://schemas.openxmlformats.org/drawingml/2006/main" l="3296" t="0" r="32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295400"/>
            <a:ext cx="5619750" cy="4552950"/>
          </a:xfrm>
          <a:prstGeom xmlns:a="http://schemas.openxmlformats.org/drawingml/2006/main" prst="rect">
            <a:avLst/>
          </a:prstGeom>
        </p:spPr>
      </p:pic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E81B434-9435-4151-AF42-6821BF29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来源：README.md；https://github.com/vllm-project/afd-plugin</a:t>
            </a:r>
          </a:p>
        </p:txBody>
      </p:sp>
    </p:spTree>
    <p:extLst>
      <p:ext uri="{BB962C8B-B14F-4D97-AF65-F5344CB8AC3E}">
        <p14:creationId xmlns:p14="http://schemas.microsoft.com/office/powerpoint/2010/main" val="2007680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C9CB4A0-4EC9-48A9-A8B7-480FAD81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16732BB-D9B6-43BD-888E-5A4885D5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Plugin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CF57AC-A755-4475-A297-98C4D3E0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5</a:t>
            </a:r>
          </a:p>
        </p:txBody>
      </p:sp>
      <p:pic>
        <p:nvPicPr>
          <p:cNvPr id="35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c6b8c62fd44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8248" y="1247775"/>
            <a:ext cx="7332155" cy="4124325"/>
          </a:xfrm>
          <a:prstGeom xmlns:a="http://schemas.openxmlformats.org/drawingml/2006/main" prst="rect">
            <a:avLst/>
          </a:prstGeom>
        </p:spPr>
      </p:pic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ADCEA46-BFCB-46AC-B9F2-D58E1016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7127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Attention Role｜负责调度、KV Cache 与注意力计算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CE0E1A3-C835-4062-BDD0-2A3753E7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80820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AFDAttentionWorker：</a:t>
            </a:r>
            <a:r>
              <a:rPr sz="865" b="0">
                <a:solidFill>
                  <a:srgbClr val="555757"/>
                </a:solidFill>
              </a:rPr>
              <a:t>负责请求执行、设备协调、调度与状态管理。
• </a:t>
            </a:r>
            <a:r>
              <a:rPr sz="865" b="1">
                <a:solidFill>
                  <a:srgbClr val="555757"/>
                </a:solidFill>
              </a:rPr>
              <a:t>AFDAttentionModelRunner：</a:t>
            </a:r>
            <a:r>
              <a:rPr sz="865" b="0">
                <a:solidFill>
                  <a:srgbClr val="555757"/>
                </a:solidFill>
              </a:rPr>
              <a:t>组织批次、Attention 前向、KV Cache 与图执行。
• </a:t>
            </a:r>
            <a:r>
              <a:rPr sz="865" b="1">
                <a:solidFill>
                  <a:srgbClr val="555757"/>
                </a:solidFill>
              </a:rPr>
              <a:t>AFD Metadata：</a:t>
            </a:r>
            <a:r>
              <a:rPr sz="865" b="0">
                <a:solidFill>
                  <a:srgbClr val="555757"/>
                </a:solidFill>
              </a:rPr>
              <a:t>维护 DP、uBatch、序列映射及图运行元数据。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875513-4EF7-4F6E-B9C9-3CF587C1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35BD45E-DDC6-4D6D-894E-D74AE99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431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AFDConnector｜提供 Send / Recv 等通信能力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D8319D7-44B5-4610-ACA5-88C24EDF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527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P2pNcclAFDConnector：</a:t>
            </a:r>
            <a:r>
              <a:rPr sz="865" b="0">
                <a:solidFill>
                  <a:srgbClr val="555757"/>
                </a:solidFill>
              </a:rPr>
              <a:t>基于 GPU NCCL P2P Send / Recv 传输激活与结果。
• </a:t>
            </a:r>
            <a:r>
              <a:rPr sz="865" b="1">
                <a:solidFill>
                  <a:srgbClr val="555757"/>
                </a:solidFill>
              </a:rPr>
              <a:t>CAMP2pAFDConnector：</a:t>
            </a:r>
            <a:r>
              <a:rPr sz="865" b="0">
                <a:solidFill>
                  <a:srgbClr val="555757"/>
                </a:solidFill>
              </a:rPr>
              <a:t>基于NPU，使用 HCCL / CANN 同步收发张量。
• </a:t>
            </a:r>
            <a:r>
              <a:rPr sz="865" b="1">
                <a:solidFill>
                  <a:srgbClr val="555757"/>
                </a:solidFill>
              </a:rPr>
              <a:t>CAMAsyncAFDConnector：</a:t>
            </a:r>
            <a:r>
              <a:rPr sz="865" b="0">
                <a:solidFill>
                  <a:srgbClr val="555757"/>
                </a:solidFill>
              </a:rPr>
              <a:t>基于NPU，通过 CAM 算子异步交换 MoE 数据。
• </a:t>
            </a:r>
            <a:r>
              <a:rPr sz="865" b="1">
                <a:solidFill>
                  <a:srgbClr val="555757"/>
                </a:solidFill>
              </a:rPr>
              <a:t>Others：</a:t>
            </a:r>
            <a:r>
              <a:rPr sz="865" b="0">
                <a:solidFill>
                  <a:srgbClr val="555757"/>
                </a:solidFill>
              </a:rPr>
              <a:t>预留其他加速器与通信后端的扩展接口。未来可新增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7650D2F-503D-4905-937B-727DFE4A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7F28B10-1395-44E8-B9A1-58A9EA11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FFN Role｜负责专家计算与结果回传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8539042-EDB9-4EA6-931C-D3FFA5DB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FFNEngineCore：</a:t>
            </a:r>
            <a:r>
              <a:rPr sz="865" b="0">
                <a:solidFill>
                  <a:srgbClr val="555757"/>
                </a:solidFill>
              </a:rPr>
              <a:t>接收 Attention 激活，提供 FFN 侧调度与核心执行入口。
• </a:t>
            </a:r>
            <a:r>
              <a:rPr sz="865" b="1">
                <a:solidFill>
                  <a:srgbClr val="555757"/>
                </a:solidFill>
              </a:rPr>
              <a:t>AFDFFNWorker：</a:t>
            </a:r>
            <a:r>
              <a:rPr sz="865" b="0">
                <a:solidFill>
                  <a:srgbClr val="555757"/>
                </a:solidFill>
              </a:rPr>
              <a:t>管理设备资源、请求队列和实例执行生命周期。
• </a:t>
            </a:r>
            <a:r>
              <a:rPr sz="865" b="1">
                <a:solidFill>
                  <a:srgbClr val="555757"/>
                </a:solidFill>
              </a:rPr>
              <a:t>AFDFFNModelRunner：</a:t>
            </a:r>
            <a:r>
              <a:rPr sz="865" b="0">
                <a:solidFill>
                  <a:srgbClr val="555757"/>
                </a:solidFill>
              </a:rPr>
              <a:t>组织 FFN / MoE 前向、专家计算与结果聚合。
• </a:t>
            </a:r>
            <a:r>
              <a:rPr sz="865" b="1">
                <a:solidFill>
                  <a:srgbClr val="555757"/>
                </a:solidFill>
              </a:rPr>
              <a:t>FFN Loop：</a:t>
            </a:r>
            <a:r>
              <a:rPr sz="865" b="0">
                <a:solidFill>
                  <a:srgbClr val="555757"/>
                </a:solidFill>
              </a:rPr>
              <a:t>持续接收激活、触发计算，并将结果回传 Attention 实例。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681A67C-4CD0-4B40-9228-057E45DC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C1B4E29-2DE4-4A26-B19E-C8642BA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AFD Model Wrappers｜模型适配与运行支撑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C5F3063-E927-412D-97A4-6847B11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86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</a:t>
            </a:r>
            <a:r>
              <a:rPr sz="865" b="1">
                <a:solidFill>
                  <a:srgbClr val="555757"/>
                </a:solidFill>
              </a:rPr>
              <a:t>AFD Model Wrappers：</a:t>
            </a:r>
            <a:r>
              <a:rPr sz="865" b="0">
                <a:solidFill>
                  <a:srgbClr val="555757"/>
                </a:solidFill>
              </a:rPr>
              <a:t>封装模型层，按 Attention / FFN 角色接入拆分执行路径。
• </a:t>
            </a:r>
            <a:r>
              <a:rPr sz="865" b="1">
                <a:solidFill>
                  <a:srgbClr val="555757"/>
                </a:solidFill>
              </a:rPr>
              <a:t>uBatch 管理：</a:t>
            </a:r>
            <a:r>
              <a:rPr sz="865" b="0">
                <a:solidFill>
                  <a:srgbClr val="555757"/>
                </a:solidFill>
              </a:rPr>
              <a:t>完成微批拆分、阶段衔接与执行节奏控制。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2C85EA4-F71C-4B92-B611-E2CCC4E9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应用覆盖与核心能力沿用原材料；架构图更新为当前仓库版本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A4F4008-8D03-445F-AF07-1D096878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2 页；docs/assets/vllm-afd-plugin-architecture.svg</a:t>
            </a:r>
          </a:p>
        </p:txBody>
      </p:sp>
    </p:spTree>
    <p:extLst>
      <p:ext uri="{BB962C8B-B14F-4D97-AF65-F5344CB8AC3E}">
        <p14:creationId xmlns:p14="http://schemas.microsoft.com/office/powerpoint/2010/main" val="323038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718E2B6-B812-4138-B89C-9DF44BE0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RUNTIME FLOW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1391BF8-C122-42A2-AA72-525EF393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AFD 运行架构：Attention 调度，Connector 传输，FFN 常驻计算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6AD2A1B-9459-466C-A9AE-4E45B896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6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1A1334C-95CE-48D2-900D-B7839975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Attention 负责调度、KV Cache 与采样；FFN 无 Scheduler，由 Connector 双向传递激活值与计算结果。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7295B09-4B31-4F23-B2F0-AA0D1F7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1">
                <a:solidFill>
                  <a:srgbClr val="898989"/>
                </a:solidFill>
              </a:defRPr>
            </a:pPr>
            <a:r>
              <a:rPr sz="750" b="0" i="1">
                <a:solidFill>
                  <a:srgbClr val="898989"/>
                </a:solidFill>
              </a:rPr>
              <a:t>来源：当前 afd-plugin 代码；vllm-afd-plugin-architecture.svg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37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45c99bcbd43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106034"/>
            <a:ext cx="11277600" cy="45983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689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4964DC5B-F245-4340-A7FD-FED1B2AF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CONNECTOR CONTRACT</a:t>
            </a:r>
            <a:endParaRPr sz="825" b="1">
              <a:solidFill>
                <a:srgbClr val="898989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60A38AA-ACB1-4F7B-93B5-234A15F9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Connector Base：统一生命周期、数据面与控制面契约</a:t>
            </a:r>
            <a:endParaRPr sz="2250" b="1">
              <a:solidFill>
                <a:srgbClr val="C00000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17C02FB-7AA6-4B0E-9141-213B382A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7</a:t>
            </a:r>
            <a:endParaRPr sz="825" b="0">
              <a:solidFill>
                <a:srgbClr val="898989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C4591C50-997D-4269-8951-2ACC3A72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7127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生命周期｜资源由 Connector 自主管理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04F1119-B3C1-4077-964F-CE937157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80820"/>
            <a:ext cx="3667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parse_extra_config → init_afd_connector → is_initialized → close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EE43608-1C61-49DD-BB43-D1E43691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418E35A-7F19-442B-99FF-52FF17B0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431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Attention 数据面｜发起与回收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6BCDB33-35C9-43E6-8871-FE5787F8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527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send_attn_output(hidden_states, context)；recv_ffn_output(ref_tensor)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77450D4-ABE4-451B-8F94-47B24FD3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04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A1BC7BE-2646-4909-A05A-CBF1416F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766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FFN 数据面｜接收、计算与返回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603024F-8ED4-4CD0-864A-0B055F4A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86200"/>
            <a:ext cx="3667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recv_attn_output() 返回 payload；send_ffn_output(output, context)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5BF5E7C7-2052-4C91-AA57-8E195CC6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366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A8AC6C0-D320-4226-A30B-A0F35D3F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57750"/>
            <a:ext cx="3667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B1D21"/>
                </a:solidFill>
                <a:latin typeface="微软雅黑"/>
                <a:ea typeface="微软雅黑"/>
                <a:cs typeface="微软雅黑"/>
              </a:rPr>
              <a:t>可选控制面｜同步 Connector 才启用</a:t>
            </a:r>
            <a:endParaRPr sz="1125" b="1">
              <a:solidFill>
                <a:srgbClr val="1B1D21"/>
              </a:solidFill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7D189D6-A93A-4391-A0E5-6ADF6690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86350"/>
            <a:ext cx="3667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• control_plane 传递 DP metadata；CAM Async 由 dispatch payload 驱动</a:t>
            </a:r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3206F3F-3A1C-4934-B138-BA835027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Base 只定义语义与时序；P2P、CAMP2P、CAM Async 负责后端实现。</a:t>
            </a:r>
            <a:endParaRPr sz="825" b="0">
              <a:solidFill>
                <a:srgbClr val="555757"/>
              </a:solidFill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F21A4C6-CD8F-40BF-BBE2-F683B5DF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 i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来源：afd_plugin/connectors/base.py；docs/design/module/connector_contracts.md</a:t>
            </a:r>
            <a:endParaRPr sz="675" b="0" i="1">
              <a:solidFill>
                <a:srgbClr val="898989"/>
              </a:solidFill>
            </a:endParaRPr>
          </a:p>
        </p:txBody>
      </p:sp>
      <p:pic>
        <p:nvPicPr>
          <p:cNvPr id="48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d3d4c6b8e442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8475" y="1247775"/>
            <a:ext cx="7311701" cy="412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47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0C19508-8DDD-49A6-973C-5FAD4942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D89B12C-0EDF-4FF2-BE22-E96D6751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CAMP2PConnector：双微批完全重叠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DF6C361-ACB1-444E-9B53-7CCB65D3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8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C067293-5790-4CF1-9559-E568FB30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DBO 将通信嵌入双微批流水，Attention 的执行窗口完整覆盖当前批 FFN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1A37CA8-0772-460E-B5A2-152394A3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来源：afd-plugin/docs/npu/dbo.png；流水图由 ImageGen 在原图语义上定向润色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1825CD9-6FD1-4275-8E3C-56D100A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55757"/>
                </a:solidFill>
              </a:defRPr>
            </a:pPr>
            <a:r>
              <a:rPr sz="1275" b="0" i="0">
                <a:solidFill>
                  <a:srgbClr val="555757"/>
                </a:solidFill>
              </a:rPr>
              <a:t>缩短 FFN 计算段后，下一批 Attention 与 FFN 同步启动，并在 FFN 结束后继续执行，完整隐藏当前批 FFN 时延。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A0C97DE6-D0B0-4906-AF14-7ABA08DC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7429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1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099ba22584a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1503408"/>
            <a:ext cx="7200900" cy="2879634"/>
          </a:xfrm>
          <a:prstGeom xmlns:a="http://schemas.openxmlformats.org/drawingml/2006/main" prst="rect">
            <a:avLst/>
          </a:prstGeom>
        </p:spPr>
      </p:pic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BF33D1A5-3161-4916-B6E8-8833B37B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71600"/>
            <a:ext cx="3314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416150F-D1F3-4A52-AA79-F3352106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04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流水过程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B35F182F-BF4F-4329-BD9E-58F7B5A8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62125"/>
            <a:ext cx="2971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898989"/>
                </a:solidFill>
              </a:defRPr>
            </a:pPr>
            <a:r>
              <a:rPr sz="900" b="0" i="0">
                <a:solidFill>
                  <a:srgbClr val="898989"/>
                </a:solidFill>
              </a:rPr>
              <a:t>双微批持续推进，通信与两类计算交叠执行</a:t>
            </a: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4C582FED-5D75-4AC3-BC63-9C56493D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8A92F19B-8905-47CF-A0E5-60C334C2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接收与 Attention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4298064-DD86-47C2-94D0-1D24CF0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764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Attention 侧接收上一层 FFN 返回的激活，执行 uBatch1。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72B54431-01A5-46B4-B84D-47E2A95C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67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0BF1C6B-2AF1-4A81-BAAC-979FFE6B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A2F 发送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C44DB36-1015-4B2F-8F1F-84226CF4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670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uBatch1 完成后立即 P2P 发往 FFN，同时启动 uBatch2。</a:t>
            </a: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77220DF4-29C2-4236-8C78-CCFFB323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575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1EDDF3A-3100-4929-80D3-C0D769C3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FFN 完整被覆盖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01C31AE-F041-475A-A70C-CB8BA852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575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FFN(uBatch1) 完整落在 Attention(uBatch2) 时间窗内。</a:t>
            </a: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19CEC884-A324-479D-8A5E-8367C144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481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063FB1C-97AE-44EF-A86F-9C05BDC2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29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F2A 返回并进入下一轮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7861988-8AF1-4357-BC70-0902F90B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555757"/>
                </a:solidFill>
              </a:defRPr>
            </a:pPr>
            <a:r>
              <a:rPr sz="975" b="0" i="0">
                <a:solidFill>
                  <a:srgbClr val="555757"/>
                </a:solidFill>
              </a:rPr>
              <a:t>FFN 输出发回 Attention；两侧继续处理后续微批。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C1B5AA17-EC49-4661-8395-2A78F6B8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10896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4EC"/>
          </a:solidFill>
          <a:ln xmlns:a="http://schemas.openxmlformats.org/drawingml/2006/main" w="9525">
            <a:solidFill>
              <a:srgbClr val="F1C2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DE848F1-7D1D-4C3F-BA08-11685D73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关键重叠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FEABAF37-05A3-4429-B9FD-F9DFDC44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910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Attention(uBatch2) 完整覆盖 FFN(uBatch1)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61EA8CD6-83BB-4085-AFC2-301863EC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36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55757"/>
                </a:solidFill>
              </a:defRPr>
            </a:pPr>
            <a:r>
              <a:rPr sz="1125" b="0" i="0">
                <a:solidFill>
                  <a:srgbClr val="555757"/>
                </a:solidFill>
              </a:rPr>
              <a:t>Attention 与 FFN 同步启动并延后结束；通信、专家计算与返回阶段持续流水化，减少同步等待。</a:t>
            </a:r>
          </a:p>
        </p:txBody>
      </p:sp>
    </p:spTree>
    <p:extLst>
      <p:ext uri="{BB962C8B-B14F-4D97-AF65-F5344CB8AC3E}">
        <p14:creationId xmlns:p14="http://schemas.microsoft.com/office/powerpoint/2010/main" val="2031854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074E78A-1687-4B83-9D8E-08FD5FE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E5A3CC2-6A16-42F4-83D1-90996953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Attention–FFN Prefill 分离异步方案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2B6ED840-E41A-4856-A17B-E0ADB8A0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8966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0EA369E-208D-4F8B-8EC0-98CB0F95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7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05C1574-190D-4D5D-BEEB-97C4BFF2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4775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同步方案：AF不分离，Attn DP2CP16/DP4CP8、FFN EP32</a:t>
            </a:r>
          </a:p>
        </p:txBody>
      </p:sp>
      <p:pic>
        <p:nvPicPr>
          <p:cNvPr id="38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00ea4bf5b45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8595" y="1352550"/>
            <a:ext cx="5902960" cy="1066800"/>
          </a:xfrm>
          <a:prstGeom xmlns:a="http://schemas.openxmlformats.org/drawingml/2006/main" prst="rect">
            <a:avLst/>
          </a:prstGeom>
        </p:spPr>
      </p:pic>
      <p:pic>
        <p:nvPicPr>
          <p:cNvPr id="39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48aa6fe83b49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7725" y="1181100"/>
            <a:ext cx="2819400" cy="129540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747B213D-70B3-4D38-AA1A-C852A338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966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B8CE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DFB840A-75F0-4C1B-8171-D53045C7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726A1ED-6FE7-44D8-9BFE-202B05F3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6225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AFD异步方案：AF分离，Attn DP3CP8、FFN EP8</a:t>
            </a:r>
          </a:p>
        </p:txBody>
      </p:sp>
      <p:pic>
        <p:nvPicPr>
          <p:cNvPr id="43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3c79ecfe443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3980" y="3086100"/>
            <a:ext cx="6542690" cy="114300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B0C30B5-0C0F-4211-9008-ED7B0320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71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56082"/>
                </a:solidFill>
              </a:defRPr>
            </a:pPr>
            <a:r>
              <a:rPr sz="1275" b="1" i="0">
                <a:solidFill>
                  <a:srgbClr val="156082"/>
                </a:solidFill>
              </a:rPr>
              <a:t>Attention 与 FFN 独立推进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09E182E-5798-4C94-AC9C-6E05BCBD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95675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A2F send / F2A recv 穿插在请求流水中，EP 侧连续处理各请求的专家计算。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673E400-8571-4B6E-A2AC-070B43A8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201FC62-3178-4835-BD19-ADC7981C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958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异步通信算子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9F94148-9A3E-4F37-9996-80D432C5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199DA38-DEF7-42F3-AFFD-2629F4C7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2762B81-D194-40D1-8125-044CC1E3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6082"/>
                </a:solidFill>
              </a:defRPr>
            </a:pPr>
            <a:r>
              <a:rPr sz="1050" b="1" i="0">
                <a:solidFill>
                  <a:srgbClr val="156082"/>
                </a:solidFill>
              </a:rPr>
              <a:t>dispatch_send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388C2A2-4787-4CCA-BB47-0CA48C33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768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Attention卡根据路由表将每个token按top-k选择分发到对应MoE Expert卡的共享内存中，同时均匀分配token给各卡的共享专家。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08C34B2-532E-4975-A18E-58041B28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9D8F"/>
                </a:solidFill>
              </a:defRPr>
            </a:pPr>
            <a:r>
              <a:rPr sz="1050" b="1" i="0">
                <a:solidFill>
                  <a:srgbClr val="2D9D8F"/>
                </a:solidFill>
              </a:rPr>
              <a:t>dispatch_recv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6AF22AE-F7F5-4875-B115-09181918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768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MoEExpert卡轮询各Attention卡的共享内存，等待数据就绪后将token按专家维度重排收集到本地buffer，输出每个专家收到的token及元信息供后续计算使用。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7B0051-F733-419A-9330-970A817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97132"/>
                </a:solidFill>
              </a:defRPr>
            </a:pPr>
            <a:r>
              <a:rPr sz="1050" b="1" i="0">
                <a:solidFill>
                  <a:srgbClr val="E97132"/>
                </a:solidFill>
              </a:rPr>
              <a:t>combine_send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A679A01-9470-4B9A-AB7B-D0E9F565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483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MoEExpert卡完成本地专家计算后，根据dispatch_recv产出的元信息将路由专家和共享专家的计算结果按原路写回对应Attention卡的共享内存。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8A6A4EC-355C-41D9-94A7-32D0C1F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448300"/>
            <a:ext cx="116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F8F13"/>
                </a:solidFill>
              </a:defRPr>
            </a:pPr>
            <a:r>
              <a:rPr sz="1050" b="1" i="0">
                <a:solidFill>
                  <a:srgbClr val="4F8F13"/>
                </a:solidFill>
              </a:rPr>
              <a:t>combine_recv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6041144-19ED-4779-9900-C8FAF520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4048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r>
              <a:rPr sz="940" b="0" i="0">
                <a:solidFill>
                  <a:srgbClr val="555757"/>
                </a:solidFill>
              </a:rPr>
              <a:t>Attention卡等待所有MoE Expert卡回传完成，遍历路由表从共享内存中读出每个token的top-k专家输出与共享专家输出，按门控分数加权累加得到最终token输出。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2486C60-D219-46FD-B811-69E54558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同步与异步方案对比；四个通信算子说明保持原材料内容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7E29B07-D151-4C09-8F23-B2D5D13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来源：AFD-Plugin(2).pptx 第 6 页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772EFCD-AE15-45B5-ACB7-2B52CDED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751481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688D239-8BB5-48B0-B6A2-ACBBC1C0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USAGE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7CC9BB0-5B63-47EE-8214-654F3C02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Usage：分别启动 Attention 与 FFN 实例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A37D4797-C355-4FEC-9329-0756F07E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96600" cy="2266950"/>
          </a:xfrm>
          <a:prstGeom xmlns:a="http://schemas.openxmlformats.org/drawingml/2006/main" prst="roundRect">
            <a:avLst>
              <a:gd name="adj" fmla="val 48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E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A948FDF-E75A-45BC-9BF7-F7DC6657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04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r>
              <a:rPr sz="1425" b="1" i="0">
                <a:solidFill>
                  <a:srgbClr val="C70000"/>
                </a:solidFill>
              </a:rPr>
              <a:t>01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277C55-6F19-4A3E-A40D-521AEDEA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1049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Attention-side shape</a:t>
            </a:r>
          </a:p>
        </p:txBody>
      </p:sp>
      <p:sp>
        <p:nvSpPr>
          <p:cNvPr id="30" name="图片 33">
            <a:extLst xmlns:a="http://schemas.openxmlformats.org/drawingml/2006/main">
              <a:ext uri="{FF2B5EF4-FFF2-40B4-BE49-F238E27FC236}">
                <a16:creationId xmlns:a16="http://schemas.microsoft.com/office/drawing/2014/main" id="{714B9CED-9356-47AD-9343-9EE9368F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2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72a78daa743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31" name="图片 34">
            <a:extLst xmlns:a="http://schemas.openxmlformats.org/drawingml/2006/main">
              <a:ext uri="{FF2B5EF4-FFF2-40B4-BE49-F238E27FC236}">
                <a16:creationId xmlns:a16="http://schemas.microsoft.com/office/drawing/2014/main" id="{7ADF0851-01FC-47B8-908C-1F77F4D5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4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5814d23cb43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3513DDC-1F60-44FA-A9D9-A216372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896600" cy="2362200"/>
          </a:xfrm>
          <a:prstGeom xmlns:a="http://schemas.openxmlformats.org/drawingml/2006/main" prst="roundRect">
            <a:avLst>
              <a:gd name="adj" fmla="val 459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B8CEE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4EE8CAC-BBD2-4C22-A045-93A8F500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56082"/>
                </a:solidFill>
              </a:defRPr>
            </a:pPr>
            <a:r>
              <a:rPr sz="1425" b="1" i="0">
                <a:solidFill>
                  <a:srgbClr val="156082"/>
                </a:solidFill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4F58F30-0F8D-439D-BC68-330995C6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05200"/>
            <a:ext cx="988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r>
              <a:rPr sz="1350" b="1" i="0">
                <a:solidFill>
                  <a:srgbClr val="1D1D1A"/>
                </a:solidFill>
              </a:rPr>
              <a:t>GPU FFN-side shape</a:t>
            </a:r>
          </a:p>
        </p:txBody>
      </p:sp>
      <p:sp>
        <p:nvSpPr>
          <p:cNvPr id="32" name="图片 38">
            <a:extLst xmlns:a="http://schemas.openxmlformats.org/drawingml/2006/main">
              <a:ext uri="{FF2B5EF4-FFF2-40B4-BE49-F238E27FC236}">
                <a16:creationId xmlns:a16="http://schemas.microsoft.com/office/drawing/2014/main" id="{0784CF31-CCF8-4A14-9BF5-496F0F89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7ecac953f64a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E77C6-7DB6-4187-904E-40A5EA00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vllm serve /path/to/DeepSeek-V2-Lite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--served-model-name deepseek-v2-lite-afd-attention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--data-parallel-size 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--tensor-parallel-size 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--enable-expert-parallel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--enforce-eager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--host 127.0.0.1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--port 18000 \</a:t>
            </a:r>
            <a:endParaRPr sz="1275" b="1" i="0">
              <a:solidFill>
                <a:srgbClr val="156082"/>
              </a:solidFill>
            </a:endParaRPr>
          </a:p>
          <a:p xmlns:a="http://schemas.openxmlformats.org/drawingml/2006/main">
            <a:pPr algn="l">
              <a:buNone/>
              <a:defRPr sz="1015" b="1" i="0">
                <a:solidFill>
                  <a:srgbClr val="202124"/>
                </a:solidFill>
              </a:defRPr>
            </a:pPr>
            <a:r>
              <a:rPr sz="1015" b="1" i="0">
                <a:solidFill>
                  <a:srgbClr val="202124"/>
                </a:solidFill>
              </a:rPr>
              <a:t>  --additional-config '{"afd":{"role":"attention","connector":"P2pNcclAFDConnector","host":"127.0.0.1","port":6239,"num_attention_ranks":1,"num_ffn_ranks":1}}'</a:t>
            </a:r>
            <a:endParaRPr sz="1275" b="1" i="0">
              <a:solidFill>
                <a:srgbClr val="156082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EB78762-B934-4454-A284-4967E35F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vllm serve /path/to/DeepSeek-V2-Lite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--served-model-name deepseek-v2-lite-afd-ffn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--data-parallel-size 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--tensor-parallel-size 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--enable-expert-parallel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--enforce-eager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--host 127.0.0.1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--port 18001 \</a:t>
            </a:r>
            <a:endParaRPr sz="1050" b="0" i="0">
              <a:solidFill>
                <a:srgbClr val="555757"/>
              </a:solidFill>
            </a:endParaRPr>
          </a:p>
          <a:p xmlns:a="http://schemas.openxmlformats.org/drawingml/2006/main">
            <a:pPr algn="l">
              <a:buNone/>
              <a:defRPr sz="1015" b="0" i="0">
                <a:solidFill>
                  <a:srgbClr val="202124"/>
                </a:solidFill>
              </a:defRPr>
            </a:pPr>
            <a:r>
              <a:rPr sz="1015" b="0" i="0">
                <a:solidFill>
                  <a:srgbClr val="202124"/>
                </a:solidFill>
              </a:rPr>
              <a:t>  --additional-config '{"afd":{"role":"ffn","connector":"P2pNcclAFDConnector","host":"127.0.0.1","port":6239,"num_attention_ranks":1,"num_ffn_ranks":1}}'</a:t>
            </a:r>
            <a:endParaRPr sz="1050" b="0" i="0">
              <a:solidFill>
                <a:srgbClr val="555757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17149DB-3A40-4B1B-A4BA-E00BD23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C70000"/>
                </a:solidFill>
              </a:defRPr>
            </a:pPr>
            <a:endParaRPr sz="1425" b="1" i="0">
              <a:solidFill>
                <a:srgbClr val="C70000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8696484-C114-40A4-99AA-82C1A5EA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D1D1A"/>
                </a:solidFill>
              </a:defRPr>
            </a:pPr>
            <a:endParaRPr sz="1350" b="1" i="0">
              <a:solidFill>
                <a:srgbClr val="1D1D1A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5D5617B-A7F0-4386-ADFB-96326E7A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2054216-3894-474D-A6A2-296BDFD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4BB5C40-F0B4-4F69-AC8B-B48DF3F7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6082"/>
                </a:solidFill>
              </a:defRPr>
            </a:pPr>
            <a:endParaRPr sz="1050" b="1" i="0">
              <a:solidFill>
                <a:srgbClr val="156082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A0CC696-FB2D-4D7C-BCA5-19AE0EF7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5D951BD-A5E0-4014-86FC-590A3D82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9D8F"/>
                </a:solidFill>
              </a:defRPr>
            </a:pPr>
            <a:endParaRPr sz="1050" b="1" i="0">
              <a:solidFill>
                <a:srgbClr val="2D9D8F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AB8918D-69EE-4301-AF96-9987965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856088B-10FB-4711-B0B9-24DD53FF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E97132"/>
                </a:solidFill>
              </a:defRPr>
            </a:pPr>
            <a:endParaRPr sz="1050" b="1" i="0">
              <a:solidFill>
                <a:srgbClr val="E97132"/>
              </a:solidFill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B26A1DA-B8FD-4FDD-8571-D4CD06C3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1B7005A-E779-4171-868D-18B5C538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4F8F13"/>
                </a:solidFill>
              </a:defRPr>
            </a:pPr>
            <a:endParaRPr sz="1050" b="1" i="0">
              <a:solidFill>
                <a:srgbClr val="4F8F13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E6EC407-4756-4217-B1A2-B4FB1E82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0" b="0" i="0">
                <a:solidFill>
                  <a:srgbClr val="555757"/>
                </a:solidFill>
              </a:defRPr>
            </a:pPr>
            <a:endParaRPr sz="940" b="0" i="0">
              <a:solidFill>
                <a:srgbClr val="555757"/>
              </a:solidFill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2CB570C-C35F-47AB-9CE5-AF0F371A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同一组 host / port 与 rank 数配置必须在两侧保持一致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68EAB4B-7CFD-4CA1-B27B-A86C2252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来源：AFD Plugin README · GPU P2P serving example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C014B7F-CB3B-41C6-AB18-C50D1E22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52887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5B2A7CD-E992-4F20-99FF-F07BEBC1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SYNC DECODE RESULTS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91CC185-98F5-4AF1-B97B-0B04AB76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64A16F 提升 9%–11%，但 A:F 配比决定收益方向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BF7417A-B0BB-49B1-B20E-49301CB9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F601FE5-83EA-41ED-B1DA-0B82753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B431CB1-C53B-41E0-9569-BB0DD079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F"/>
          </a:solidFill>
          <a:ln xmlns:a="http://schemas.openxmlformats.org/drawingml/2006/main" w="9525">
            <a:solidFill>
              <a:srgbClr val="ED6D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3D47678-0D86-4E24-AE9F-029466E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40" b="0">
                <a:solidFill>
                  <a:srgbClr val="555757"/>
                </a:solidFill>
              </a:defRPr>
            </a:pPr>
            <a:r>
              <a:rPr sz="940" b="0">
                <a:solidFill>
                  <a:srgbClr val="555757"/>
                </a:solidFill>
              </a:rPr>
              <a:t>测试口径：版本 v0.19.1rc1；DeepSeek-V3.2 W8A8、Ascend 910C，输出长度 512–1,536 tokens，吞吐按物理 die 归一化。结果使用 forced expert balancing，仅用于受控性能对比，不代表精度或生产 serving。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5E3B13F-FEF5-4CF9-B7DC-80DBEE46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16K input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17898B2-E789-47F7-BA0A-6EA1B431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32K input</a:t>
            </a:r>
          </a:p>
        </p:txBody>
      </p:sp>
      <p:pic>
        <p:nvPicPr>
          <p:cNvPr id="28" name="图片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d773ce12b4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9300" y="1752600"/>
            <a:ext cx="4462226" cy="2266950"/>
          </a:xfrm>
          <a:prstGeom xmlns:a="http://schemas.openxmlformats.org/drawingml/2006/main" prst="rect">
            <a:avLst/>
          </a:prstGeom>
        </p:spPr>
      </p:pic>
      <p:pic>
        <p:nvPicPr>
          <p:cNvPr id="29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596caf46049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0475" y="1752600"/>
            <a:ext cx="4462226" cy="22669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30" name="表格 25"/>
          <p:cNvGraphicFramePr/>
          <p:nvPr/>
        </p:nvGraphicFramePr>
        <p:xfrm>
          <a:off xmlns:a="http://schemas.openxmlformats.org/drawingml/2006/main" x="609600" y="4114800"/>
          <a:ext xmlns:a="http://schemas.openxmlformats.org/drawingml/2006/main" cx="10972800" cy="1257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EP64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48A16F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64A16F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</a:rPr>
                        <a:t>Δ vs EP64</a:t>
                      </a:r>
                    </a:p>
                  </a:txBody>
                  <a:tcPr marL="91440" marR="91440" marT="45720" marB="45720">
                    <a:solidFill>
                      <a:srgbClr val="11182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232.6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220.3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−5.3%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258.9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+11.3%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168.2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151.4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555757"/>
                          </a:solidFill>
                        </a:rPr>
                        <a:t>−10.0%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0">
                          <a:solidFill>
                            <a:srgbClr val="1B1D21"/>
                          </a:solidFill>
                        </a:rPr>
                        <a:t>183.3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C00000"/>
                          </a:solidFill>
                        </a:rPr>
                        <a:t>+9.0%</a:t>
                      </a:r>
                    </a:p>
                  </a:txBody>
                  <a:tcPr marL="91440" marR="91440" marT="45720" marB="45720">
                    <a:solidFill>
                      <a:srgbClr val="FCE8E8"/>
                    </a:solidFill>
                  </a:tcPr>
                </a:tc>
              </a:tr>
            </a:tbl>
          </a:graphicData>
        </a:graphic>
      </p:graphicFrame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179D058-A8EB-4E03-9878-4CA240EE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D53DAE1-C564-474F-9914-3102AB37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解耦提供了资源配比的调参空间，但不保证任意 A:F 比例都更快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452AE5D-15ED-4263-96F5-48B6DE81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>
                <a:solidFill>
                  <a:srgbClr val="555757"/>
                </a:solidFill>
              </a:rPr>
              <a:t>测试设置：版本 v0.19.1rc1；开启专家强制均衡（forced expert balancing）</a:t>
            </a:r>
            <a:r>
              <a:rPr sz="1400"/>
              <a:t>单位：output tokens/s/die</a:t>
            </a:r>
            <a:endParaRPr sz="1400" b="0" i="1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24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45BAECB-36E2-4C7C-AF6F-C534BF3D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ASYNC PREFILL RESULTS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890D8AD-A579-4A5B-848C-08738172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异步 AFD：P50 TTFT 降低 60%+，有效吞吐最高提升 2.2×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67333BD-8172-44FE-9F57-BA44581F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B854717-A3BD-472E-8F57-B5B166ED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3E707C5-0D8E-417F-AA93-F248ED8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9AE975-ED5C-476D-BC7B-344B4347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046A0"/>
                </a:solidFill>
              </a:defRPr>
            </a:pPr>
            <a:r>
              <a:rPr sz="1050" b="1">
                <a:solidFill>
                  <a:srgbClr val="2046A0"/>
                </a:solidFill>
              </a:rPr>
              <a:t>模型：DeepSeek-V3.2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03C7308-3E86-466C-B1EB-607F30C1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09537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56870C"/>
                </a:solidFill>
              </a:defRPr>
            </a:pPr>
            <a:r>
              <a:rPr sz="1050" b="1">
                <a:solidFill>
                  <a:srgbClr val="56870C"/>
                </a:solidFill>
              </a:rPr>
              <a:t>对比：DP4PCP8  vs.  AFD（DP3PCP3 + EP8）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7E3CD98-1273-46FE-BB28-8CC47FA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0953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ED6D00"/>
                </a:solidFill>
              </a:defRPr>
            </a:pPr>
            <a:r>
              <a:rPr sz="1050" b="1">
                <a:solidFill>
                  <a:srgbClr val="ED6D00"/>
                </a:solidFill>
              </a:rPr>
              <a:t>硬件：Ascend 910C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DCF051F-47E1-4D33-AFF1-379F7118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AFD 在各分位 TTFT 上均优于 DP4PCP8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DC0E8DD-11A6-4A36-9972-B18C55D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81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B1D21"/>
                </a:solidFill>
              </a:defRPr>
            </a:pPr>
            <a:r>
              <a:rPr sz="1200" b="1">
                <a:solidFill>
                  <a:srgbClr val="1B1D21"/>
                </a:solidFill>
              </a:rPr>
              <a:t>SLO 越严格，AFD 的有效吞吐优势越明显</a:t>
            </a:r>
          </a:p>
        </p:txBody>
      </p:sp>
      <p:pic>
        <p:nvPicPr>
          <p:cNvPr id="36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200ab644248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90235"/>
            <a:ext cx="5334000" cy="2582230"/>
          </a:xfrm>
          <a:prstGeom xmlns:a="http://schemas.openxmlformats.org/drawingml/2006/main" prst="rect">
            <a:avLst/>
          </a:prstGeom>
        </p:spPr>
      </p:pic>
      <p:pic>
        <p:nvPicPr>
          <p:cNvPr id="3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1b60ebf7143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5153" y="1885950"/>
            <a:ext cx="5060494" cy="2590800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4CA0941-01DC-4D07-A83E-64EAB746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B"/>
          </a:solidFill>
          <a:ln xmlns:a="http://schemas.openxmlformats.org/drawingml/2006/main" w="9525">
            <a:solidFill>
              <a:srgbClr val="2046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472D518-5977-4CE0-BD6A-1419256F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720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46A0"/>
                </a:solidFill>
              </a:defRPr>
            </a:pPr>
            <a:r>
              <a:rPr sz="1125" b="1">
                <a:solidFill>
                  <a:srgbClr val="2046A0"/>
                </a:solidFill>
              </a:rPr>
              <a:t>TTFT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28C33C6-C679-41CD-83ED-6F5A84DD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52975"/>
            <a:ext cx="422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中负载（RQS 6–10）：P50 TTFT 降低 60%–70%；高负载（&gt;14）：仍降低 25%。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F36CFCC-2F5B-4E73-A9DC-B0ECD36F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533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7"/>
          </a:solidFill>
          <a:ln xmlns:a="http://schemas.openxmlformats.org/drawingml/2006/main" w="9525">
            <a:solidFill>
              <a:srgbClr val="56870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87C24BE-48AB-4B9D-A603-4A566C0F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720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6870C"/>
                </a:solidFill>
              </a:defRPr>
            </a:pPr>
            <a:r>
              <a:rPr sz="1125" b="1">
                <a:solidFill>
                  <a:srgbClr val="56870C"/>
                </a:solidFill>
              </a:rPr>
              <a:t>GOODPUT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F555D14-BAD8-49FC-9486-4C22C087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752975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B1D21"/>
                </a:solidFill>
              </a:defRPr>
            </a:pPr>
            <a:r>
              <a:rPr sz="1050" b="0">
                <a:solidFill>
                  <a:srgbClr val="1B1D21"/>
                </a:solidFill>
              </a:rPr>
              <a:t>TTFT SLO 2s：0.223 vs. 0.095 req/s/die；SLO 5s：0.272 vs. 0.218 req/s/die。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7FF2733-C8AC-4334-8113-7C12DBA9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83618B7-53B5-485D-985F-8EE7A7A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异步 AFD 同时改善尾延迟与 SLO 有效吞吐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5D0FC68-D9D8-4C5B-BFF8-935DB62E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2932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1400" b="0">
                <a:solidFill>
                  <a:srgbClr val="555757"/>
                </a:solidFill>
              </a:rPr>
              <a:t>测试设置：版本 v0.19.1rc1；使用减层模型，并开启专家强制均衡（forced expert balancing）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7AB3D83-FBF3-4A27-9765-7756E401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来源：原始 PPT 第 4 页；DeepSeek-V3.2 / Ascend 910C</a:t>
            </a:r>
          </a:p>
        </p:txBody>
      </p:sp>
    </p:spTree>
    <p:extLst>
      <p:ext uri="{BB962C8B-B14F-4D97-AF65-F5344CB8AC3E}">
        <p14:creationId xmlns:p14="http://schemas.microsoft.com/office/powerpoint/2010/main" val="18673013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CE0EEB4-1481-4739-9D8E-02A12A49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898989"/>
                </a:solidFill>
              </a:defRPr>
            </a:pPr>
            <a:r>
              <a:rPr sz="825" b="1" i="0">
                <a:solidFill>
                  <a:srgbClr val="898989"/>
                </a:solidFill>
              </a:rPr>
              <a:t>NEXT STEPS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2214852-6536-4933-A38B-A18A9129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C70000"/>
                </a:solidFill>
              </a:defRPr>
            </a:pPr>
            <a:r>
              <a:rPr sz="2250" b="1" i="0">
                <a:solidFill>
                  <a:srgbClr val="C70000"/>
                </a:solidFill>
              </a:rPr>
              <a:t>下一步：从实验性插件走向社区化与规模化验证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23F5DE56-A390-4328-A83D-9D052773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896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C"/>
          </a:solidFill>
          <a:ln xmlns:a="http://schemas.openxmlformats.org/drawingml/2006/main" w="9525">
            <a:solidFill>
              <a:srgbClr val="F1C2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0CCD060-4D4E-4996-8321-6F9F87B8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62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C70000"/>
                </a:solidFill>
              </a:defRPr>
            </a:pPr>
            <a:r>
              <a:rPr sz="1350" b="1" i="0">
                <a:solidFill>
                  <a:srgbClr val="C70000"/>
                </a:solidFill>
              </a:rPr>
              <a:t>当前边界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FCE9D6D-0895-45B8-BB9F-62FD1CC5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133475"/>
            <a:ext cx="918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vLLM 版本精确绑定 · Model Runner v1 · Decode-only Graph · DBO 固定 2 uBatch · 硬件门控 E2E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8222423-D378-41BD-BF69-70FD5E00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社区发布前置：推进 PR #263 评审与站点构建，并确认 vllm-project/afd-plugin、README、Recipe 和 Issues 入口可公开访问。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F2A78E4-ECC4-464B-9703-6B79C47B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14575"/>
            <a:ext cx="861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ECC6854B-FB42-4144-B92C-45DDB926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3316F8E-9752-4497-9708-B39DB4A4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C70000"/>
                </a:solidFill>
              </a:defRPr>
            </a:pPr>
            <a:r>
              <a:rPr sz="1500" b="1" i="0">
                <a:solidFill>
                  <a:srgbClr val="C70000"/>
                </a:solidFill>
              </a:rPr>
              <a:t>社区发布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54ED320-CDF2-4DC1-95E6-F20D51B1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合并 PR #263，完成站点 CI 构建与发布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确认 canonical repo、README、Recipe 与 Issues 入口可访问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34AAE3AB-4C7A-4B9D-8977-953B286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6082"/>
          </a:solidFill>
          <a:ln xmlns:a="http://schemas.openxmlformats.org/drawingml/2006/main" w="9525">
            <a:solidFill>
              <a:srgbClr val="15608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F906C6F-FE27-419C-8A3D-00A6F2D9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56082"/>
                </a:solidFill>
              </a:defRPr>
            </a:pPr>
            <a:r>
              <a:rPr sz="1500" b="1" i="0">
                <a:solidFill>
                  <a:srgbClr val="156082"/>
                </a:solidFill>
              </a:rPr>
              <a:t>兼容与执行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6DD58DB-DF10-4985-8B93-D721D7F1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跟进新版 vLLM，评估 Model Runner v2，收敛兼容 Patch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Graph、uBatch、异步 Stage 与 Rank Topology</a:t>
            </a: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04A408E-8D65-43BB-9147-E3FF558F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F13"/>
          </a:solidFill>
          <a:ln xmlns:a="http://schemas.openxmlformats.org/drawingml/2006/main" w="9525">
            <a:solidFill>
              <a:srgbClr val="4F8F1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41B8B58-25C7-4DAE-A8D9-A59AD9AC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4F8F13"/>
                </a:solidFill>
              </a:defRPr>
            </a:pPr>
            <a:r>
              <a:rPr sz="1500" b="1" i="0">
                <a:solidFill>
                  <a:srgbClr val="4F8F13"/>
                </a:solidFill>
              </a:rPr>
              <a:t>验证与覆盖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08C2A3D-144F-4039-93E4-854A93FF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增加 DeepSeek V4 与 Kimi K3 支持，覆盖准确性、TTFT/ITL、吞吐、稳定性与多节点验证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扩展 MoE 模型与 Connector，并同步发布 Recipe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1BE987AC-BC42-4567-99BE-2A342329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085975"/>
            <a:ext cx="552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652C9"/>
          </a:solidFill>
          <a:ln xmlns:a="http://schemas.openxmlformats.org/drawingml/2006/main" w="9525">
            <a:solidFill>
              <a:srgbClr val="7652C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5B908B0-FBED-4523-95C3-CE41AC60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7652C9"/>
                </a:solidFill>
              </a:defRPr>
            </a:pPr>
            <a:r>
              <a:rPr sz="1500" b="1" i="0">
                <a:solidFill>
                  <a:srgbClr val="7652C9"/>
                </a:solidFill>
              </a:rPr>
              <a:t>新场景探索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2095D99-0C15-40EB-872C-B44E36DF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05150"/>
            <a:ext cx="24003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① 对接 vLLM-Omni 与多模态流水：AR / DiT 等阶段</a:t>
            </a:r>
          </a:p>
          <a:p xmlns:a="http://schemas.openxmlformats.org/drawingml/2006/main">
            <a:endParaRPr sz="1050"/>
          </a:p>
          <a:p xmlns:a="http://schemas.openxmlformats.org/drawingml/2006/main">
            <a:pPr algn="l">
              <a:buNone/>
              <a:defRPr sz="1050" b="0" i="0">
                <a:solidFill>
                  <a:srgbClr val="555757"/>
                </a:solidFill>
              </a:defRPr>
            </a:pPr>
            <a:r>
              <a:rPr sz="1050" b="0" i="0">
                <a:solidFill>
                  <a:srgbClr val="555757"/>
                </a:solidFill>
              </a:rPr>
              <a:t>② 异构硬件与互联：优化调度、放置与通信计算重叠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17170941-6317-48BE-8FAF-4EBA421B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96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C70000"/>
          </a:solidFill>
          <a:ln xmlns:a="http://schemas.openxmlformats.org/drawingml/2006/main" w="9525">
            <a:solidFill>
              <a:srgbClr val="C7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C9CBA4D-4D6F-4D71-9F51-66F1E344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1024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目标：让 AFD 从“可运行的外部插件”演进为可复现、可扩展、可与上游协同的 MoE Serving 能力。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27F2315-5677-4BBA-BB98-5509B6DB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555757"/>
                </a:solidFill>
              </a:defRPr>
            </a:pPr>
            <a:r>
              <a:rPr sz="825" b="0" i="0">
                <a:solidFill>
                  <a:srgbClr val="555757"/>
                </a:solidFill>
              </a:rPr>
              <a:t>路线图基于 PR #263 的 Current Scope and Roadmap；阶段顺序按社区发布与工程依赖整理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5C691B8-B6B8-4476-AA75-06E16453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来源：github.com/vllm-project/vllm-project.github.io/pull/263（2026-07-23 访问）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A57FBA4-C272-4A3A-B7D6-15734084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898989"/>
                </a:solidFill>
              </a:defRPr>
            </a:pPr>
            <a:r>
              <a:rPr sz="825" b="0" i="0">
                <a:solidFill>
                  <a:srgbClr val="89898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31222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2E1E0EA-B891-4BD7-92BD-8EFD7813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08051"/>
            <a:ext cx="10744200" cy="4457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Plugin Community 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2E7D70-F677-4773-A765-79769700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914400"/>
            <a:ext cx="1444752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E867D17-E04B-41C8-AE0D-F4CF75FB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D3766DB-A7F8-45F3-A588-A88AFD2F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9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006EE29-E1B6-40A5-B16D-C2CED811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92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5E92A26-E6B5-428D-BDFB-9C902948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项目首页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ADFD272-570C-4D53-8886-BA04FEB9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752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Code · Docs · Issues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70CB6CA-2CAE-43FC-966D-587C90D2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7592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6f683dadf45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9032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25BFB2B-AFB3-41B8-9337-58FBA885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24292E"/>
                </a:solidFill>
                <a:latin typeface="Arial"/>
                <a:ea typeface="Arial"/>
                <a:cs typeface="Arial"/>
                <a:hlinkClick xmlns:r="http://schemas.openxmlformats.org/officeDocument/2006/relationships" r:id="R9a1e2f319d6e4f49"/>
              </a:rPr>
              <a:t>github.com/vllm-project/
afd-plugin</a:t>
            </a:r>
            <a:endParaRPr sz="1020" b="1">
              <a:solidFill>
                <a:srgbClr val="2429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25E8423-A366-4BDD-A5A5-8A910026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查看代码、架构文档与最新进展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9D17A0D-2CCB-4F83-85B0-7E89A833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4A86AF4-E13A-46D2-B70B-DD1B685A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C9EFBE1-A640-44CC-A73E-70C71A0E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005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3127DF27-B45F-4EF9-BA50-AD79F4ED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3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Developer Slack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F7F0C92-7124-4E71-B67F-E169DB41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783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Discussion · Collaboration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28A8EDE-A6BA-4162-B028-5EBC803D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71681673845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4064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E6CF261-099D-4DE7-A2A9-D1FC5977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C40054"/>
                </a:solidFill>
                <a:latin typeface="Arial"/>
                <a:ea typeface="Arial"/>
                <a:cs typeface="Arial"/>
                <a:hlinkClick xmlns:r="http://schemas.openxmlformats.org/officeDocument/2006/relationships" r:id="Rf6a118ecd2984171"/>
              </a:rPr>
              <a:t>vllm-dev.slack.com/archives/
C0B4C1D84GG</a:t>
            </a:r>
            <a:endParaRPr sz="1020" b="1">
              <a:solidFill>
                <a:srgbClr val="C4005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4127ABB-2630-4995-9824-1B29D2B4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59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加入 vLLM Developer Slack 后访问频道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074B239D-000E-49C2-B23B-95FD5303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81328"/>
            <a:ext cx="3401568" cy="43525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87CE834-BC40-42C7-8E2E-FD447B1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296" y="1481328"/>
            <a:ext cx="3401568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343346B-E249-4F5F-812E-B647784E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1691640"/>
            <a:ext cx="42062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A4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D5B3AFC6-9DFB-4131-92E8-7CF21DDC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636776"/>
            <a:ext cx="24597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WeChat 社群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DDED873-3B05-4A18-AEC5-86122EFB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4816" y="1920240"/>
            <a:ext cx="245973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Chinese Developer Community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68C1F69-7D9F-417A-838C-8419406D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2304288"/>
            <a:ext cx="2212848" cy="22128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8890">
            <a:solidFill>
              <a:srgbClr val="DDDDD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5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3f99f31594d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9096" y="2395728"/>
            <a:ext cx="2029968" cy="2029968"/>
          </a:xfrm>
          <a:prstGeom xmlns:a="http://schemas.openxmlformats.org/drawingml/2006/main" prst="rect">
            <a:avLst/>
          </a:prstGeom>
        </p:spPr>
      </p:pic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8C1DE00-1D2D-40B4-B88F-685F198D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4645152"/>
            <a:ext cx="2944368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20" b="1">
                <a:solidFill>
                  <a:srgbClr val="2DA44E"/>
                </a:solidFill>
                <a:latin typeface="微软雅黑"/>
                <a:ea typeface="微软雅黑"/>
                <a:cs typeface="微软雅黑"/>
              </a:rPr>
              <a:t>afd-plugin 开发者交流群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0B41DB92-DCB4-4274-94F6-26753BBA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5157216"/>
            <a:ext cx="27797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30" b="0">
                <a:solidFill>
                  <a:srgbClr val="555757"/>
                </a:solidFill>
                <a:latin typeface="微软雅黑"/>
                <a:ea typeface="微软雅黑"/>
                <a:cs typeface="微软雅黑"/>
              </a:rPr>
              <a:t>二维码取自项目仓库，请以最新版本为准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4B65995-8E9D-4413-95AC-256D073C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5624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89898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41698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515A431-100B-4916-B306-12E7D79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</a:defRPr>
            </a:pPr>
            <a:r>
              <a:rPr sz="825" b="1">
                <a:solidFill>
                  <a:srgbClr val="898989"/>
                </a:solidFill>
              </a:rPr>
              <a:t>COMMUNITY UPDATE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D324FBE-E2FA-46A4-8730-266CD5F1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</a:defRPr>
            </a:pPr>
            <a:r>
              <a:rPr sz="2250" b="1">
                <a:solidFill>
                  <a:srgbClr val="C00000"/>
                </a:solidFill>
              </a:rPr>
              <a:t>社区进展：底座升级完成，模型与工程体系同步推进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1EDDC2F-84C3-4DEC-BBEE-AF8B8C57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98989"/>
                </a:solidFill>
              </a:defRPr>
            </a:pPr>
            <a:r>
              <a:rPr sz="825" b="0">
                <a:solidFill>
                  <a:srgbClr val="898989"/>
                </a:solidFill>
              </a:rPr>
              <a:t>14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4532802-3DB7-43A2-B035-C5AA4FA3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模型适配｜Qwen3 与 DeepSeek V4 进入实现评审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34A4311-C49C-45F0-A1C4-124FA2C0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2573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Qwen3 MoE GPU：PR #216 开放，已提交 30B / 235B GPU 验证证据；Qwen3.5 / 3.6 由 #179 与 PR #181 推进。</a:t>
            </a:r>
            <a:br/>
            <a:r>
              <a:rPr sz="865" b="0">
                <a:solidFill>
                  <a:srgbClr val="555757"/>
                </a:solidFill>
              </a:rPr>
              <a:t>• DeepSeek V4：GPU PR #191 开放；NPU 拆分为 CAMAsync #227 与 CAMP2p #228，仍待实现与硬件验收。</a:t>
            </a:r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48161CB-95C6-43AE-A16F-33B348F5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A91808C-896B-442F-A101-6DDBF132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运行时升级｜GPU / NPU 已切换至 vLLM 0.26.0 基线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EC408BC-855A-4072-824D-7A942EBB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PR #186 已合并，GPU #167 与 NPU #168 已关闭；后续模型适配统一以精确 vLLM 0.26.0 为基线。</a:t>
            </a:r>
            <a:br/>
            <a:r>
              <a:rPr sz="865" b="0">
                <a:solidFill>
                  <a:srgbClr val="555757"/>
                </a:solidFill>
              </a:rPr>
              <a:t>• NPU 支持仍要求锁定 vLLM-Ascend、镜像及 CANN / torch-npu 等完整软件栈，不从 GPU 结果推导。</a:t>
            </a:r>
            <a:br/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F6A333D-64B5-401F-B1DB-5C1456F8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9360504-727B-42CB-8883-9C2C883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CI 与 E2E｜统一场景、准确性门槛与清理检查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BE87757-2604-4533-A9D9-14C29D2E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E2E 重构 PR #222 聚焦 baseline-graph、AFD eager、AFD graph、AFD graph + DBO 四个固定场景。</a:t>
            </a:r>
            <a:br/>
            <a:r>
              <a:rPr sz="865" b="0">
                <a:solidFill>
                  <a:srgbClr val="555757"/>
                </a:solidFill>
              </a:rPr>
              <a:t>• PR 门禁采用 GSM8K-7，周度运行完整 GSM8K；GPU / NPU 共用配置并强化失败判定、进程与设备资源清理。</a:t>
            </a:r>
            <a:br/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5269BC7-6952-4BD7-94AD-F0DBF08D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54AAFF5-C06B-4F85-AC0E-A5F79317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B1D21"/>
                </a:solidFill>
              </a:defRPr>
            </a:pPr>
            <a:r>
              <a:rPr sz="1125" b="1">
                <a:solidFill>
                  <a:srgbClr val="1B1D21"/>
                </a:solidFill>
              </a:rPr>
              <a:t>工程 Skills｜模型适配完成，版本升级流程建设中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8E6F01F-5424-4C49-B2A0-4D4C1CBE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847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65" b="0">
                <a:solidFill>
                  <a:srgbClr val="555757"/>
                </a:solidFill>
              </a:defRPr>
            </a:pPr>
            <a:r>
              <a:rPr sz="865" b="0">
                <a:solidFill>
                  <a:srgbClr val="555757"/>
                </a:solidFill>
              </a:rPr>
              <a:t>• 模型适配 Skill：PR #205 已合并，覆盖可行性、最小实现、GPU / NPU 独立验证和证据报告。</a:t>
            </a:r>
            <a:br/>
            <a:r>
              <a:rPr sz="865" b="0">
                <a:solidFill>
                  <a:srgbClr val="555757"/>
                </a:solidFill>
              </a:rPr>
              <a:t>• GPU 升级 Skill #224 与 NPU 升级 Skill #202 进行中，目标是固化版本审计、Patch 处置和 E2E 交接流程。</a:t>
            </a:r>
            <a:br/>
            <a:endParaRPr sz="865" b="0">
              <a:solidFill>
                <a:srgbClr val="555757"/>
              </a:solidFill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1C577FD-BE37-48A4-8347-CBC76B60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55757"/>
                </a:solidFill>
              </a:defRPr>
            </a:pPr>
            <a:r>
              <a:rPr sz="825" b="0">
                <a:solidFill>
                  <a:srgbClr val="555757"/>
                </a:solidFill>
              </a:rPr>
              <a:t>状态口径：仅合并事项标为完成；Open PR / Issue 不等于正式支持或生产就绪。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CF0B159-5F76-4E0D-ACFB-1D328D3D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75" b="0" i="1">
                <a:solidFill>
                  <a:srgbClr val="898989"/>
                </a:solidFill>
              </a:defRPr>
            </a:pPr>
            <a:r>
              <a:rPr sz="675" b="0" i="1">
                <a:solidFill>
                  <a:srgbClr val="898989"/>
                </a:solidFill>
              </a:rPr>
              <a:t>来源：vllm-project/afd-plugin #167 #168 #179 #186 #191 #202 #205 #216 #222 #224 #227 #228（2026-08-12）</a:t>
            </a:r>
          </a:p>
        </p:txBody>
      </p:sp>
    </p:spTree>
    <p:extLst>
      <p:ext uri="{BB962C8B-B14F-4D97-AF65-F5344CB8AC3E}">
        <p14:creationId xmlns:p14="http://schemas.microsoft.com/office/powerpoint/2010/main" val="15696467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6">
            <a:extLst xmlns:a="http://schemas.openxmlformats.org/drawingml/2006/main">
              <a:ext uri="{FF2B5EF4-FFF2-40B4-BE49-F238E27FC236}">
                <a16:creationId xmlns:a16="http://schemas.microsoft.com/office/drawing/2014/main" id="{DA31E253-A51D-4B2E-9985-962E68FA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DATASET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858BD78B-0930-49D5-B84F-8EF17F75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压测数据集的输入长度分布</a:t>
            </a:r>
          </a:p>
        </p:txBody>
      </p:sp>
      <p:sp>
        <p:nvSpPr>
          <p:cNvPr id="3" name="title-rule-16">
            <a:extLst xmlns:a="http://schemas.openxmlformats.org/drawingml/2006/main">
              <a:ext uri="{FF2B5EF4-FFF2-40B4-BE49-F238E27FC236}">
                <a16:creationId xmlns:a16="http://schemas.microsoft.com/office/drawing/2014/main" id="{42F69DA8-6EB7-49E8-88CB-21A58787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6">
            <a:extLst xmlns:a="http://schemas.openxmlformats.org/drawingml/2006/main">
              <a:ext uri="{FF2B5EF4-FFF2-40B4-BE49-F238E27FC236}">
                <a16:creationId xmlns:a16="http://schemas.microsoft.com/office/drawing/2014/main" id="{91BF09F0-ED18-46B2-88BC-E43E26AA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6">
            <a:extLst xmlns:a="http://schemas.openxmlformats.org/drawingml/2006/main">
              <a:ext uri="{FF2B5EF4-FFF2-40B4-BE49-F238E27FC236}">
                <a16:creationId xmlns:a16="http://schemas.microsoft.com/office/drawing/2014/main" id="{7ECFF061-DC67-44DE-8ADE-B3FACB47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dataset-16">
            <a:extLst xmlns:a="http://schemas.openxmlformats.org/drawingml/2006/main">
              <a:ext uri="{FF2B5EF4-FFF2-40B4-BE49-F238E27FC236}">
                <a16:creationId xmlns:a16="http://schemas.microsoft.com/office/drawing/2014/main" id="{D1EBB5AB-211B-4FB8-9B34-0EDD1E6F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数据集：Mooncake trace-derived WildChat workload</a:t>
            </a:r>
          </a:p>
        </p:txBody>
      </p:sp>
      <p:sp>
        <p:nvSpPr>
          <p:cNvPr id="7" name="requests-16">
            <a:extLst xmlns:a="http://schemas.openxmlformats.org/drawingml/2006/main">
              <a:ext uri="{FF2B5EF4-FFF2-40B4-BE49-F238E27FC236}">
                <a16:creationId xmlns:a16="http://schemas.microsoft.com/office/drawing/2014/main" id="{B759F4D5-092B-42DE-8175-BE7D8D37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953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正式请求：1,536</a:t>
            </a:r>
          </a:p>
        </p:txBody>
      </p:sp>
      <p:sp>
        <p:nvSpPr>
          <p:cNvPr id="8" name="chart-heading-16">
            <a:extLst xmlns:a="http://schemas.openxmlformats.org/drawingml/2006/main">
              <a:ext uri="{FF2B5EF4-FFF2-40B4-BE49-F238E27FC236}">
                <a16:creationId xmlns:a16="http://schemas.microsoft.com/office/drawing/2014/main" id="{00DCA99F-B851-4478-95B4-FF1DDD7D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95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输入 token 长度区间占比</a:t>
            </a:r>
          </a:p>
        </p:txBody>
      </p:sp>
      <p:sp>
        <p:nvSpPr>
          <p:cNvPr id="9" name="table-heading-16">
            <a:extLst xmlns:a="http://schemas.openxmlformats.org/drawingml/2006/main">
              <a:ext uri="{FF2B5EF4-FFF2-40B4-BE49-F238E27FC236}">
                <a16:creationId xmlns:a16="http://schemas.microsoft.com/office/drawing/2014/main" id="{46383D16-6774-4D7B-98E0-9F112454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关键统计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953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8ac37c917e400b"/>
          </a:graphicData>
        </a:graphic>
      </p:graphicFrame>
      <p:graphicFrame>
        <p:nvGraphicFramePr>
          <p:cNvPr id="31" name="dataset-table-16"/>
          <p:cNvGraphicFramePr/>
          <p:nvPr/>
        </p:nvGraphicFramePr>
        <p:xfrm>
          <a:off xmlns:a="http://schemas.openxmlformats.org/drawingml/2006/main" x="8001000" y="1809750"/>
          <a:ext xmlns:a="http://schemas.openxmlformats.org/drawingml/2006/main" cx="35814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962150"/>
              </a:tblGrid>
              <a:tr h="3524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统计项</a:t>
                      </a: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marL="38100" marR="38100" marT="19050" marB="19050">
                    <a:solidFill>
                      <a:srgbClr val="22222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正式请求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1,536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Formal windows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 × 512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平均输入长度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10,288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6,369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P75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14,379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24,794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32,213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54,280 tokens</a:t>
                      </a:r>
                    </a:p>
                  </a:txBody>
                  <a:tcPr marL="38100" marR="38100" marT="19050" marB="19050"/>
                </a:tc>
              </a:tr>
              <a:tr h="3524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最小 / 最大</a:t>
                      </a:r>
                    </a:p>
                  </a:txBody>
                  <a:tcPr marL="76200" marR="38100" marT="19050" marB="1905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1">
                          <a:solidFill>
                            <a:srgbClr val="234CA5"/>
                          </a:solidFill>
                          <a:latin typeface="Calibri"/>
                          <a:ea typeface="Calibri"/>
                          <a:cs typeface="Calibri"/>
                        </a:rPr>
                        <a:t>891 / 63,778 tokens</a:t>
                      </a:r>
                    </a:p>
                  </a:txBody>
                  <a:tcPr marL="38100" marR="38100" marT="19050" marB="19050"/>
                </a:tc>
              </a:tr>
            </a:tbl>
          </a:graphicData>
        </a:graphic>
      </p:graphicFrame>
      <p:sp>
        <p:nvSpPr>
          <p:cNvPr id="12" name="conclusion-bg-16">
            <a:extLst xmlns:a="http://schemas.openxmlformats.org/drawingml/2006/main">
              <a:ext uri="{FF2B5EF4-FFF2-40B4-BE49-F238E27FC236}">
                <a16:creationId xmlns:a16="http://schemas.microsoft.com/office/drawing/2014/main" id="{2AD8A2D0-20BE-4AB8-B0FF-8A254D40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 w="12383">
            <a:solidFill>
              <a:srgbClr val="4472C4"/>
            </a:solidFill>
            <a:prstDash val="solid"/>
          </a:ln>
        </p:spPr>
      </p:sp>
      <p:sp>
        <p:nvSpPr>
          <p:cNvPr id="13" name="conclusion-label-16">
            <a:extLst xmlns:a="http://schemas.openxmlformats.org/drawingml/2006/main">
              <a:ext uri="{FF2B5EF4-FFF2-40B4-BE49-F238E27FC236}">
                <a16:creationId xmlns:a16="http://schemas.microsoft.com/office/drawing/2014/main" id="{D038599E-0D23-4F63-97BF-00C08A60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4" name="conclusion-16">
            <a:extLst xmlns:a="http://schemas.openxmlformats.org/drawingml/2006/main">
              <a:ext uri="{FF2B5EF4-FFF2-40B4-BE49-F238E27FC236}">
                <a16:creationId xmlns:a16="http://schemas.microsoft.com/office/drawing/2014/main" id="{74F0B4A1-B735-4E24-A7FE-8C892610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43550"/>
            <a:ext cx="984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65% 的请求不少于 4K tokens，43% 不少于 8K；P99 为 54.3K，覆盖明显的长输入尾部。</a:t>
            </a:r>
          </a:p>
        </p:txBody>
      </p:sp>
      <p:sp>
        <p:nvSpPr>
          <p:cNvPr id="15" name="settings-16">
            <a:extLst xmlns:a="http://schemas.openxmlformats.org/drawingml/2006/main">
              <a:ext uri="{FF2B5EF4-FFF2-40B4-BE49-F238E27FC236}">
                <a16:creationId xmlns:a16="http://schemas.microsoft.com/office/drawing/2014/main" id="{98AACA3E-4561-453D-8800-DA25E9D2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构成：3 个 formal window，每组 512 请求；每个请求输出长度固定为 1 token</a:t>
            </a:r>
          </a:p>
        </p:txBody>
      </p:sp>
      <p:sp>
        <p:nvSpPr>
          <p:cNvPr id="16" name="source-16">
            <a:extLst xmlns:a="http://schemas.openxmlformats.org/drawingml/2006/main">
              <a:ext uri="{FF2B5EF4-FFF2-40B4-BE49-F238E27FC236}">
                <a16:creationId xmlns:a16="http://schemas.microsoft.com/office/drawing/2014/main" id="{7D8F242E-900A-4404-8A0D-3C6688E3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75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来源：formal_0_1_2_vllm_bench.jsonl；输入长度与 Mooncake 参考序列一致</a:t>
            </a:r>
          </a:p>
        </p:txBody>
      </p:sp>
      <p:sp>
        <p:nvSpPr>
          <p:cNvPr id="17" name="page-16">
            <a:extLst xmlns:a="http://schemas.openxmlformats.org/drawingml/2006/main">
              <a:ext uri="{FF2B5EF4-FFF2-40B4-BE49-F238E27FC236}">
                <a16:creationId xmlns:a16="http://schemas.microsoft.com/office/drawing/2014/main" id="{5A7A2153-FA39-459B-9838-B5577703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00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00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874284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0">
            <a:extLst xmlns:a="http://schemas.openxmlformats.org/drawingml/2006/main">
              <a:ext uri="{FF2B5EF4-FFF2-40B4-BE49-F238E27FC236}">
                <a16:creationId xmlns:a16="http://schemas.microsoft.com/office/drawing/2014/main" id="{FFA14405-D340-43A6-BB8C-531C945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33281CE-65BB-46AA-BF34-CA688B4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对比（4K）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C0B8B2A2-12A0-4BAE-A30A-983EDD0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20">
            <a:extLst xmlns:a="http://schemas.openxmlformats.org/drawingml/2006/main">
              <a:ext uri="{FF2B5EF4-FFF2-40B4-BE49-F238E27FC236}">
                <a16:creationId xmlns:a16="http://schemas.microsoft.com/office/drawing/2014/main" id="{BFABE51B-0ED6-4B8E-8024-31EA6D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20">
            <a:extLst xmlns:a="http://schemas.openxmlformats.org/drawingml/2006/main">
              <a:ext uri="{FF2B5EF4-FFF2-40B4-BE49-F238E27FC236}">
                <a16:creationId xmlns:a16="http://schemas.microsoft.com/office/drawing/2014/main" id="{E7259284-C338-474A-A375-3E38E77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>
            <a:extLst xmlns:a="http://schemas.openxmlformats.org/drawingml/2006/main">
              <a:ext uri="{FF2B5EF4-FFF2-40B4-BE49-F238E27FC236}">
                <a16:creationId xmlns:a16="http://schemas.microsoft.com/office/drawing/2014/main" id="{894CD9BA-1AF3-4D4D-A71A-99DFC06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两种布局（4K）</a:t>
            </a:r>
          </a:p>
        </p:txBody>
      </p:sp>
      <p:sp>
        <p:nvSpPr>
          <p:cNvPr id="7" name="hardware-20">
            <a:extLst xmlns:a="http://schemas.openxmlformats.org/drawingml/2006/main">
              <a:ext uri="{FF2B5EF4-FFF2-40B4-BE49-F238E27FC236}">
                <a16:creationId xmlns:a16="http://schemas.microsoft.com/office/drawing/2014/main" id="{7359AA34-39A4-4107-A104-738C82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>
            <a:extLst xmlns:a="http://schemas.openxmlformats.org/drawingml/2006/main">
              <a:ext uri="{FF2B5EF4-FFF2-40B4-BE49-F238E27FC236}">
                <a16:creationId xmlns:a16="http://schemas.microsoft.com/office/drawing/2014/main" id="{011BB592-15CF-45FD-81D3-0AB4CCA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>
            <a:extLst xmlns:a="http://schemas.openxmlformats.org/drawingml/2006/main">
              <a:ext uri="{FF2B5EF4-FFF2-40B4-BE49-F238E27FC236}">
                <a16:creationId xmlns:a16="http://schemas.microsoft.com/office/drawing/2014/main" id="{E16DD1E4-A415-4929-B3A7-7DD05F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>
            <a:extLst xmlns:a="http://schemas.openxmlformats.org/drawingml/2006/main">
              <a:ext uri="{FF2B5EF4-FFF2-40B4-BE49-F238E27FC236}">
                <a16:creationId xmlns:a16="http://schemas.microsoft.com/office/drawing/2014/main" id="{80EC9D6B-7066-4080-9BA4-85E6F97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DP8TP2（12.99 秒）</a:t>
            </a:r>
          </a:p>
        </p:txBody>
      </p:sp>
      <p:sp>
        <p:nvSpPr>
          <p:cNvPr id="19" name="settings-20">
            <a:extLst xmlns:a="http://schemas.openxmlformats.org/drawingml/2006/main">
              <a:ext uri="{FF2B5EF4-FFF2-40B4-BE49-F238E27FC236}">
                <a16:creationId xmlns:a16="http://schemas.microsoft.com/office/drawing/2014/main" id="{6755B7FD-834F-43CF-9C6E-976949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MBT=4K。各取三轮分位数均值，红色粗体为同 RPS / 分位最小值。</a:t>
            </a:r>
          </a:p>
        </p:txBody>
      </p:sp>
      <p:sp>
        <p:nvSpPr>
          <p:cNvPr id="20" name="source-20">
            <a:extLst xmlns:a="http://schemas.openxmlformats.org/drawingml/2006/main">
              <a:ext uri="{FF2B5EF4-FFF2-40B4-BE49-F238E27FC236}">
                <a16:creationId xmlns:a16="http://schemas.microsoft.com/office/drawing/2014/main" id="{54D028FA-4095-44C8-8A59-4E8096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>
            <a:extLst xmlns:a="http://schemas.openxmlformats.org/drawingml/2006/main">
              <a:ext uri="{FF2B5EF4-FFF2-40B4-BE49-F238E27FC236}">
                <a16:creationId xmlns:a16="http://schemas.microsoft.com/office/drawing/2014/main" id="{E2D9AA41-FC52-4DC4-9DA0-2E2FA83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03e2f45fa041f8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7051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77a01857134206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800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301f2f79ad412b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334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6686489eb94935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7909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73b3c5b87f4dbc"/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35971B-4367-4700-8CEA-A063A9F6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7B74729-CB86-4506-B84A-4B687DFD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4K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829BBF7-97DD-4EE9-9765-54BF5B27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4K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mlns:a="http://schemas.openxmlformats.org/drawingml/2006/main" x="7029450" y="1724025"/>
          <a:ext xmlns:a="http://schemas.openxmlformats.org/drawingml/2006/main" cx="455295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10.24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1.84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22.17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2.17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30.07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47.34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51.25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56.95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12.99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74099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0">
            <a:extLst xmlns:a="http://schemas.openxmlformats.org/drawingml/2006/main">
              <a:ext uri="{FF2B5EF4-FFF2-40B4-BE49-F238E27FC236}">
                <a16:creationId xmlns:a16="http://schemas.microsoft.com/office/drawing/2014/main" id="{FFA14405-D340-43A6-BB8C-531C945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33281CE-65BB-46AA-BF34-CA688B4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对比（8K）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C0B8B2A2-12A0-4BAE-A30A-983EDD0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20">
            <a:extLst xmlns:a="http://schemas.openxmlformats.org/drawingml/2006/main">
              <a:ext uri="{FF2B5EF4-FFF2-40B4-BE49-F238E27FC236}">
                <a16:creationId xmlns:a16="http://schemas.microsoft.com/office/drawing/2014/main" id="{BFABE51B-0ED6-4B8E-8024-31EA6D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20">
            <a:extLst xmlns:a="http://schemas.openxmlformats.org/drawingml/2006/main">
              <a:ext uri="{FF2B5EF4-FFF2-40B4-BE49-F238E27FC236}">
                <a16:creationId xmlns:a16="http://schemas.microsoft.com/office/drawing/2014/main" id="{E7259284-C338-474A-A375-3E38E77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>
            <a:extLst xmlns:a="http://schemas.openxmlformats.org/drawingml/2006/main">
              <a:ext uri="{FF2B5EF4-FFF2-40B4-BE49-F238E27FC236}">
                <a16:creationId xmlns:a16="http://schemas.microsoft.com/office/drawing/2014/main" id="{894CD9BA-1AF3-4D4D-A71A-99DFC06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两种布局（8K）</a:t>
            </a:r>
          </a:p>
        </p:txBody>
      </p:sp>
      <p:sp>
        <p:nvSpPr>
          <p:cNvPr id="7" name="hardware-20">
            <a:extLst xmlns:a="http://schemas.openxmlformats.org/drawingml/2006/main">
              <a:ext uri="{FF2B5EF4-FFF2-40B4-BE49-F238E27FC236}">
                <a16:creationId xmlns:a16="http://schemas.microsoft.com/office/drawing/2014/main" id="{7359AA34-39A4-4107-A104-738C82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>
            <a:extLst xmlns:a="http://schemas.openxmlformats.org/drawingml/2006/main">
              <a:ext uri="{FF2B5EF4-FFF2-40B4-BE49-F238E27FC236}">
                <a16:creationId xmlns:a16="http://schemas.microsoft.com/office/drawing/2014/main" id="{011BB592-15CF-45FD-81D3-0AB4CCA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>
            <a:extLst xmlns:a="http://schemas.openxmlformats.org/drawingml/2006/main">
              <a:ext uri="{FF2B5EF4-FFF2-40B4-BE49-F238E27FC236}">
                <a16:creationId xmlns:a16="http://schemas.microsoft.com/office/drawing/2014/main" id="{E16DD1E4-A415-4929-B3A7-7DD05F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>
            <a:extLst xmlns:a="http://schemas.openxmlformats.org/drawingml/2006/main">
              <a:ext uri="{FF2B5EF4-FFF2-40B4-BE49-F238E27FC236}">
                <a16:creationId xmlns:a16="http://schemas.microsoft.com/office/drawing/2014/main" id="{80EC9D6B-7066-4080-9BA4-85E6F97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DP8TP2（15.90 秒）</a:t>
            </a:r>
          </a:p>
        </p:txBody>
      </p:sp>
      <p:sp>
        <p:nvSpPr>
          <p:cNvPr id="19" name="settings-20">
            <a:extLst xmlns:a="http://schemas.openxmlformats.org/drawingml/2006/main">
              <a:ext uri="{FF2B5EF4-FFF2-40B4-BE49-F238E27FC236}">
                <a16:creationId xmlns:a16="http://schemas.microsoft.com/office/drawing/2014/main" id="{6755B7FD-834F-43CF-9C6E-976949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MBT=8K。各取三轮分位数均值，红色粗体为同 RPS / 分位最小值。</a:t>
            </a:r>
          </a:p>
        </p:txBody>
      </p:sp>
      <p:sp>
        <p:nvSpPr>
          <p:cNvPr id="20" name="source-20">
            <a:extLst xmlns:a="http://schemas.openxmlformats.org/drawingml/2006/main">
              <a:ext uri="{FF2B5EF4-FFF2-40B4-BE49-F238E27FC236}">
                <a16:creationId xmlns:a16="http://schemas.microsoft.com/office/drawing/2014/main" id="{54D028FA-4095-44C8-8A59-4E8096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>
            <a:extLst xmlns:a="http://schemas.openxmlformats.org/drawingml/2006/main">
              <a:ext uri="{FF2B5EF4-FFF2-40B4-BE49-F238E27FC236}">
                <a16:creationId xmlns:a16="http://schemas.microsoft.com/office/drawing/2014/main" id="{E2D9AA41-FC52-4DC4-9DA0-2E2FA83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d543df468549dd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7051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07452e5bd24211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800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b0e8f0cd0a4ca0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334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60958ee8944684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7909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8c8d0090d94137"/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DBD64E8-9A5B-436D-8814-4B5F1E8F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4A0DEE0-A560-4C26-8682-BF28C2FE6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8K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1DAF0D8-1D0B-47C4-AE0B-61E32C0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8K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mlns:a="http://schemas.openxmlformats.org/drawingml/2006/main" x="7029450" y="1724025"/>
          <a:ext xmlns:a="http://schemas.openxmlformats.org/drawingml/2006/main" cx="455295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8.35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10.07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13.45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3.73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8.62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5.15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20.39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15.90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93571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20">
            <a:extLst xmlns:a="http://schemas.openxmlformats.org/drawingml/2006/main">
              <a:ext uri="{FF2B5EF4-FFF2-40B4-BE49-F238E27FC236}">
                <a16:creationId xmlns:a16="http://schemas.microsoft.com/office/drawing/2014/main" id="{FFA14405-D340-43A6-BB8C-531C945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33281CE-65BB-46AA-BF34-CA688B40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 DP4TP4 / DP8TP2：TTFT 对比（16K）</a:t>
            </a:r>
          </a:p>
        </p:txBody>
      </p:sp>
      <p:sp>
        <p:nvSpPr>
          <p:cNvPr id="3" name="title-rule-20">
            <a:extLst xmlns:a="http://schemas.openxmlformats.org/drawingml/2006/main">
              <a:ext uri="{FF2B5EF4-FFF2-40B4-BE49-F238E27FC236}">
                <a16:creationId xmlns:a16="http://schemas.microsoft.com/office/drawing/2014/main" id="{C0B8B2A2-12A0-4BAE-A30A-983EDD0E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20">
            <a:extLst xmlns:a="http://schemas.openxmlformats.org/drawingml/2006/main">
              <a:ext uri="{FF2B5EF4-FFF2-40B4-BE49-F238E27FC236}">
                <a16:creationId xmlns:a16="http://schemas.microsoft.com/office/drawing/2014/main" id="{BFABE51B-0ED6-4B8E-8024-31EA6D0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20">
            <a:extLst xmlns:a="http://schemas.openxmlformats.org/drawingml/2006/main">
              <a:ext uri="{FF2B5EF4-FFF2-40B4-BE49-F238E27FC236}">
                <a16:creationId xmlns:a16="http://schemas.microsoft.com/office/drawing/2014/main" id="{E7259284-C338-474A-A375-3E38E77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20">
            <a:extLst xmlns:a="http://schemas.openxmlformats.org/drawingml/2006/main">
              <a:ext uri="{FF2B5EF4-FFF2-40B4-BE49-F238E27FC236}">
                <a16:creationId xmlns:a16="http://schemas.microsoft.com/office/drawing/2014/main" id="{894CD9BA-1AF3-4D4D-A71A-99DFC06B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09537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28A00"/>
                </a:solidFill>
                <a:latin typeface="微软雅黑"/>
                <a:ea typeface="微软雅黑"/>
                <a:cs typeface="微软雅黑"/>
              </a:rPr>
              <a:t>AFD DP4TP2 + EP8（64K）对比 EP16 两种布局（16K）</a:t>
            </a:r>
          </a:p>
        </p:txBody>
      </p:sp>
      <p:sp>
        <p:nvSpPr>
          <p:cNvPr id="7" name="hardware-20">
            <a:extLst xmlns:a="http://schemas.openxmlformats.org/drawingml/2006/main">
              <a:ext uri="{FF2B5EF4-FFF2-40B4-BE49-F238E27FC236}">
                <a16:creationId xmlns:a16="http://schemas.microsoft.com/office/drawing/2014/main" id="{7359AA34-39A4-4107-A104-738C82D3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20">
            <a:extLst xmlns:a="http://schemas.openxmlformats.org/drawingml/2006/main">
              <a:ext uri="{FF2B5EF4-FFF2-40B4-BE49-F238E27FC236}">
                <a16:creationId xmlns:a16="http://schemas.microsoft.com/office/drawing/2014/main" id="{011BB592-15CF-45FD-81D3-0AB4CCA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分位点（秒）</a:t>
            </a:r>
          </a:p>
        </p:txBody>
      </p:sp>
      <p:sp>
        <p:nvSpPr>
          <p:cNvPr id="9" name="table-heading-20">
            <a:extLst xmlns:a="http://schemas.openxmlformats.org/drawingml/2006/main">
              <a:ext uri="{FF2B5EF4-FFF2-40B4-BE49-F238E27FC236}">
                <a16:creationId xmlns:a16="http://schemas.microsoft.com/office/drawing/2014/main" id="{E16DD1E4-A415-4929-B3A7-7DD05FF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66850"/>
            <a:ext cx="455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sp>
        <p:nvSpPr>
          <p:cNvPr id="18" name="conclusion-20">
            <a:extLst xmlns:a="http://schemas.openxmlformats.org/drawingml/2006/main">
              <a:ext uri="{FF2B5EF4-FFF2-40B4-BE49-F238E27FC236}">
                <a16:creationId xmlns:a16="http://schemas.microsoft.com/office/drawing/2014/main" id="{80EC9D6B-7066-4080-9BA4-85E6F971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AFD P99（RPS 2/3/4）：6.98 / 11.06 / 20.28 秒</a:t>
            </a:r>
          </a:p>
          <a:p xmlns:a="http://schemas.openxmlformats.org/drawingml/2006/main">
            <a:pPr>
              <a:buNone/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RPS=4：P99 最低为 DP4TP4（18.25 秒）</a:t>
            </a:r>
          </a:p>
        </p:txBody>
      </p:sp>
      <p:sp>
        <p:nvSpPr>
          <p:cNvPr id="19" name="settings-20">
            <a:extLst xmlns:a="http://schemas.openxmlformats.org/drawingml/2006/main">
              <a:ext uri="{FF2B5EF4-FFF2-40B4-BE49-F238E27FC236}">
                <a16:creationId xmlns:a16="http://schemas.microsoft.com/office/drawing/2014/main" id="{6755B7FD-834F-43CF-9C6E-976949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AFD MBT=64K（本次），EP16 两种布局均为 MBT=16K。各取三轮分位数均值，红色粗体为同 RPS / 分位最小值。</a:t>
            </a:r>
          </a:p>
        </p:txBody>
      </p:sp>
      <p:sp>
        <p:nvSpPr>
          <p:cNvPr id="20" name="source-20">
            <a:extLst xmlns:a="http://schemas.openxmlformats.org/drawingml/2006/main">
              <a:ext uri="{FF2B5EF4-FFF2-40B4-BE49-F238E27FC236}">
                <a16:creationId xmlns:a16="http://schemas.microsoft.com/office/drawing/2014/main" id="{54D028FA-4095-44C8-8A59-4E8096C6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来源：AFD 为本次 20260908-rps234 批次，EP16 沿用上一版 2026-09-07/08 批次。跨批次、MBT 与节点比较。</a:t>
            </a:r>
          </a:p>
        </p:txBody>
      </p:sp>
      <p:sp>
        <p:nvSpPr>
          <p:cNvPr id="21" name="page-20">
            <a:extLst xmlns:a="http://schemas.openxmlformats.org/drawingml/2006/main">
              <a:ext uri="{FF2B5EF4-FFF2-40B4-BE49-F238E27FC236}">
                <a16:creationId xmlns:a16="http://schemas.microsoft.com/office/drawing/2014/main" id="{E2D9AA41-FC52-4DC4-9DA0-2E2FA83D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d2ab9e6d9349dc"/>
          </a:graphicData>
        </a:graphic>
      </p:graphicFrame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27051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972cb31a7048aa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4800600" y="1790700"/>
          <a:ext xmlns:a="http://schemas.openxmlformats.org/drawingml/2006/main" cx="1981200" cy="1685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c7132c17454a77"/>
          </a:graphicData>
        </a:graphic>
      </p:graphicFrame>
      <p:graphicFrame>
        <p:nvGraphicFramePr>
          <p:cNvPr id="53" name="Chart"/>
          <p:cNvGraphicFramePr/>
          <p:nvPr/>
        </p:nvGraphicFramePr>
        <p:xfrm>
          <a:off xmlns:a="http://schemas.openxmlformats.org/drawingml/2006/main" x="9334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3d602895ea4d36"/>
          </a:graphicData>
        </a:graphic>
      </p:graphicFrame>
      <p:graphicFrame>
        <p:nvGraphicFramePr>
          <p:cNvPr id="54" name="Chart"/>
          <p:cNvGraphicFramePr/>
          <p:nvPr/>
        </p:nvGraphicFramePr>
        <p:xfrm>
          <a:off xmlns:a="http://schemas.openxmlformats.org/drawingml/2006/main" x="3790950" y="3629025"/>
          <a:ext xmlns:a="http://schemas.openxmlformats.org/drawingml/2006/main" cx="2686050" cy="1666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88ad370e3543d6"/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006D519-1B3C-46B8-A5E8-262FCE0B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2A300"/>
                </a:solidFill>
                <a:latin typeface="微软雅黑"/>
                <a:ea typeface="微软雅黑"/>
                <a:cs typeface="微软雅黑"/>
              </a:rPr>
              <a:t>AFD 64K（本次）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25B6D096-6752-4332-850D-D0BA9A20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548235"/>
                </a:solidFill>
                <a:latin typeface="微软雅黑"/>
                <a:ea typeface="微软雅黑"/>
                <a:cs typeface="微软雅黑"/>
              </a:rPr>
              <a:t>EP16 DP4TP4 16K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B6E3CA1-1691-4465-B48F-AF305097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86375"/>
            <a:ext cx="176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EP16 DP8TP2 16K</a:t>
            </a:r>
          </a:p>
        </p:txBody>
      </p:sp>
      <p:graphicFrame>
        <p:nvGraphicFramePr>
          <p:cNvPr id="58" name="表格 52"/>
          <p:cNvGraphicFramePr/>
          <p:nvPr/>
        </p:nvGraphicFramePr>
        <p:xfrm>
          <a:off xmlns:a="http://schemas.openxmlformats.org/drawingml/2006/main" x="7029450" y="1724025"/>
          <a:ext xmlns:a="http://schemas.openxmlformats.org/drawingml/2006/main" cx="4552950" cy="4133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"/>
                <a:gridCol w="590550"/>
                <a:gridCol w="1162050"/>
                <a:gridCol w="1162050"/>
                <a:gridCol w="1162050"/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F2A3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DP4TP4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54823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</a:t>
                      </a:r>
                    </a:p>
                    <a:p>
                      <a:pPr algn="ctr">
                        <a:buNone/>
                      </a:pPr>
                      <a:r>
                        <a:rPr sz="1163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28575" marR="28575" marT="9525" marB="9525" anchor="ctr">
                    <a:solidFill>
                      <a:srgbClr val="E7E6E6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5.43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1.11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3.44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11.34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9.16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13.31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6.98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12.01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16.57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5.82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8.87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9.60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16.09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11.06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14.08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19.75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14.76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13.61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14.69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16.80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15.12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16.66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  <a:tr h="2476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9525" marB="95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20.28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18.25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20.54</a:t>
                      </a:r>
                    </a:p>
                  </a:txBody>
                  <a:tcPr marL="28575" marR="28575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1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B7848AF1-AB62-4943-B5C1-5F38AA9C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AFD DP4TP2 + FFN EP8：不同 MBT 与 RPS 的">
            <a:extLst xmlns:a="http://schemas.openxmlformats.org/drawingml/2006/main">
              <a:ext uri="{FF2B5EF4-FFF2-40B4-BE49-F238E27FC236}">
                <a16:creationId xmlns:a16="http://schemas.microsoft.com/office/drawing/2014/main" id="{A3975760-FD46-4277-8474-1665EA18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+ FFN EP8：不同 MBT 与 RPS 的 TTFT</a:t>
            </a:r>
          </a:p>
        </p:txBody>
      </p:sp>
      <p:sp>
        <p:nvSpPr>
          <p:cNvPr id="3" name="补充实验：单机 16 die，dsv4-flash，同一 1,536 ">
            <a:extLst xmlns:a="http://schemas.openxmlformats.org/drawingml/2006/main">
              <a:ext uri="{FF2B5EF4-FFF2-40B4-BE49-F238E27FC236}">
                <a16:creationId xmlns:a16="http://schemas.microsoft.com/office/drawing/2014/main" id="{54AECD26-3E6B-4AE4-86B9-06BC050E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本次实验：单机 16 die，dsv4-flash，同一 1,536 请求序列，输出 1 token</a:t>
            </a:r>
          </a:p>
        </p:txBody>
      </p:sp>
      <p:sp>
        <p:nvSpPr>
          <p:cNvPr id="4" name="23">
            <a:extLst xmlns:a="http://schemas.openxmlformats.org/drawingml/2006/main">
              <a:ext uri="{FF2B5EF4-FFF2-40B4-BE49-F238E27FC236}">
                <a16:creationId xmlns:a16="http://schemas.microsoft.com/office/drawing/2014/main" id="{BE0366D6-4BEE-4144-B7D1-B7291D6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5" name="平均 TTFT（秒）">
            <a:extLst xmlns:a="http://schemas.openxmlformats.org/drawingml/2006/main">
              <a:ext uri="{FF2B5EF4-FFF2-40B4-BE49-F238E27FC236}">
                <a16:creationId xmlns:a16="http://schemas.microsoft.com/office/drawing/2014/main" id="{DB663521-9BB3-44D0-8FCE-95EE36AB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 TTFT（秒）</a:t>
            </a:r>
          </a:p>
        </p:txBody>
      </p:sp>
      <p:sp>
        <p:nvSpPr>
          <p:cNvPr id="7" name="每格：均值 / P99（秒）">
            <a:extLst xmlns:a="http://schemas.openxmlformats.org/drawingml/2006/main">
              <a:ext uri="{FF2B5EF4-FFF2-40B4-BE49-F238E27FC236}">
                <a16:creationId xmlns:a16="http://schemas.microsoft.com/office/drawing/2014/main" id="{8C19EF28-557A-471C-8FE4-CEBDD34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每格：均值 / P99（秒）</a:t>
            </a:r>
          </a:p>
        </p:txBody>
      </p:sp>
      <p:graphicFrame>
        <p:nvGraphicFramePr>
          <p:cNvPr id="20" name="表格 17"/>
          <p:cNvGraphicFramePr/>
          <p:nvPr/>
        </p:nvGraphicFramePr>
        <p:xfrm>
          <a:off xmlns:a="http://schemas.openxmlformats.org/drawingml/2006/main" x="6667500" y="1952625"/>
          <a:ext xmlns:a="http://schemas.openxmlformats.org/drawingml/2006/main" cx="4905375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4850"/>
                <a:gridCol w="1400175"/>
                <a:gridCol w="1400175"/>
                <a:gridCol w="1400175"/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1.97 / 7.97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4.00 / 13.68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32.12 / 59.81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1.54 / 7.05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2.63 / 9.98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10.16 / 21.35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1.67 / 7.07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2.77 / 11.01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7.54 / 18.52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1.62 / 6.98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2.90 / 11.06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8.56 / 20.28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PS 2/3：16K 的平均 TTFT 最低&#10;RPS 4：32K 的">
            <a:extLst xmlns:a="http://schemas.openxmlformats.org/drawingml/2006/main">
              <a:ext uri="{FF2B5EF4-FFF2-40B4-BE49-F238E27FC236}">
                <a16:creationId xmlns:a16="http://schemas.microsoft.com/office/drawing/2014/main" id="{8EA252A9-EC05-4371-A540-B6AAE087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00625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2/3：16K 的平均 TTFT 最低</a:t>
            </a:r>
          </a:p>
          <a:p xmlns:a="http://schemas.openxmlformats.org/drawingml/2006/main"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 4：32K 的平均值与 P99 最低</a:t>
            </a:r>
          </a:p>
        </p:txBody>
      </p:sp>
      <p:sp>
        <p:nvSpPr>
          <p:cNvPr id="10" name="8K/16K/32K 各 1 轮，64K 为 3 轮均值，节点不同。此">
            <a:extLst xmlns:a="http://schemas.openxmlformats.org/drawingml/2006/main">
              <a:ext uri="{FF2B5EF4-FFF2-40B4-BE49-F238E27FC236}">
                <a16:creationId xmlns:a16="http://schemas.microsoft.com/office/drawing/2014/main" id="{344D3376-410F-47BA-9737-29D4B663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轮均值。节点不同，64K 与前页 AFD 数据一致。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5715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a762d8955f4574"/>
          </a:graphicData>
        </a:graphic>
      </p:graphicFrame>
    </p:spTree>
    <p:extLst>
      <p:ext uri="{BB962C8B-B14F-4D97-AF65-F5344CB8AC3E}">
        <p14:creationId xmlns:p14="http://schemas.microsoft.com/office/powerpoint/2010/main" val="31256496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5A3526C9-CFA4-4EC3-892A-3BF3518A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MBT 调整收益：以同一 RPS 的 AFD 64K 为基准">
            <a:extLst xmlns:a="http://schemas.openxmlformats.org/drawingml/2006/main">
              <a:ext uri="{FF2B5EF4-FFF2-40B4-BE49-F238E27FC236}">
                <a16:creationId xmlns:a16="http://schemas.microsoft.com/office/drawing/2014/main" id="{309C46C5-AFC1-403A-96F0-5B33F639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MBT 调整收益：以同一 RPS 的 AFD 64K 为基准</a:t>
            </a:r>
          </a:p>
        </p:txBody>
      </p:sp>
      <p:sp>
        <p:nvSpPr>
          <p:cNvPr id="3" name="收益 = 1 − 当前 MBT 的 TTFT / 64K 的 TTFT">
            <a:extLst xmlns:a="http://schemas.openxmlformats.org/drawingml/2006/main">
              <a:ext uri="{FF2B5EF4-FFF2-40B4-BE49-F238E27FC236}">
                <a16:creationId xmlns:a16="http://schemas.microsoft.com/office/drawing/2014/main" id="{FC04F203-B735-45F5-A5C7-9631894B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收益 = 1 − 当前 MBT 的 TTFT / 64K 的 TTFT。正值表示延迟降低，负值表示增加</a:t>
            </a:r>
          </a:p>
        </p:txBody>
      </p:sp>
      <p:sp>
        <p:nvSpPr>
          <p:cNvPr id="4" name="24">
            <a:extLst xmlns:a="http://schemas.openxmlformats.org/drawingml/2006/main">
              <a:ext uri="{FF2B5EF4-FFF2-40B4-BE49-F238E27FC236}">
                <a16:creationId xmlns:a16="http://schemas.microsoft.com/office/drawing/2014/main" id="{A6A14DCC-8D02-48D8-BCCB-3B908987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5" name="每格：平均 TTFT 降幅 / P99 降幅">
            <a:extLst xmlns:a="http://schemas.openxmlformats.org/drawingml/2006/main">
              <a:ext uri="{FF2B5EF4-FFF2-40B4-BE49-F238E27FC236}">
                <a16:creationId xmlns:a16="http://schemas.microsoft.com/office/drawing/2014/main" id="{FC21A4BF-45B9-4FCD-9103-360D895D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每格：平均 TTFT 降幅 / P99 降幅</a:t>
            </a:r>
          </a:p>
        </p:txBody>
      </p:sp>
      <p:graphicFrame>
        <p:nvGraphicFramePr>
          <p:cNvPr id="17" name="表格 14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181350"/>
                <a:gridCol w="3181350"/>
                <a:gridCol w="3181350"/>
              </a:tblGrid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MBT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2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−21.8% / −14.2%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−38.3% / −23.7%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−275.4% / −194.8%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+5.2% / −1.0%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+9.3% / +9.7%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−18.7% / −5.3%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−3.1% / −1.3%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+4.5% / +0.4%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+11.8% / +8.7%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+0.0% / +0.0%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PS=4：32K 相比 64K，平均 TTFT 降低 11.8%，P">
            <a:extLst xmlns:a="http://schemas.openxmlformats.org/drawingml/2006/main">
              <a:ext uri="{FF2B5EF4-FFF2-40B4-BE49-F238E27FC236}">
                <a16:creationId xmlns:a16="http://schemas.microsoft.com/office/drawing/2014/main" id="{D6F4C655-51F0-4A16-95A1-4661A6D8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RPS=4：32K 相比 64K，平均 TTFT 降低 11.8%，P99 降低 8.7%</a:t>
            </a:r>
          </a:p>
        </p:txBody>
      </p:sp>
      <p:sp>
        <p:nvSpPr>
          <p:cNvPr id="8" name="8K 在 RPS=4 的实际 QPS 仅 3.465，平均 TTFT ">
            <a:extLst xmlns:a="http://schemas.openxmlformats.org/drawingml/2006/main">
              <a:ext uri="{FF2B5EF4-FFF2-40B4-BE49-F238E27FC236}">
                <a16:creationId xmlns:a16="http://schemas.microsoft.com/office/drawing/2014/main" id="{E4E7AFB2-84FE-4253-A5BD-407E270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8K 在 RPS=4 的实际 QPS 仅 3.465，平均 TTFT 达 32.12 秒。</a:t>
            </a:r>
          </a:p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当前数据支持负载相关的 MBT 选择，尚不能认定单轮最优值具有稳定优势。</a:t>
            </a:r>
          </a:p>
        </p:txBody>
      </p:sp>
      <p:sp>
        <p:nvSpPr>
          <p:cNvPr id="9" name="8K/16K/32K 各 1 轮，64K 为 3 轮均值。这里只比较 ">
            <a:extLst xmlns:a="http://schemas.openxmlformats.org/drawingml/2006/main">
              <a:ext uri="{FF2B5EF4-FFF2-40B4-BE49-F238E27FC236}">
                <a16:creationId xmlns:a16="http://schemas.microsoft.com/office/drawing/2014/main" id="{70CC067E-C37D-4726-AEF8-EC1EF871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09-08/09 批次：8K/16K/32K 各 1 轮，64K 为 3 轮均值。比较 AFD 内部参数收益，节点和轮数不同。</a:t>
            </a:r>
          </a:p>
        </p:txBody>
      </p:sp>
    </p:spTree>
    <p:extLst>
      <p:ext uri="{BB962C8B-B14F-4D97-AF65-F5344CB8AC3E}">
        <p14:creationId xmlns:p14="http://schemas.microsoft.com/office/powerpoint/2010/main" val="82835544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D682754E-EAFF-4B91-B44F-2012B6FF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：RPS 从 3 增至 4，三轮都出现 TTFT 上升">
            <a:extLst xmlns:a="http://schemas.openxmlformats.org/drawingml/2006/main">
              <a:ext uri="{FF2B5EF4-FFF2-40B4-BE49-F238E27FC236}">
                <a16:creationId xmlns:a16="http://schemas.microsoft.com/office/drawing/2014/main" id="{1AFC6AC8-2F2E-455C-B2D5-0079B72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64K：RPS 从 3 增至 4，三轮都出现 TTFT 上升</a:t>
            </a:r>
          </a:p>
        </p:txBody>
      </p:sp>
      <p:sp>
        <p:nvSpPr>
          <p:cNvPr id="3" name="同一数据集与输入顺序，输出 1 token。RPS=3 为 4,608">
            <a:extLst xmlns:a="http://schemas.openxmlformats.org/drawingml/2006/main">
              <a:ext uri="{FF2B5EF4-FFF2-40B4-BE49-F238E27FC236}">
                <a16:creationId xmlns:a16="http://schemas.microsoft.com/office/drawing/2014/main" id="{08609CF5-423E-4E9F-88B2-775233F2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同一数据集与输入顺序，输出 1 token。RPS=3 为 4,608 成功，RPS=4 为 4,607 成功、1 失败</a:t>
            </a:r>
          </a:p>
        </p:txBody>
      </p:sp>
      <p:sp>
        <p:nvSpPr>
          <p:cNvPr id="4" name="26">
            <a:extLst xmlns:a="http://schemas.openxmlformats.org/drawingml/2006/main">
              <a:ext uri="{FF2B5EF4-FFF2-40B4-BE49-F238E27FC236}">
                <a16:creationId xmlns:a16="http://schemas.microsoft.com/office/drawing/2014/main" id="{224C2E61-18E2-4F8B-A6C1-6CBF96DB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5" name="三轮均值：平均 2.90s / 8.56s，P50 1.97s / 8">
            <a:extLst xmlns:a="http://schemas.openxmlformats.org/drawingml/2006/main">
              <a:ext uri="{FF2B5EF4-FFF2-40B4-BE49-F238E27FC236}">
                <a16:creationId xmlns:a16="http://schemas.microsoft.com/office/drawing/2014/main" id="{C46E32EE-51C4-4AB4-870E-E81CCFB8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三轮均值：平均 2.90s / 8.56s，P50 1.97s / 8.41s，P99 11.06s / 20.28s</a:t>
            </a:r>
          </a:p>
        </p:txBody>
      </p:sp>
      <p:sp>
        <p:nvSpPr>
          <p:cNvPr id="7" name="逐轮平均 TTFT（秒）">
            <a:extLst xmlns:a="http://schemas.openxmlformats.org/drawingml/2006/main">
              <a:ext uri="{FF2B5EF4-FFF2-40B4-BE49-F238E27FC236}">
                <a16:creationId xmlns:a16="http://schemas.microsoft.com/office/drawing/2014/main" id="{0051AAC2-D0CE-4885-BE07-71CC028E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逐轮平均 TTFT（秒）</a:t>
            </a:r>
          </a:p>
        </p:txBody>
      </p:sp>
      <p:graphicFrame>
        <p:nvGraphicFramePr>
          <p:cNvPr id="21" name="表格 18"/>
          <p:cNvGraphicFramePr/>
          <p:nvPr/>
        </p:nvGraphicFramePr>
        <p:xfrm>
          <a:off xmlns:a="http://schemas.openxmlformats.org/drawingml/2006/main" x="6572250" y="2466975"/>
          <a:ext xmlns:a="http://schemas.openxmlformats.org/drawingml/2006/main" cx="5000625" cy="21240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04875"/>
                <a:gridCol w="1381125"/>
                <a:gridCol w="1381125"/>
                <a:gridCol w="1333500"/>
              </a:tblGrid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轮次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9.84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3.32×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2.79×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2.84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7.76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7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2.73×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平均 TTFT 增至 2.95 倍&#10;实际 QPS 仅从 2.980 增">
            <a:extLst xmlns:a="http://schemas.openxmlformats.org/drawingml/2006/main">
              <a:ext uri="{FF2B5EF4-FFF2-40B4-BE49-F238E27FC236}">
                <a16:creationId xmlns:a16="http://schemas.microsoft.com/office/drawing/2014/main" id="{49340AA9-18FA-4EBD-811A-A95B18A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500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平均 TTFT 增至 2.95 倍</a:t>
            </a:r>
          </a:p>
          <a:p xmlns:a="http://schemas.openxmlformats.org/drawingml/2006/main">
            <a:pPr>
              <a:buNone/>
              <a:def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实际 QPS 仅从 2.980 增至 3.947</a:t>
            </a:r>
          </a:p>
        </p:txBody>
      </p:sp>
      <p:sp>
        <p:nvSpPr>
          <p:cNvPr id="10" name="延迟上升跨三轮复现，不由单个失败请求或单次异常测量造成">
            <a:extLst xmlns:a="http://schemas.openxmlformats.org/drawingml/2006/main">
              <a:ext uri="{FF2B5EF4-FFF2-40B4-BE49-F238E27FC236}">
                <a16:creationId xmlns:a16="http://schemas.microsoft.com/office/drawing/2014/main" id="{CC269813-9838-4258-9B0C-DA19AE44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延迟上升跨三轮复现，不由单个失败请求或单次异常测量造成</a:t>
            </a:r>
          </a:p>
        </p:txBody>
      </p:sp>
      <p:sp>
        <p:nvSpPr>
          <p:cNvPr id="11" name="分位数先逐轮计算再取均值。失败请求不纳入延迟。请求速率提高 33.3%">
            <a:extLst xmlns:a="http://schemas.openxmlformats.org/drawingml/2006/main">
              <a:ext uri="{FF2B5EF4-FFF2-40B4-BE49-F238E27FC236}">
                <a16:creationId xmlns:a16="http://schemas.microsoft.com/office/drawing/2014/main" id="{4B350EAA-0313-41F6-8588-4727A604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20260908-rps234：分位数先逐轮计算再取均值，失败请求不纳入延迟。RPS 提高 33.3%，输入序列和输出长度一致。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5429250" cy="30765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a601f309564dbf"/>
          </a:graphicData>
        </a:graphic>
      </p:graphicFrame>
    </p:spTree>
    <p:extLst>
      <p:ext uri="{BB962C8B-B14F-4D97-AF65-F5344CB8AC3E}">
        <p14:creationId xmlns:p14="http://schemas.microsoft.com/office/powerpoint/2010/main" val="132660483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1BF4E696-81FA-4C30-B2D7-C2FE2BED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 的 metrics：延迟增长不只发生在首次调度之前">
            <a:extLst xmlns:a="http://schemas.openxmlformats.org/drawingml/2006/main">
              <a:ext uri="{FF2B5EF4-FFF2-40B4-BE49-F238E27FC236}">
                <a16:creationId xmlns:a16="http://schemas.microsoft.com/office/drawing/2014/main" id="{8570A461-EF27-4927-A6FE-C8437007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64K 与 DP8TP2 8K：RPS 3/4 的 metrics 对比</a:t>
            </a:r>
          </a:p>
        </p:txBody>
      </p:sp>
      <p:sp>
        <p:nvSpPr>
          <p:cNvPr id="3" name="Attention API 的 before/after histog">
            <a:extLst xmlns:a="http://schemas.openxmlformats.org/drawingml/2006/main">
              <a:ext uri="{FF2B5EF4-FFF2-40B4-BE49-F238E27FC236}">
                <a16:creationId xmlns:a16="http://schemas.microsoft.com/office/drawing/2014/main" id="{AFB48993-D54C-42BB-BABC-BEAFF624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API before/after histogram 差分，每轮 sum/count 后取三轮均值。AFD 为 DP4TP2 + EP8，DP8TP2 为 EP16</a:t>
            </a:r>
          </a:p>
        </p:txBody>
      </p:sp>
      <p:sp>
        <p:nvSpPr>
          <p:cNvPr id="4" name="27">
            <a:extLst xmlns:a="http://schemas.openxmlformats.org/drawingml/2006/main">
              <a:ext uri="{FF2B5EF4-FFF2-40B4-BE49-F238E27FC236}">
                <a16:creationId xmlns:a16="http://schemas.microsoft.com/office/drawing/2014/main" id="{7CB753E8-A937-44AD-B687-D2AA5A58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6" name="排队均值增加约 0.32 秒，prefill 区间增加约 4.02 秒">
            <a:extLst xmlns:a="http://schemas.openxmlformats.org/drawingml/2006/main">
              <a:ext uri="{FF2B5EF4-FFF2-40B4-BE49-F238E27FC236}">
                <a16:creationId xmlns:a16="http://schemas.microsoft.com/office/drawing/2014/main" id="{FD4BB586-9408-428D-97AB-18FA677D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RPS=4 时，AFD 大 chunk size 配置排队更少，但请求平均 prefill 时间更长</a:t>
            </a:r>
          </a:p>
        </p:txBody>
      </p:sp>
      <p:sp>
        <p:nvSpPr>
          <p:cNvPr id="7" name="queue：QUEUED 到首次 SCHEDULED&#10;prefill：">
            <a:extLst xmlns:a="http://schemas.openxmlformats.org/drawingml/2006/main">
              <a:ext uri="{FF2B5EF4-FFF2-40B4-BE49-F238E27FC236}">
                <a16:creationId xmlns:a16="http://schemas.microsoft.com/office/drawing/2014/main" id="{B47B7317-1EAF-4DDB-B802-CFC520C2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queue：QUEUED 到首次 SCHEDULED。prefill：首次 SCHEDULED 到首个 NEW_TOKEN，含等待和抢占。</a:t>
            </a:r>
          </a:p>
          <a:p xmlns:a="http://schemas.openxmlformats.org/drawingml/2006/main">
            <a:pPr>
              <a:buNone/>
              <a:def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prefill 区间的变化无法单独归因于 Attention、FFN 或通信耗时。</a:t>
            </a:r>
          </a:p>
        </p:txBody>
      </p:sp>
      <p:sp>
        <p:nvSpPr>
          <p:cNvPr id="8" name="窗口包含每轮 16 个 warmup，与客户端纯正式请求统计略有差异。">
            <a:extLst xmlns:a="http://schemas.openxmlformats.org/drawingml/2006/main">
              <a:ext uri="{FF2B5EF4-FFF2-40B4-BE49-F238E27FC236}">
                <a16:creationId xmlns:a16="http://schemas.microsoft.com/office/drawing/2014/main" id="{7371D443-E05E-4EF0-BAF1-B41E066B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38100" rIns="91440" bIns="3810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20260908-rps234 metrics，窗口含每轮 16 个 warmup，各区间不直接相加。</a:t>
            </a:r>
          </a:p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结论基于 AFD 64K 与 DP8TP2 8K 的配置对比，尚未单独分离 chunk size 的影响。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2419350"/>
                <a:gridCol w="2066925"/>
                <a:gridCol w="2066925"/>
                <a:gridCol w="2057400"/>
              </a:tblGrid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 / MBT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指标（秒）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</a:t>
                      </a:r>
                    </a:p>
                  </a:txBody>
                  <a:tcPr marL="85725" marR="85725" marT="28575" marB="28575" anchor="ctr">
                    <a:solidFill>
                      <a:srgbClr val="222222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0.0005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0.3173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+0.3168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2.0429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6.0672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+4.0243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 64K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2.8759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8.4676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+5.5916</a:t>
                      </a:r>
                    </a:p>
                  </a:txBody>
                  <a:tcPr marL="85725" marR="85725" marT="28575" marB="28575" anchor="ctr">
                    <a:solidFill>
                      <a:srgbClr val="F4F4F4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queue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0.4847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1.2776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+0.7929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prefill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3.2181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3.5940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+0.3759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DP8TP2 8K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API TTFT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4.6991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5.7431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6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+1.0440</a:t>
                      </a:r>
                    </a:p>
                  </a:txBody>
                  <a:tcPr marL="85725" marR="85725" marT="28575" marB="28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97936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SYNC PREFILL SUPPLEMENT">
            <a:extLst xmlns:a="http://schemas.openxmlformats.org/drawingml/2006/main">
              <a:ext uri="{FF2B5EF4-FFF2-40B4-BE49-F238E27FC236}">
                <a16:creationId xmlns:a16="http://schemas.microsoft.com/office/drawing/2014/main" id="{893D657A-4879-44C9-9F6E-C2A5F33D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825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64K 的请求级证据：短请求也变慢，共同调度与跨步增加">
            <a:extLst xmlns:a="http://schemas.openxmlformats.org/drawingml/2006/main">
              <a:ext uri="{FF2B5EF4-FFF2-40B4-BE49-F238E27FC236}">
                <a16:creationId xmlns:a16="http://schemas.microsoft.com/office/drawing/2014/main" id="{AA47EC1D-A6EE-4B0B-8E63-50477496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64K 的请求级证据：短请求也变慢，共同调度与跨步增加</a:t>
            </a:r>
          </a:p>
        </p:txBody>
      </p:sp>
      <p:sp>
        <p:nvSpPr>
          <p:cNvPr id="3" name="合并三轮成功请求。长度固定，指标 M(r)=输入长度 / 所有包含该请">
            <a:extLst xmlns:a="http://schemas.openxmlformats.org/drawingml/2006/main">
              <a:ext uri="{FF2B5EF4-FFF2-40B4-BE49-F238E27FC236}">
                <a16:creationId xmlns:a16="http://schemas.microsoft.com/office/drawing/2014/main" id="{EE5BC818-C16F-4FC5-9C78-B46DD60E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M(r) = 请求 r 的输入 token 数 ÷ Σ（包含 r 的每个 step 的 batch 总 token 数）</a:t>
            </a:r>
          </a:p>
          <a:p xmlns:a="http://schemas.openxmlformats.org/drawingml/2006/main">
            <a:pPr>
              <a:buNone/>
              <a:def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按请求所属 DP rank 的 batch 计算；逐请求算出 M(r)，再对三轮成功请求取均值。</a:t>
            </a:r>
          </a:p>
        </p:txBody>
      </p:sp>
      <p:sp>
        <p:nvSpPr>
          <p:cNvPr id="4" name="28">
            <a:extLst xmlns:a="http://schemas.openxmlformats.org/drawingml/2006/main">
              <a:ext uri="{FF2B5EF4-FFF2-40B4-BE49-F238E27FC236}">
                <a16:creationId xmlns:a16="http://schemas.microsoft.com/office/drawing/2014/main" id="{F13EDE37-DDF7-44EC-A6E9-B7B392A1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5" name="按输入长度的 P50 TTFT（秒）">
            <a:extLst xmlns:a="http://schemas.openxmlformats.org/drawingml/2006/main">
              <a:ext uri="{FF2B5EF4-FFF2-40B4-BE49-F238E27FC236}">
                <a16:creationId xmlns:a16="http://schemas.microsoft.com/office/drawing/2014/main" id="{50C86D8D-6E28-4519-8332-F3832ABA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按输入长度的 P50 TTFT（秒）</a:t>
            </a:r>
          </a:p>
        </p:txBody>
      </p:sp>
      <p:graphicFrame>
        <p:nvGraphicFramePr>
          <p:cNvPr id="20" name="表格 16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5810250" cy="304800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1428750"/>
                <a:gridCol w="1428750"/>
                <a:gridCol w="1428750"/>
              </a:tblGrid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输入长度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1.23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8.09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6.57×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2–4K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6.50×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4–8K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1.31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5.72×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8–16K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8.43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4.73×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16–32K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3.09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9.22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2.98×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4354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32–64K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1.91×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chedulerStep 日志统计">
            <a:extLst xmlns:a="http://schemas.openxmlformats.org/drawingml/2006/main">
              <a:ext uri="{FF2B5EF4-FFF2-40B4-BE49-F238E27FC236}">
                <a16:creationId xmlns:a16="http://schemas.microsoft.com/office/drawing/2014/main" id="{CACE8672-6EC0-4958-BAB9-D64B6A7C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90675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SchedulerStep 日志统计</a:t>
            </a:r>
          </a:p>
        </p:txBody>
      </p:sp>
      <p:graphicFrame>
        <p:nvGraphicFramePr>
          <p:cNvPr id="22" name="表格 18"/>
          <p:cNvGraphicFramePr/>
          <p:nvPr/>
        </p:nvGraphicFramePr>
        <p:xfrm>
          <a:off xmlns:a="http://schemas.openxmlformats.org/drawingml/2006/main" x="6762750" y="2009775"/>
          <a:ext xmlns:a="http://schemas.openxmlformats.org/drawingml/2006/main" cx="4810125" cy="215265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1238250"/>
                <a:gridCol w="1238250"/>
              </a:tblGrid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3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 4</a:t>
                      </a:r>
                    </a:p>
                  </a:txBody>
                  <a:tcPr marL="91440" marR="91440" marT="45720" marB="45720">
                    <a:solidFill>
                      <a:srgbClr val="222222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跨步请求数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305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跨步请求占比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0.89%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6.62%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81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M(r) 均值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73.18%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29.57%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更低的 M(r) 表示相关 batch 中&#10;其他请求 token 的相">
            <a:extLst xmlns:a="http://schemas.openxmlformats.org/drawingml/2006/main">
              <a:ext uri="{FF2B5EF4-FFF2-40B4-BE49-F238E27FC236}">
                <a16:creationId xmlns:a16="http://schemas.microsoft.com/office/drawing/2014/main" id="{A0FAF2DB-6442-4BFF-BF2F-DE15D421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57700"/>
            <a:ext cx="4810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计算示例：请求输入长度为 4K</a:t>
            </a:r>
          </a:p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单步 batch=16K：4K ÷ 16K = 25%</a:t>
            </a:r>
          </a:p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跨步 batch=16K、8K：4K ÷ (16K+8K) = 16.7%</a:t>
            </a:r>
          </a:p>
          <a:p xmlns:a="http://schemas.openxmlformats.org/drawingml/2006/main">
            <a:pPr>
              <a:buNone/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每个包含该请求的 step，计入完整 batch 总量</a:t>
            </a:r>
          </a:p>
        </p:txBody>
      </p:sp>
      <p:sp>
        <p:nvSpPr>
          <p:cNvPr id="10" name="证据支持请求间共同调度增多、跨步增多与延迟上升同时出现；具体瓶颈仍需逐">
            <a:extLst xmlns:a="http://schemas.openxmlformats.org/drawingml/2006/main">
              <a:ext uri="{FF2B5EF4-FFF2-40B4-BE49-F238E27FC236}">
                <a16:creationId xmlns:a16="http://schemas.microsoft.com/office/drawing/2014/main" id="{769ED8FA-CDB2-42D7-91EF-BD94CEDB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证据支持请求间共同调度增多、跨步增多与延迟上升同时出现；具体瓶颈仍需逐步耗时分析</a:t>
            </a:r>
          </a:p>
        </p:txBody>
      </p:sp>
      <p:sp>
        <p:nvSpPr>
          <p:cNvPr id="11" name="K=1024，区间左闭右开。此页为合并请求分位数。日志已排除 warm">
            <a:extLst xmlns:a="http://schemas.openxmlformats.org/drawingml/2006/main">
              <a:ext uri="{FF2B5EF4-FFF2-40B4-BE49-F238E27FC236}">
                <a16:creationId xmlns:a16="http://schemas.microsoft.com/office/drawing/2014/main" id="{42E10E81-3009-4E55-9E3D-E5342688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本次 20260908-rps234。M(r) 不含耗时，不能解释为空泡率。K=1024，长度区间左闭右开。</a:t>
            </a:r>
          </a:p>
          <a:p xmlns:a="http://schemas.openxmlformats.org/drawingml/2006/main">
            <a:pPr>
              <a:buNone/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TTFT 合并三轮成功请求取分位数；SchedulerStep 已排除 warmup，逐请求核对 chunk token 之和等于输入长度。</a:t>
            </a:r>
          </a:p>
        </p:txBody>
      </p:sp>
    </p:spTree>
    <p:extLst>
      <p:ext uri="{BB962C8B-B14F-4D97-AF65-F5344CB8AC3E}">
        <p14:creationId xmlns:p14="http://schemas.microsoft.com/office/powerpoint/2010/main" val="178761802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kicker">
            <a:extLst xmlns:a="http://schemas.openxmlformats.org/drawingml/2006/main">
              <a:ext uri="{FF2B5EF4-FFF2-40B4-BE49-F238E27FC236}">
                <a16:creationId xmlns:a16="http://schemas.microsoft.com/office/drawing/2014/main" id="{6A435A34-125A-48E0-A4FC-D0C136F3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1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ASYNC PREFILL RESULTS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35F7C9-468B-420F-8140-98FCD9D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接下来的 FFN 优化方向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333E17-C2BD-47BC-B321-DA4AAC4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降低 FFN 的 Host 同步、图执行和通信控核开销</a:t>
            </a:r>
          </a:p>
        </p:txBody>
      </p:sp>
      <p:sp>
        <p:nvSpPr>
          <p:cNvPr id="4" name="optimization-heading">
            <a:extLst xmlns:a="http://schemas.openxmlformats.org/drawingml/2006/main">
              <a:ext uri="{FF2B5EF4-FFF2-40B4-BE49-F238E27FC236}">
                <a16:creationId xmlns:a16="http://schemas.microsoft.com/office/drawing/2014/main" id="{DC31442A-4EDD-402D-BAD5-9AD0E4C5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优化方向</a:t>
            </a:r>
          </a:p>
        </p:txBody>
      </p:sp>
      <p:sp>
        <p:nvSpPr>
          <p:cNvPr id="5" name="optimization-list">
            <a:extLst xmlns:a="http://schemas.openxmlformats.org/drawingml/2006/main">
              <a:ext uri="{FF2B5EF4-FFF2-40B4-BE49-F238E27FC236}">
                <a16:creationId xmlns:a16="http://schemas.microsoft.com/office/drawing/2014/main" id="{1756CAC8-FE00-4AC0-9472-EA210A89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接入选层算子，消除所有 Host 同步气泡</a:t>
            </a:r>
          </a:p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入图</a:t>
            </a:r>
          </a:p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FFN 通信使用多流，掩盖控核开销</a:t>
            </a:r>
          </a:p>
        </p:txBody>
      </p:sp>
      <p:sp>
        <p:nvSpPr>
          <p:cNvPr id="6" name="benefit-heading">
            <a:extLst xmlns:a="http://schemas.openxmlformats.org/drawingml/2006/main">
              <a:ext uri="{FF2B5EF4-FFF2-40B4-BE49-F238E27FC236}">
                <a16:creationId xmlns:a16="http://schemas.microsoft.com/office/drawing/2014/main" id="{BE5CEAF1-B13E-4C60-969B-1A134847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02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预期收益</a:t>
            </a:r>
          </a:p>
        </p:txBody>
      </p:sp>
      <p:sp>
        <p:nvSpPr>
          <p:cNvPr id="7" name="benefit-list">
            <a:extLst xmlns:a="http://schemas.openxmlformats.org/drawingml/2006/main">
              <a:ext uri="{FF2B5EF4-FFF2-40B4-BE49-F238E27FC236}">
                <a16:creationId xmlns:a16="http://schemas.microsoft.com/office/drawing/2014/main" id="{A383C95D-D556-4372-8A3E-35210E53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承载更多 Attention DP，增加吞吐</a:t>
            </a:r>
          </a:p>
          <a:p xmlns:a="http://schemas.openxmlformats.org/drawingml/2006/main">
            <a:pPr marL="279400" indent="-139700" algn="l">
              <a:spcAft>
                <a:spcPts val="1800"/>
              </a:spcAft>
              <a:buChar char="•"/>
              <a:def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减小 chunksize，在单位时间内增加 FFN 算子执行次数</a:t>
            </a:r>
          </a:p>
        </p:txBody>
      </p:sp>
      <p:sp>
        <p:nvSpPr>
          <p:cNvPr id="8" name="roadmap-takeaway">
            <a:extLst xmlns:a="http://schemas.openxmlformats.org/drawingml/2006/main">
              <a:ext uri="{FF2B5EF4-FFF2-40B4-BE49-F238E27FC236}">
                <a16:creationId xmlns:a16="http://schemas.microsoft.com/office/drawing/2014/main" id="{513E594E-0616-4BB4-AFCE-199AB964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优化 FFN 后，可承载更多 Attention DP，并以更小的 chunksize 提高 FFN 算子执行频率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F5ED840-1BC3-43B2-9D33-D3071B75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2462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10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37155125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7">
            <a:extLst xmlns:a="http://schemas.openxmlformats.org/drawingml/2006/main">
              <a:ext uri="{FF2B5EF4-FFF2-40B4-BE49-F238E27FC236}">
                <a16:creationId xmlns:a16="http://schemas.microsoft.com/office/drawing/2014/main" id="{0D3768A1-BD99-41B9-9FB9-CE375332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4A940E7D-4EB6-4EFB-B7BB-EA679604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4K）</a:t>
            </a:r>
          </a:p>
        </p:txBody>
      </p:sp>
      <p:sp>
        <p:nvSpPr>
          <p:cNvPr id="3" name="title-rule-17">
            <a:extLst xmlns:a="http://schemas.openxmlformats.org/drawingml/2006/main">
              <a:ext uri="{FF2B5EF4-FFF2-40B4-BE49-F238E27FC236}">
                <a16:creationId xmlns:a16="http://schemas.microsoft.com/office/drawing/2014/main" id="{B8004A69-C6F4-4D33-93D1-D40D1415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7">
            <a:extLst xmlns:a="http://schemas.openxmlformats.org/drawingml/2006/main">
              <a:ext uri="{FF2B5EF4-FFF2-40B4-BE49-F238E27FC236}">
                <a16:creationId xmlns:a16="http://schemas.microsoft.com/office/drawing/2014/main" id="{92312FF3-D753-4DA2-953F-9D7FF43F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7">
            <a:extLst xmlns:a="http://schemas.openxmlformats.org/drawingml/2006/main">
              <a:ext uri="{FF2B5EF4-FFF2-40B4-BE49-F238E27FC236}">
                <a16:creationId xmlns:a16="http://schemas.microsoft.com/office/drawing/2014/main" id="{293190B1-48B8-415C-81C3-FB6671F6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7">
            <a:extLst xmlns:a="http://schemas.openxmlformats.org/drawingml/2006/main">
              <a:ext uri="{FF2B5EF4-FFF2-40B4-BE49-F238E27FC236}">
                <a16:creationId xmlns:a16="http://schemas.microsoft.com/office/drawing/2014/main" id="{E06A990F-D0A1-42CB-BE6B-C99A314E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7">
            <a:extLst xmlns:a="http://schemas.openxmlformats.org/drawingml/2006/main">
              <a:ext uri="{FF2B5EF4-FFF2-40B4-BE49-F238E27FC236}">
                <a16:creationId xmlns:a16="http://schemas.microsoft.com/office/drawing/2014/main" id="{DC718C29-9817-42D2-B6C0-D202DA39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7">
            <a:extLst xmlns:a="http://schemas.openxmlformats.org/drawingml/2006/main">
              <a:ext uri="{FF2B5EF4-FFF2-40B4-BE49-F238E27FC236}">
                <a16:creationId xmlns:a16="http://schemas.microsoft.com/office/drawing/2014/main" id="{B9214888-08CB-4123-8011-3E8D9A6E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7">
            <a:extLst xmlns:a="http://schemas.openxmlformats.org/drawingml/2006/main">
              <a:ext uri="{FF2B5EF4-FFF2-40B4-BE49-F238E27FC236}">
                <a16:creationId xmlns:a16="http://schemas.microsoft.com/office/drawing/2014/main" id="{E2186602-565F-4259-9209-3FD5896C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92f447ad354210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019425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2494b6d5cd483d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42925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7dda3b143454db5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90600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2f20e15140419c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38625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0eecd4ee534a07"/>
          </a:graphicData>
        </a:graphic>
      </p:graphicFrame>
      <p:graphicFrame>
        <p:nvGraphicFramePr>
          <p:cNvPr id="43" name="ttft-table-17"/>
          <p:cNvGraphicFramePr/>
          <p:nvPr/>
        </p:nvGraphicFramePr>
        <p:xfrm>
          <a:off xmlns:a="http://schemas.openxmlformats.org/drawingml/2006/main" x="7772400" y="1724025"/>
          <a:ext xmlns:a="http://schemas.openxmlformats.org/drawingml/2006/main" cx="3810000" cy="41910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8.29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28.61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30.99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35.73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7">
            <a:extLst xmlns:a="http://schemas.openxmlformats.org/drawingml/2006/main">
              <a:ext uri="{FF2B5EF4-FFF2-40B4-BE49-F238E27FC236}">
                <a16:creationId xmlns:a16="http://schemas.microsoft.com/office/drawing/2014/main" id="{907CF657-EDBF-42BD-A46D-41EBB2F4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4/8 分别低 13%/30%；RPS 6 时高 4%。</a:t>
            </a:r>
          </a:p>
        </p:txBody>
      </p:sp>
      <p:sp>
        <p:nvSpPr>
          <p:cNvPr id="19" name="settings-17">
            <a:extLst xmlns:a="http://schemas.openxmlformats.org/drawingml/2006/main">
              <a:ext uri="{FF2B5EF4-FFF2-40B4-BE49-F238E27FC236}">
                <a16:creationId xmlns:a16="http://schemas.microsoft.com/office/drawing/2014/main" id="{9F92EBF5-9B4B-481C-ABA9-6F44C7B7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MBT=4K、重复实验均值；表内单位：秒，红色粗体为同 RPS/分位点最优</a:t>
            </a:r>
          </a:p>
        </p:txBody>
      </p:sp>
      <p:sp>
        <p:nvSpPr>
          <p:cNvPr id="20" name="source-17">
            <a:extLst xmlns:a="http://schemas.openxmlformats.org/drawingml/2006/main">
              <a:ext uri="{FF2B5EF4-FFF2-40B4-BE49-F238E27FC236}">
                <a16:creationId xmlns:a16="http://schemas.microsoft.com/office/drawing/2014/main" id="{8BED04DD-B3AD-4D8C-9EBB-50EBD89A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7">
            <a:extLst xmlns:a="http://schemas.openxmlformats.org/drawingml/2006/main">
              <a:ext uri="{FF2B5EF4-FFF2-40B4-BE49-F238E27FC236}">
                <a16:creationId xmlns:a16="http://schemas.microsoft.com/office/drawing/2014/main" id="{81EA0DAA-226F-41D6-BF7B-89A2F5FC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7198503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8">
            <a:extLst xmlns:a="http://schemas.openxmlformats.org/drawingml/2006/main">
              <a:ext uri="{FF2B5EF4-FFF2-40B4-BE49-F238E27FC236}">
                <a16:creationId xmlns:a16="http://schemas.microsoft.com/office/drawing/2014/main" id="{F2C4C278-A124-443A-A8E1-9383C994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6F84FD28-6329-4B6B-A1B5-65D9AA1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8K）</a:t>
            </a:r>
          </a:p>
        </p:txBody>
      </p:sp>
      <p:sp>
        <p:nvSpPr>
          <p:cNvPr id="3" name="title-rule-18">
            <a:extLst xmlns:a="http://schemas.openxmlformats.org/drawingml/2006/main">
              <a:ext uri="{FF2B5EF4-FFF2-40B4-BE49-F238E27FC236}">
                <a16:creationId xmlns:a16="http://schemas.microsoft.com/office/drawing/2014/main" id="{F713F5C3-13EF-49E9-B294-7C1F1B35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8">
            <a:extLst xmlns:a="http://schemas.openxmlformats.org/drawingml/2006/main">
              <a:ext uri="{FF2B5EF4-FFF2-40B4-BE49-F238E27FC236}">
                <a16:creationId xmlns:a16="http://schemas.microsoft.com/office/drawing/2014/main" id="{FE6EF45F-1403-4667-A9EF-C6D54C54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8">
            <a:extLst xmlns:a="http://schemas.openxmlformats.org/drawingml/2006/main">
              <a:ext uri="{FF2B5EF4-FFF2-40B4-BE49-F238E27FC236}">
                <a16:creationId xmlns:a16="http://schemas.microsoft.com/office/drawing/2014/main" id="{7D94F177-2631-44AE-968B-C71AF0E5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8">
            <a:extLst xmlns:a="http://schemas.openxmlformats.org/drawingml/2006/main">
              <a:ext uri="{FF2B5EF4-FFF2-40B4-BE49-F238E27FC236}">
                <a16:creationId xmlns:a16="http://schemas.microsoft.com/office/drawing/2014/main" id="{8010A12F-292D-4116-B34D-E6BA50C6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8">
            <a:extLst xmlns:a="http://schemas.openxmlformats.org/drawingml/2006/main">
              <a:ext uri="{FF2B5EF4-FFF2-40B4-BE49-F238E27FC236}">
                <a16:creationId xmlns:a16="http://schemas.microsoft.com/office/drawing/2014/main" id="{E7153B51-32BB-42F6-9EFB-F38B922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8">
            <a:extLst xmlns:a="http://schemas.openxmlformats.org/drawingml/2006/main">
              <a:ext uri="{FF2B5EF4-FFF2-40B4-BE49-F238E27FC236}">
                <a16:creationId xmlns:a16="http://schemas.microsoft.com/office/drawing/2014/main" id="{31D45F62-5FD5-41B1-BDBA-C2A517C9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8">
            <a:extLst xmlns:a="http://schemas.openxmlformats.org/drawingml/2006/main">
              <a:ext uri="{FF2B5EF4-FFF2-40B4-BE49-F238E27FC236}">
                <a16:creationId xmlns:a16="http://schemas.microsoft.com/office/drawing/2014/main" id="{103F53E9-19D1-437C-AF26-489748BE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1773d0fd99488e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019425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61a46fa0114429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42925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a926890a2e4a60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90600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5a2a6abac34e84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38625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4153b13e9b4b89"/>
          </a:graphicData>
        </a:graphic>
      </p:graphicFrame>
      <p:graphicFrame>
        <p:nvGraphicFramePr>
          <p:cNvPr id="43" name="ttft-table-18"/>
          <p:cNvGraphicFramePr/>
          <p:nvPr/>
        </p:nvGraphicFramePr>
        <p:xfrm>
          <a:off xmlns:a="http://schemas.openxmlformats.org/drawingml/2006/main" x="7772400" y="1724025"/>
          <a:ext xmlns:a="http://schemas.openxmlformats.org/drawingml/2006/main" cx="3810000" cy="41910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8.76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2.60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3.61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7.37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8.88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11.46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7.42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12.16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13.83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16.79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8">
            <a:extLst xmlns:a="http://schemas.openxmlformats.org/drawingml/2006/main">
              <a:ext uri="{FF2B5EF4-FFF2-40B4-BE49-F238E27FC236}">
                <a16:creationId xmlns:a16="http://schemas.microsoft.com/office/drawing/2014/main" id="{CB82F372-B84A-4DEA-BBA6-74B4F60C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19%/2%；RPS 8 时高 49%。</a:t>
            </a:r>
          </a:p>
        </p:txBody>
      </p:sp>
      <p:sp>
        <p:nvSpPr>
          <p:cNvPr id="19" name="settings-18">
            <a:extLst xmlns:a="http://schemas.openxmlformats.org/drawingml/2006/main">
              <a:ext uri="{FF2B5EF4-FFF2-40B4-BE49-F238E27FC236}">
                <a16:creationId xmlns:a16="http://schemas.microsoft.com/office/drawing/2014/main" id="{C13A926B-A658-4247-8B9F-AB5A8E33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MBT=8K、重复实验均值；表内单位：秒，红色粗体为同 RPS/分位点最优</a:t>
            </a:r>
          </a:p>
        </p:txBody>
      </p:sp>
      <p:sp>
        <p:nvSpPr>
          <p:cNvPr id="20" name="source-18">
            <a:extLst xmlns:a="http://schemas.openxmlformats.org/drawingml/2006/main">
              <a:ext uri="{FF2B5EF4-FFF2-40B4-BE49-F238E27FC236}">
                <a16:creationId xmlns:a16="http://schemas.microsoft.com/office/drawing/2014/main" id="{625E4FDC-62AB-4EC1-A7DD-0FBFB924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8">
            <a:extLst xmlns:a="http://schemas.openxmlformats.org/drawingml/2006/main">
              <a:ext uri="{FF2B5EF4-FFF2-40B4-BE49-F238E27FC236}">
                <a16:creationId xmlns:a16="http://schemas.microsoft.com/office/drawing/2014/main" id="{B8B4653B-D98D-4AFF-B9FE-C66792AA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90288123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9">
            <a:extLst xmlns:a="http://schemas.openxmlformats.org/drawingml/2006/main">
              <a:ext uri="{FF2B5EF4-FFF2-40B4-BE49-F238E27FC236}">
                <a16:creationId xmlns:a16="http://schemas.microsoft.com/office/drawing/2014/main" id="{E69D4F3A-EEA3-463F-92AA-80B87326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7219CEE5-4D23-4BAA-B2ED-5C410346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DP6TP4 与双 EP16 + Router：TTFT 分位对比（对照 MBT 16K）</a:t>
            </a:r>
          </a:p>
        </p:txBody>
      </p:sp>
      <p:sp>
        <p:nvSpPr>
          <p:cNvPr id="3" name="title-rule-19">
            <a:extLst xmlns:a="http://schemas.openxmlformats.org/drawingml/2006/main">
              <a:ext uri="{FF2B5EF4-FFF2-40B4-BE49-F238E27FC236}">
                <a16:creationId xmlns:a16="http://schemas.microsoft.com/office/drawing/2014/main" id="{F8AA21BB-14DC-4860-A664-95B41D17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4" name="metadata-bg-19">
            <a:extLst xmlns:a="http://schemas.openxmlformats.org/drawingml/2006/main">
              <a:ext uri="{FF2B5EF4-FFF2-40B4-BE49-F238E27FC236}">
                <a16:creationId xmlns:a16="http://schemas.microsoft.com/office/drawing/2014/main" id="{F0BA56CF-F66C-4D89-B3D2-23841D88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model-19">
            <a:extLst xmlns:a="http://schemas.openxmlformats.org/drawingml/2006/main">
              <a:ext uri="{FF2B5EF4-FFF2-40B4-BE49-F238E27FC236}">
                <a16:creationId xmlns:a16="http://schemas.microsoft.com/office/drawing/2014/main" id="{9C42A91C-CE1C-48D1-B0A3-89BCA0BB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953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34CA5"/>
                </a:solidFill>
                <a:latin typeface="微软雅黑"/>
                <a:ea typeface="微软雅黑"/>
                <a:cs typeface="微软雅黑"/>
              </a:rPr>
              <a:t>模型：dsv4-flash</a:t>
            </a:r>
          </a:p>
        </p:txBody>
      </p:sp>
      <p:sp>
        <p:nvSpPr>
          <p:cNvPr id="6" name="comparison-19">
            <a:extLst xmlns:a="http://schemas.openxmlformats.org/drawingml/2006/main">
              <a:ext uri="{FF2B5EF4-FFF2-40B4-BE49-F238E27FC236}">
                <a16:creationId xmlns:a16="http://schemas.microsoft.com/office/drawing/2014/main" id="{82E15972-E175-4893-8A0C-3C4F27F7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0953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4F8A10"/>
                </a:solidFill>
                <a:latin typeface="微软雅黑"/>
                <a:ea typeface="微软雅黑"/>
                <a:cs typeface="微软雅黑"/>
              </a:rPr>
              <a:t>对比：AFD DP6TP4 + EP8（PR #320） vs. 2×DP4TP4 EP16 + Router</a:t>
            </a:r>
          </a:p>
        </p:txBody>
      </p:sp>
      <p:sp>
        <p:nvSpPr>
          <p:cNvPr id="7" name="hardware-19">
            <a:extLst xmlns:a="http://schemas.openxmlformats.org/drawingml/2006/main">
              <a:ext uri="{FF2B5EF4-FFF2-40B4-BE49-F238E27FC236}">
                <a16:creationId xmlns:a16="http://schemas.microsoft.com/office/drawing/2014/main" id="{67DDBB45-8694-43D2-AFB8-0DAA4F8F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9537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06A00"/>
                </a:solidFill>
                <a:latin typeface="微软雅黑"/>
                <a:ea typeface="微软雅黑"/>
                <a:cs typeface="微软雅黑"/>
              </a:rPr>
              <a:t>硬件：Ascend 910C</a:t>
            </a:r>
          </a:p>
        </p:txBody>
      </p:sp>
      <p:sp>
        <p:nvSpPr>
          <p:cNvPr id="8" name="chart-heading-19">
            <a:extLst xmlns:a="http://schemas.openxmlformats.org/drawingml/2006/main">
              <a:ext uri="{FF2B5EF4-FFF2-40B4-BE49-F238E27FC236}">
                <a16:creationId xmlns:a16="http://schemas.microsoft.com/office/drawing/2014/main" id="{B70E27E8-10C0-42D3-AD61-7DC90EF9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716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不同 RPS 下的 TTFT 分位点（纵轴：秒）</a:t>
            </a:r>
          </a:p>
        </p:txBody>
      </p:sp>
      <p:sp>
        <p:nvSpPr>
          <p:cNvPr id="9" name="table-heading-19">
            <a:extLst xmlns:a="http://schemas.openxmlformats.org/drawingml/2006/main">
              <a:ext uri="{FF2B5EF4-FFF2-40B4-BE49-F238E27FC236}">
                <a16:creationId xmlns:a16="http://schemas.microsoft.com/office/drawing/2014/main" id="{6076A876-53C6-45C5-A297-F29C1004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66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TTFT 明细（秒）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27ca2ebd384ed0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3019425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650a83a72042e1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5429250" y="1724025"/>
          <a:ext xmlns:a="http://schemas.openxmlformats.org/drawingml/2006/main" cx="2238375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57f48aad254edf"/>
          </a:graphicData>
        </a:graphic>
      </p:graphicFrame>
      <p:graphicFrame>
        <p:nvGraphicFramePr>
          <p:cNvPr id="41" name="Chart"/>
          <p:cNvGraphicFramePr/>
          <p:nvPr/>
        </p:nvGraphicFramePr>
        <p:xfrm>
          <a:off xmlns:a="http://schemas.openxmlformats.org/drawingml/2006/main" x="990600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a1aa7a95f5412e"/>
          </a:graphicData>
        </a:graphic>
      </p:graphicFrame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4238625" y="3524250"/>
          <a:ext xmlns:a="http://schemas.openxmlformats.org/drawingml/2006/main" cx="3048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5ccb13000c4d14"/>
          </a:graphicData>
        </a:graphic>
      </p:graphicFrame>
      <p:graphicFrame>
        <p:nvGraphicFramePr>
          <p:cNvPr id="43" name="ttft-table-19"/>
          <p:cNvGraphicFramePr/>
          <p:nvPr/>
        </p:nvGraphicFramePr>
        <p:xfrm>
          <a:off xmlns:a="http://schemas.openxmlformats.org/drawingml/2006/main" x="7772400" y="1724025"/>
          <a:ext xmlns:a="http://schemas.openxmlformats.org/drawingml/2006/main" cx="3810000" cy="419100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"/>
                <a:gridCol w="628650"/>
                <a:gridCol w="1323975"/>
                <a:gridCol w="1323975"/>
              </a:tblGrid>
              <a:tr h="2619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RPS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分位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AFD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对照</a:t>
                      </a:r>
                    </a:p>
                  </a:txBody>
                  <a:tcPr marL="28575" marR="28575" marT="19050" marB="19050" anchor="ctr">
                    <a:solidFill>
                      <a:srgbClr val="E8E8E8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1.24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3.57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1.75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4.06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7.98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5.26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7.13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3.36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5.94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9.99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8.51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11.56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11.27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14.68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P25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8.18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5.90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P50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7.86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P90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17.82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12.65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P95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20.01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14.21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  <a:tr h="261938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/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P99</a:t>
                      </a:r>
                    </a:p>
                  </a:txBody>
                  <a:tcPr marL="28575" marR="28575" marT="19050" marB="19050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24.96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17.25</a:t>
                      </a:r>
                    </a:p>
                  </a:txBody>
                  <a:tcPr marL="28575" marR="28575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conclusion-19">
            <a:extLst xmlns:a="http://schemas.openxmlformats.org/drawingml/2006/main">
              <a:ext uri="{FF2B5EF4-FFF2-40B4-BE49-F238E27FC236}">
                <a16:creationId xmlns:a16="http://schemas.microsoft.com/office/drawing/2014/main" id="{0F3D35BB-BE8D-40C3-8B4B-6C5E5DA3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695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AFD 的 P99 在 RPS 4/6 分别低 42%/23%；RPS 8 时高 45%。</a:t>
            </a:r>
          </a:p>
        </p:txBody>
      </p:sp>
      <p:sp>
        <p:nvSpPr>
          <p:cNvPr id="19" name="settings-19">
            <a:extLst xmlns:a="http://schemas.openxmlformats.org/drawingml/2006/main">
              <a:ext uri="{FF2B5EF4-FFF2-40B4-BE49-F238E27FC236}">
                <a16:creationId xmlns:a16="http://schemas.microsoft.com/office/drawing/2014/main" id="{5F013518-E2FD-41B3-9E11-59317428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测试设置：AFD MBT=64K、PR #320 repeat 1/2/3 均值；对照 MBT=16K、重复实验均值；表内单位：秒，红色粗体为同 RPS/分位点最优</a:t>
            </a:r>
          </a:p>
        </p:txBody>
      </p:sp>
      <p:sp>
        <p:nvSpPr>
          <p:cNvPr id="20" name="source-19">
            <a:extLst xmlns:a="http://schemas.openxmlformats.org/drawingml/2006/main">
              <a:ext uri="{FF2B5EF4-FFF2-40B4-BE49-F238E27FC236}">
                <a16:creationId xmlns:a16="http://schemas.microsoft.com/office/drawing/2014/main" id="{D9756635-4A74-4D55-B5ED-FCD0DE3C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723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defRPr>
            </a:pPr>
            <a:r>
              <a:rPr sz="600" b="0">
                <a:solidFill>
                  <a:srgbClr val="898989"/>
                </a:solidFill>
                <a:latin typeface="微软雅黑"/>
                <a:ea typeface="微软雅黑"/>
                <a:cs typeface="微软雅黑"/>
              </a:rPr>
              <a:t>来源：dsv4-flash 最新实验结果（2026-09-08）</a:t>
            </a:r>
          </a:p>
        </p:txBody>
      </p:sp>
      <p:sp>
        <p:nvSpPr>
          <p:cNvPr id="21" name="page-19">
            <a:extLst xmlns:a="http://schemas.openxmlformats.org/drawingml/2006/main">
              <a:ext uri="{FF2B5EF4-FFF2-40B4-BE49-F238E27FC236}">
                <a16:creationId xmlns:a16="http://schemas.microsoft.com/office/drawing/2014/main" id="{AA533967-E36C-4047-BF90-FF71D02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5320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 b="0">
                <a:solidFill>
                  <a:srgbClr val="898989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6567915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B4ACF-9F9F-4427-8BB5-2621DCBA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A0925-B72E-4B35-A72E-5F2F023D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5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TP2 / EP8：MBT 64K 下的 DP 扩展吞吐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061a1f8e049ee"/>
          <a:stretch xmlns:a="http://schemas.openxmlformats.org/drawingml/2006/main"/>
        </p:blipFill>
        <p:spPr>
          <a:xfrm xmlns:a="http://schemas.openxmlformats.org/drawingml/2006/main">
            <a:off x="514350" y="1095375"/>
            <a:ext cx="8286750" cy="5524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7C65E-856C-4096-B6F5-1D2A28FB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524000"/>
            <a:ext cx="255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DP10 至 DP12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18E68-0A95-4283-8880-4AE3E9CF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9072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8.79 → 8.91 req/s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A72CA-1563-4070-AB29-480DAFE5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8602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最高实测吞吐增加 1.4%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8F2E9-A2B4-4F86-B53B-7997EA5E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238500"/>
            <a:ext cx="255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统计口径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88B358-D013-4A3E-A63E-84761398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57600"/>
            <a:ext cx="2552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各负载档位先取重复均值，再选最高值。</a:t>
            </a:r>
          </a:p>
          <a:p xmlns:a="http://schemas.openxmlformats.org/drawingml/2006/main"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DP4：历史 3 轮</a:t>
            </a:r>
          </a:p>
          <a:p xmlns:a="http://schemas.openxmlformats.org/drawingml/2006/main">
            <a:pPr>
              <a:def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DP6–12：本次 2 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0B9A9-A4FD-447C-9063-C59DD1FA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57775"/>
            <a:ext cx="2552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DP10、DP12 最高仅测到目标 10 RPS，绝对容量上限尚未确认。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175E2-5759-4BB9-B6E8-F7F02786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62725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5650241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242CE-CFEE-4CEE-A499-E7E61F90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86550-3BA2-470E-BCB4-6D9FBC60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5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4K）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55600-B011-4FDD-9F09-F68BAA03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047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346F5D-3BEF-4E00-B221-174160F8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76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3D281-4F45-4982-8C2D-DAF8FBEF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76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4K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846CC-F051-407A-803C-0FABE139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4K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0075" y="1933575"/>
          <a:ext xmlns:a="http://schemas.openxmlformats.org/drawingml/2006/main" cx="531495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a0c585251846cd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267450" y="1933575"/>
          <a:ext xmlns:a="http://schemas.openxmlformats.org/drawingml/2006/main" cx="531495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cef07eb8244e7e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EF8BC-C0FE-4305-8EAE-B8F597CA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959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9.2%，EP16 DP8TP2 94.7%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FCB71-B4BC-4882-A994-CB2BFA44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816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1B549B-092A-48A2-8760-C8E98879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38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8EAAF-7609-421E-B431-C30E6477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2865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MBT=4K。沿用原第 17 页批次及节点，属于跨配置比较。仅 TTFT SLO，不含 TPOT。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F83A1-8EF3-491B-BE4A-3645FC2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62725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41536998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EF22A-1EDA-4DEC-AB5B-1432788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0F0AC-6120-4CA4-9AA2-62FC586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5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8K）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038810-6B8C-45C5-9C9C-A781F5A5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047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ACCF8-687D-46DD-835E-2FEEC89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76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A9E2E-7DE6-42AF-BC4B-FE16C170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76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8K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9FFA55-35F1-47EC-92A8-201348B2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8K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0075" y="1933575"/>
          <a:ext xmlns:a="http://schemas.openxmlformats.org/drawingml/2006/main" cx="531495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00d2b15c5c467d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267450" y="1933575"/>
          <a:ext xmlns:a="http://schemas.openxmlformats.org/drawingml/2006/main" cx="531495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f1cb9a6980482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1A69C-9603-4BEC-B16E-2F93ADE3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959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62.5%，EP16 DP8TP2 89.6%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9A398-69BF-47EA-91A2-F4BFA2DD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816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B93DA9-BCD1-4CC5-84E0-56BAB514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38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2683C-F128-47B6-9C1E-F2BAE606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2865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MBT=8K。沿用原第 18 页批次及节点，属于跨配置比较。仅 TTFT SLO，不含 TPOT。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052F3-8D3C-49D6-9BB6-43C5C8BD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62725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32182258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12B58-3A4D-4AC8-867A-7ADDF347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ASYNC PREFILL SLO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71E64-4812-4805-BE15-61477A34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5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AFD DP4TP2 与 EP16：TTFT SLO 达标率（对照 16K）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CADED9-E174-4771-9B08-3F95EBAF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0477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模型：dsv4-flash    单机 16 NPU die    TTFT 基准门槛：10 秒    达标率目标：90%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AAB8D-D72E-4391-AD86-BC4A5447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76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0A0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A000"/>
                </a:solidFill>
                <a:latin typeface="Calibri"/>
                <a:ea typeface="Calibri"/>
                <a:cs typeface="Calibri"/>
              </a:rPr>
              <a:t>AFD DP4TP2 64K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9847A-F1AB-480D-8B12-5799C5E3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76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48235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548235"/>
                </a:solidFill>
                <a:latin typeface="Calibri"/>
                <a:ea typeface="Calibri"/>
                <a:cs typeface="Calibri"/>
              </a:rPr>
              <a:t>EP16 DP4TP4 16K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446AB-6EF4-4D00-9CE1-ECA86E05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763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472C4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4472C4"/>
                </a:solidFill>
                <a:latin typeface="Calibri"/>
                <a:ea typeface="Calibri"/>
                <a:cs typeface="Calibri"/>
              </a:rPr>
              <a:t>EP16 DP8TP2 16K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600075" y="1933575"/>
          <a:ext xmlns:a="http://schemas.openxmlformats.org/drawingml/2006/main" cx="531495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d7e61d844a48dc"/>
          </a:graphicData>
        </a:graphic>
      </p:graphicFrame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267450" y="1933575"/>
          <a:ext xmlns:a="http://schemas.openxmlformats.org/drawingml/2006/main" cx="5314950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a318aed28b430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9B5C6-27D5-4063-B286-0106A3FA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9590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RPS=4、TTFT≤10s：AFD 63.0%，EP16 DP4TP4 66.3%，EP16 DP8TP2 59.6%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25213-9C05-4405-AF94-87D30E2B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81675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达标率＝成功且 TTFT≤门槛的请求数 / 1536。每轮计算后取三轮均值，失败请求计未达标。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F712F-D4FB-49EB-B48C-BE349B6F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0388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6666"/>
                </a:solidFill>
                <a:latin typeface="微软雅黑"/>
                <a:ea typeface="微软雅黑"/>
                <a:cs typeface="微软雅黑"/>
              </a:rPr>
              <a:t>左图对应总 RPS 2 / 3 / 4，折线仅连接已测点。右图为同批逐请求数据的门槛扫描，Scale 越小越严格。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F4EAE-677A-479F-8481-9086E0B3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286500"/>
            <a:ext cx="10858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777777"/>
                </a:solidFill>
                <a:latin typeface="微软雅黑"/>
                <a:ea typeface="微软雅黑"/>
                <a:cs typeface="微软雅黑"/>
              </a:rPr>
              <a:t>AFD MBT=64K，EP16 MBT=16K。沿用原第 19 页批次及节点，属于跨配置比较。仅 TTFT SLO，不含 TPOT。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7B5C8-2CAF-4368-94D9-87945E36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6562725"/>
            <a:ext cx="333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675" b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38211025"/>
      </p:ext>
    </p:extLst>
  </p:cSld>
</p:sld>
</file>

<file path=ppt/theme/dp64k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slo_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2026-09-10T04:29:31.3680000Z</dcterms:created>
  <dcterms:modified xsi:type="dcterms:W3CDTF">2026-09-10T04:29:31.3680000Z</dcterms:modified>
</coreProperties>
</file>