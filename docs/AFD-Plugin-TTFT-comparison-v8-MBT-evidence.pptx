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8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notesSlides/notesSlide19.xml" ContentType="application/vnd.openxmlformats-officedocument.presentationml.notes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20.xml" ContentType="application/vnd.openxmlformats-officedocument.presentationml.notesSlide+xml"/>
  <Override PartName="/ppt/charts/chart17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18.xml" ContentType="application/vnd.openxmlformats-officedocument.drawingml.chart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notesSlides/notesSlide26.xml" ContentType="application/vnd.openxmlformats-officedocument.presentationml.notes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notesSlides/notesSlide27.xml" ContentType="application/vnd.openxmlformats-officedocument.presentationml.notes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</p:sldMasterIdLst>
  <p:notesMasterIdLst>
    <p:notesMasterId r:id="rId3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84" r:id="rId19"/>
    <p:sldId id="285" r:id="rId20"/>
    <p:sldId id="286" r:id="rId21"/>
    <p:sldId id="278" r:id="rId22"/>
    <p:sldId id="279" r:id="rId23"/>
    <p:sldId id="281" r:id="rId24"/>
    <p:sldId id="282" r:id="rId25"/>
    <p:sldId id="283" r:id="rId26"/>
    <p:sldId id="272" r:id="rId27"/>
    <p:sldId id="273" r:id="rId28"/>
    <p:sldId id="274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52"/>
    <p:restoredTop sz="94672"/>
  </p:normalViewPr>
  <p:slideViewPr>
    <p:cSldViewPr snapToGrid="0">
      <p:cViewPr varScale="1">
        <p:scale>
          <a:sx n="99" d="100"/>
          <a:sy n="99" d="100"/>
        </p:scale>
        <p:origin x="3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6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3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请求占比</c:v>
          </c:tx>
          <c:spPr>
            <a:solidFill>
              <a:srgbClr val="4472C4"/>
            </a:solidFill>
            <a:ln w="9525">
              <a:solidFill>
                <a:srgbClr val="4472C4"/>
              </a:solidFill>
              <a:prstDash val="solid"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4472C4"/>
              </a:solidFill>
            </c:spPr>
            <c:extLst>
              <c:ext xmlns:c16="http://schemas.microsoft.com/office/drawing/2014/chart" uri="{C3380CC4-5D6E-409C-BE32-E72D297353CC}">
                <c16:uniqueId val="{00000001-F2BC-AC49-8867-A1AB98496A06}"/>
              </c:ext>
            </c:extLst>
          </c:dPt>
          <c:dPt>
            <c:idx val="1"/>
            <c:invertIfNegative val="0"/>
            <c:bubble3D val="0"/>
            <c:spPr>
              <a:solidFill>
                <a:srgbClr val="4472C4"/>
              </a:solidFill>
            </c:spPr>
            <c:extLst>
              <c:ext xmlns:c16="http://schemas.microsoft.com/office/drawing/2014/chart" uri="{C3380CC4-5D6E-409C-BE32-E72D297353CC}">
                <c16:uniqueId val="{00000003-F2BC-AC49-8867-A1AB98496A06}"/>
              </c:ext>
            </c:extLst>
          </c:dPt>
          <c:dPt>
            <c:idx val="2"/>
            <c:invertIfNegative val="0"/>
            <c:bubble3D val="0"/>
            <c:spPr>
              <a:solidFill>
                <a:srgbClr val="4472C4"/>
              </a:solidFill>
            </c:spPr>
            <c:extLst>
              <c:ext xmlns:c16="http://schemas.microsoft.com/office/drawing/2014/chart" uri="{C3380CC4-5D6E-409C-BE32-E72D297353CC}">
                <c16:uniqueId val="{00000005-F2BC-AC49-8867-A1AB98496A06}"/>
              </c:ext>
            </c:extLst>
          </c:dPt>
          <c:dPt>
            <c:idx val="3"/>
            <c:invertIfNegative val="0"/>
            <c:bubble3D val="0"/>
            <c:spPr>
              <a:solidFill>
                <a:srgbClr val="F2A900"/>
              </a:solidFill>
            </c:spPr>
            <c:extLst>
              <c:ext xmlns:c16="http://schemas.microsoft.com/office/drawing/2014/chart" uri="{C3380CC4-5D6E-409C-BE32-E72D297353CC}">
                <c16:uniqueId val="{00000007-F2BC-AC49-8867-A1AB98496A06}"/>
              </c:ext>
            </c:extLst>
          </c:dPt>
          <c:dPt>
            <c:idx val="4"/>
            <c:invertIfNegative val="0"/>
            <c:bubble3D val="0"/>
            <c:spPr>
              <a:solidFill>
                <a:srgbClr val="F2A900"/>
              </a:solidFill>
            </c:spPr>
            <c:extLst>
              <c:ext xmlns:c16="http://schemas.microsoft.com/office/drawing/2014/chart" uri="{C3380CC4-5D6E-409C-BE32-E72D297353CC}">
                <c16:uniqueId val="{00000009-F2BC-AC49-8867-A1AB98496A06}"/>
              </c:ext>
            </c:extLst>
          </c:dPt>
          <c:dPt>
            <c:idx val="5"/>
            <c:invertIfNegative val="0"/>
            <c:bubble3D val="0"/>
            <c:spPr>
              <a:solidFill>
                <a:srgbClr val="F2A900"/>
              </a:solidFill>
            </c:spPr>
            <c:extLst>
              <c:ext xmlns:c16="http://schemas.microsoft.com/office/drawing/2014/chart" uri="{C3380CC4-5D6E-409C-BE32-E72D297353CC}">
                <c16:uniqueId val="{0000000B-F2BC-AC49-8867-A1AB98496A0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 b="1">
                    <a:solidFill>
                      <a:srgbClr val="222222"/>
                    </a:solidFill>
                    <a:latin typeface="Calibri"/>
                    <a:ea typeface="Calibri"/>
                    <a:cs typeface="Calibr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Data'!$A$2:$A$7</c:f>
              <c:strCache>
                <c:ptCount val="6"/>
                <c:pt idx="0">
                  <c:v>1–1K</c:v>
                </c:pt>
                <c:pt idx="1">
                  <c:v>1K–4K</c:v>
                </c:pt>
                <c:pt idx="2">
                  <c:v>4K–8K</c:v>
                </c:pt>
                <c:pt idx="3">
                  <c:v>8K–16K</c:v>
                </c:pt>
                <c:pt idx="4">
                  <c:v>16K–32K</c:v>
                </c:pt>
                <c:pt idx="5">
                  <c:v>32K–64K</c:v>
                </c:pt>
              </c:strCache>
            </c:strRef>
          </c:cat>
          <c:val>
            <c:numRef>
              <c:f>'Chart Data'!$B$2:$B$7</c:f>
              <c:numCache>
                <c:formatCode>0"%"</c:formatCode>
                <c:ptCount val="6"/>
                <c:pt idx="0">
                  <c:v>11.7</c:v>
                </c:pt>
                <c:pt idx="1">
                  <c:v>23.1</c:v>
                </c:pt>
                <c:pt idx="2">
                  <c:v>22.3</c:v>
                </c:pt>
                <c:pt idx="3">
                  <c:v>22.7</c:v>
                </c:pt>
                <c:pt idx="4">
                  <c:v>15.5</c:v>
                </c:pt>
                <c:pt idx="5">
                  <c:v>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4472C4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C-F2BC-AC49-8867-A1AB98496A0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&quot;%&quot;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5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P25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0.65</c:v>
                </c:pt>
                <c:pt idx="1">
                  <c:v>1.024</c:v>
                </c:pt>
                <c:pt idx="2">
                  <c:v>4.8099999999999996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C5E-BD4C-9279-684D9A0B7ECD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1.111</c:v>
                </c:pt>
                <c:pt idx="1">
                  <c:v>1.8380000000000001</c:v>
                </c:pt>
                <c:pt idx="2">
                  <c:v>22.172000000000001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5E-BD4C-9279-684D9A0B7ECD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1.23</c:v>
                </c:pt>
                <c:pt idx="1">
                  <c:v>1.5960000000000001</c:v>
                </c:pt>
                <c:pt idx="2">
                  <c:v>2.1680000000000001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C5E-BD4C-9279-684D9A0B7E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P50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1.107</c:v>
                </c:pt>
                <c:pt idx="1">
                  <c:v>1.9710000000000001</c:v>
                </c:pt>
                <c:pt idx="2">
                  <c:v>8.407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601-AD45-8B27-B671A8804086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1.8160000000000001</c:v>
                </c:pt>
                <c:pt idx="1">
                  <c:v>3.1869999999999998</c:v>
                </c:pt>
                <c:pt idx="2">
                  <c:v>30.074000000000002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601-AD45-8B27-B671A8804086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1.9750000000000001</c:v>
                </c:pt>
                <c:pt idx="1">
                  <c:v>2.532</c:v>
                </c:pt>
                <c:pt idx="2">
                  <c:v>3.4889999999999999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601-AD45-8B27-B671A8804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P90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3.4380000000000002</c:v>
                </c:pt>
                <c:pt idx="1">
                  <c:v>6.5839999999999996</c:v>
                </c:pt>
                <c:pt idx="2">
                  <c:v>14.76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00-9A44-8405-6D34480328BD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4.633</c:v>
                </c:pt>
                <c:pt idx="1">
                  <c:v>7.6159999999999997</c:v>
                </c:pt>
                <c:pt idx="2">
                  <c:v>47.337000000000003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D00-9A44-8405-6D34480328BD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5.125</c:v>
                </c:pt>
                <c:pt idx="1">
                  <c:v>6.2149999999999999</c:v>
                </c:pt>
                <c:pt idx="2">
                  <c:v>8.1440000000000001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D00-9A44-8405-6D34480328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P95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4.798</c:v>
                </c:pt>
                <c:pt idx="1">
                  <c:v>8.42</c:v>
                </c:pt>
                <c:pt idx="2">
                  <c:v>16.803999999999998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12C-1648-B139-F2F75C8476D9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6.0090000000000003</c:v>
                </c:pt>
                <c:pt idx="1">
                  <c:v>9.1969999999999992</c:v>
                </c:pt>
                <c:pt idx="2">
                  <c:v>51.255000000000003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12C-1648-B139-F2F75C8476D9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6.484</c:v>
                </c:pt>
                <c:pt idx="1">
                  <c:v>8.0239999999999991</c:v>
                </c:pt>
                <c:pt idx="2">
                  <c:v>10.185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12C-1648-B139-F2F75C8476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P99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6.9770000000000003</c:v>
                </c:pt>
                <c:pt idx="1">
                  <c:v>11.06</c:v>
                </c:pt>
                <c:pt idx="2">
                  <c:v>20.285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BDB-9E4B-B0FD-08CCE4FA2949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8.3019999999999996</c:v>
                </c:pt>
                <c:pt idx="1">
                  <c:v>12.909000000000001</c:v>
                </c:pt>
                <c:pt idx="2">
                  <c:v>56.95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BDB-9E4B-B0FD-08CCE4FA2949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10.238</c:v>
                </c:pt>
                <c:pt idx="1">
                  <c:v>11.163</c:v>
                </c:pt>
                <c:pt idx="2">
                  <c:v>12.986000000000001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BDB-9E4B-B0FD-08CCE4FA29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P25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0.65</c:v>
                </c:pt>
                <c:pt idx="1">
                  <c:v>1.024</c:v>
                </c:pt>
                <c:pt idx="2">
                  <c:v>4.8099999999999996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AF-E74F-956E-A57DE1525A8F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1.7909999999999999</c:v>
                </c:pt>
                <c:pt idx="1">
                  <c:v>2.5779999999999998</c:v>
                </c:pt>
                <c:pt idx="2">
                  <c:v>5.96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AF-E74F-956E-A57DE1525A8F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2.294</c:v>
                </c:pt>
                <c:pt idx="1">
                  <c:v>3.117</c:v>
                </c:pt>
                <c:pt idx="2">
                  <c:v>3.734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AF-E74F-956E-A57DE1525A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P50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1.107</c:v>
                </c:pt>
                <c:pt idx="1">
                  <c:v>1.9710000000000001</c:v>
                </c:pt>
                <c:pt idx="2">
                  <c:v>8.407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54A-0149-B168-7C3C4556B085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2.5720000000000001</c:v>
                </c:pt>
                <c:pt idx="1">
                  <c:v>3.653</c:v>
                </c:pt>
                <c:pt idx="2">
                  <c:v>8.6240000000000006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54A-0149-B168-7C3C4556B085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3.2530000000000001</c:v>
                </c:pt>
                <c:pt idx="1">
                  <c:v>4.2080000000000002</c:v>
                </c:pt>
                <c:pt idx="2">
                  <c:v>5.1520000000000001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54A-0149-B168-7C3C4556B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P90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3.4380000000000002</c:v>
                </c:pt>
                <c:pt idx="1">
                  <c:v>6.5839999999999996</c:v>
                </c:pt>
                <c:pt idx="2">
                  <c:v>14.76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46B-5F4E-B589-E0EA556CD0E4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5.2939999999999996</c:v>
                </c:pt>
                <c:pt idx="1">
                  <c:v>7.2489999999999997</c:v>
                </c:pt>
                <c:pt idx="2">
                  <c:v>15.063000000000001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46B-5F4E-B589-E0EA556CD0E4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6.6639999999999997</c:v>
                </c:pt>
                <c:pt idx="1">
                  <c:v>8.3539999999999992</c:v>
                </c:pt>
                <c:pt idx="2">
                  <c:v>10.119999999999999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46B-5F4E-B589-E0EA556CD0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P95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4.798</c:v>
                </c:pt>
                <c:pt idx="1">
                  <c:v>8.42</c:v>
                </c:pt>
                <c:pt idx="2">
                  <c:v>16.803999999999998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F7-2748-B1B2-EF5238C3F2F9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6.6219999999999999</c:v>
                </c:pt>
                <c:pt idx="1">
                  <c:v>8.5779999999999994</c:v>
                </c:pt>
                <c:pt idx="2">
                  <c:v>16.847000000000001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CF7-2748-B1B2-EF5238C3F2F9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8.2509999999999994</c:v>
                </c:pt>
                <c:pt idx="1">
                  <c:v>10.071999999999999</c:v>
                </c:pt>
                <c:pt idx="2">
                  <c:v>12.025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CF7-2748-B1B2-EF5238C3F2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P99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6.9770000000000003</c:v>
                </c:pt>
                <c:pt idx="1">
                  <c:v>11.06</c:v>
                </c:pt>
                <c:pt idx="2">
                  <c:v>20.285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118-6F42-98DE-01FF6D9B09A8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8.8919999999999995</c:v>
                </c:pt>
                <c:pt idx="1">
                  <c:v>11.058</c:v>
                </c:pt>
                <c:pt idx="2">
                  <c:v>20.385999999999999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118-6F42-98DE-01FF6D9B09A8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11.976000000000001</c:v>
                </c:pt>
                <c:pt idx="1">
                  <c:v>13.45</c:v>
                </c:pt>
                <c:pt idx="2">
                  <c:v>15.901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118-6F42-98DE-01FF6D9B09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P25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0.65</c:v>
                </c:pt>
                <c:pt idx="1">
                  <c:v>1.024</c:v>
                </c:pt>
                <c:pt idx="2">
                  <c:v>4.8099999999999996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AE-4A40-B914-0E5D2DD86C40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3.552</c:v>
                </c:pt>
                <c:pt idx="1">
                  <c:v>4.6890000000000001</c:v>
                </c:pt>
                <c:pt idx="2">
                  <c:v>6.0890000000000004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AE-4A40-B914-0E5D2DD86C40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5.4260000000000002</c:v>
                </c:pt>
                <c:pt idx="1">
                  <c:v>7.3460000000000001</c:v>
                </c:pt>
                <c:pt idx="2">
                  <c:v>7.4820000000000002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0AE-4A40-B914-0E5D2DD86C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P50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1.107</c:v>
                </c:pt>
                <c:pt idx="1">
                  <c:v>1.9710000000000001</c:v>
                </c:pt>
                <c:pt idx="2">
                  <c:v>8.407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141-4443-8124-A6D637969008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4.6890000000000001</c:v>
                </c:pt>
                <c:pt idx="1">
                  <c:v>5.8230000000000004</c:v>
                </c:pt>
                <c:pt idx="2">
                  <c:v>8.4019999999999992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141-4443-8124-A6D637969008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7.0620000000000003</c:v>
                </c:pt>
                <c:pt idx="1">
                  <c:v>8.8740000000000006</c:v>
                </c:pt>
                <c:pt idx="2">
                  <c:v>9.2110000000000003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141-4443-8124-A6D6379690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P90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3.4380000000000002</c:v>
                </c:pt>
                <c:pt idx="1">
                  <c:v>6.5839999999999996</c:v>
                </c:pt>
                <c:pt idx="2">
                  <c:v>14.76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9-EC42-BAC2-C1A61B38D6E1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7.84</c:v>
                </c:pt>
                <c:pt idx="1">
                  <c:v>9.5990000000000002</c:v>
                </c:pt>
                <c:pt idx="2">
                  <c:v>13.611000000000001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9-EC42-BAC2-C1A61B38D6E1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11.337999999999999</c:v>
                </c:pt>
                <c:pt idx="1">
                  <c:v>14.125</c:v>
                </c:pt>
                <c:pt idx="2">
                  <c:v>14.688000000000001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9-EC42-BAC2-C1A61B38D6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P95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4.798</c:v>
                </c:pt>
                <c:pt idx="1">
                  <c:v>8.42</c:v>
                </c:pt>
                <c:pt idx="2">
                  <c:v>16.803999999999998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BD-654F-85E0-DF47B80B4243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9.1620000000000008</c:v>
                </c:pt>
                <c:pt idx="1">
                  <c:v>11.048</c:v>
                </c:pt>
                <c:pt idx="2">
                  <c:v>15.119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BD-654F-85E0-DF47B80B4243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13.313000000000001</c:v>
                </c:pt>
                <c:pt idx="1">
                  <c:v>16.088000000000001</c:v>
                </c:pt>
                <c:pt idx="2">
                  <c:v>16.658999999999999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BD-654F-85E0-DF47B80B42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275" b="1">
                <a:latin typeface="微软雅黑"/>
                <a:ea typeface="微软雅黑"/>
                <a:cs typeface="微软雅黑"/>
              </a:rPr>
              <a:t>P99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6.9770000000000003</c:v>
                </c:pt>
                <c:pt idx="1">
                  <c:v>11.06</c:v>
                </c:pt>
                <c:pt idx="2">
                  <c:v>20.285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39-7B43-879C-58565FB8A127}"/>
            </c:ext>
          </c:extLst>
        </c:ser>
        <c:ser>
          <c:idx val="1"/>
          <c:order val="1"/>
          <c:tx>
            <c:v>DP4TP4</c:v>
          </c:tx>
          <c:spPr>
            <a:ln w="19050">
              <a:solidFill>
                <a:srgbClr val="548235"/>
              </a:solidFill>
            </a:ln>
          </c:spPr>
          <c:marker>
            <c:symbol val="circle"/>
            <c:size val="5"/>
            <c:spPr>
              <a:solidFill>
                <a:srgbClr val="548235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12.012</c:v>
                </c:pt>
                <c:pt idx="1">
                  <c:v>14.082000000000001</c:v>
                </c:pt>
                <c:pt idx="2">
                  <c:v>18.245999999999999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F39-7B43-879C-58565FB8A127}"/>
            </c:ext>
          </c:extLst>
        </c:ser>
        <c:ser>
          <c:idx val="2"/>
          <c:order val="2"/>
          <c:tx>
            <c:v>DP8TP2</c:v>
          </c:tx>
          <c:spPr>
            <a:ln w="19050">
              <a:solidFill>
                <a:srgbClr val="4472C4"/>
              </a:solidFill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3</c:v>
                </c:pt>
                <c:pt idx="2">
                  <c:v>4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16.565000000000001</c:v>
                </c:pt>
                <c:pt idx="1">
                  <c:v>19.753</c:v>
                </c:pt>
                <c:pt idx="2">
                  <c:v>20.542000000000002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F39-7B43-879C-58565FB8A1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CCCCCC"/>
            </a:solidFill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4763">
            <a:solidFill>
              <a:srgbClr val="CCCCCC"/>
            </a:solidFill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8K</c:v>
          </c:tx>
          <c:spPr>
            <a:ln w="19050">
              <a:solidFill>
                <a:srgbClr val="C00000"/>
              </a:solidFill>
            </a:ln>
          </c:spPr>
          <c:marker>
            <c:symbol val="circle"/>
            <c:size val="5"/>
            <c:spPr>
              <a:solidFill>
                <a:srgbClr val="C00000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RPS 2</c:v>
                </c:pt>
                <c:pt idx="1">
                  <c:v>RPS 3</c:v>
                </c:pt>
                <c:pt idx="2">
                  <c:v>RPS 4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1.9744409999999999</c:v>
                </c:pt>
                <c:pt idx="1">
                  <c:v>4.0049520000000003</c:v>
                </c:pt>
                <c:pt idx="2">
                  <c:v>32.115772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14D-A442-8F0B-4F65C2330A5E}"/>
            </c:ext>
          </c:extLst>
        </c:ser>
        <c:ser>
          <c:idx val="1"/>
          <c:order val="1"/>
          <c:tx>
            <c:v>16K</c:v>
          </c:tx>
          <c:spPr>
            <a:ln w="19050">
              <a:solidFill>
                <a:srgbClr val="2B50A4"/>
              </a:solidFill>
            </a:ln>
          </c:spPr>
          <c:marker>
            <c:symbol val="circle"/>
            <c:size val="5"/>
            <c:spPr>
              <a:solidFill>
                <a:srgbClr val="2B50A4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RPS 2</c:v>
                </c:pt>
                <c:pt idx="1">
                  <c:v>RPS 3</c:v>
                </c:pt>
                <c:pt idx="2">
                  <c:v>RPS 4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1.535552</c:v>
                </c:pt>
                <c:pt idx="1">
                  <c:v>2.6281729999999999</c:v>
                </c:pt>
                <c:pt idx="2">
                  <c:v>10.155533999999999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14D-A442-8F0B-4F65C2330A5E}"/>
            </c:ext>
          </c:extLst>
        </c:ser>
        <c:ser>
          <c:idx val="2"/>
          <c:order val="2"/>
          <c:tx>
            <c:v>32K</c:v>
          </c:tx>
          <c:spPr>
            <a:ln w="19050">
              <a:solidFill>
                <a:srgbClr val="548A00"/>
              </a:solidFill>
            </a:ln>
          </c:spPr>
          <c:marker>
            <c:symbol val="circle"/>
            <c:size val="5"/>
            <c:spPr>
              <a:solidFill>
                <a:srgbClr val="548A00"/>
              </a:solidFill>
            </c:spPr>
          </c:marker>
          <c:cat>
            <c:strRef>
              <c:f>'Chart Data'!$E$2:$E$4</c:f>
              <c:strCache>
                <c:ptCount val="3"/>
                <c:pt idx="0">
                  <c:v>RPS 2</c:v>
                </c:pt>
                <c:pt idx="1">
                  <c:v>RPS 3</c:v>
                </c:pt>
                <c:pt idx="2">
                  <c:v>RPS 4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1.671063</c:v>
                </c:pt>
                <c:pt idx="1">
                  <c:v>2.7673899999999998</c:v>
                </c:pt>
                <c:pt idx="2">
                  <c:v>7.5423999999999998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14D-A442-8F0B-4F65C2330A5E}"/>
            </c:ext>
          </c:extLst>
        </c:ser>
        <c:ser>
          <c:idx val="3"/>
          <c:order val="3"/>
          <c:tx>
            <c:v>64K</c:v>
          </c:tx>
          <c:spPr>
            <a:ln w="19050">
              <a:solidFill>
                <a:srgbClr val="F2A300"/>
              </a:solidFill>
            </a:ln>
          </c:spPr>
          <c:marker>
            <c:symbol val="circle"/>
            <c:size val="5"/>
            <c:spPr>
              <a:solidFill>
                <a:srgbClr val="F2A300"/>
              </a:solidFill>
            </c:spPr>
          </c:marker>
          <c:cat>
            <c:strRef>
              <c:f>'Chart Data'!$G$2:$G$4</c:f>
              <c:strCache>
                <c:ptCount val="3"/>
                <c:pt idx="0">
                  <c:v>RPS 2</c:v>
                </c:pt>
                <c:pt idx="1">
                  <c:v>RPS 3</c:v>
                </c:pt>
                <c:pt idx="2">
                  <c:v>RPS 4</c:v>
                </c:pt>
              </c:strCache>
            </c:strRef>
          </c:cat>
          <c:val>
            <c:numRef>
              <c:f>'Chart Data'!$H$2:$H$4</c:f>
              <c:numCache>
                <c:formatCode>General</c:formatCode>
                <c:ptCount val="3"/>
                <c:pt idx="0">
                  <c:v>1.6205799999999999</c:v>
                </c:pt>
                <c:pt idx="1">
                  <c:v>2.8964970000000001</c:v>
                </c:pt>
                <c:pt idx="2">
                  <c:v>8.5552650000000003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14D-A442-8F0B-4F65C2330A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5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5"/>
      </c:valAx>
    </c:plotArea>
    <c:legend>
      <c:legendPos val="b"/>
      <c:overlay val="0"/>
      <c:txPr>
        <a:bodyPr anchorCtr="1"/>
        <a:lstStyle/>
        <a:p>
          <a:pPr>
            <a:defRPr sz="1050">
              <a:latin typeface="微软雅黑"/>
              <a:ea typeface="微软雅黑"/>
              <a:cs typeface="微软雅黑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RPS 3</c:v>
          </c:tx>
          <c:spPr>
            <a:solidFill>
              <a:srgbClr val="2B50A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50">
                    <a:latin typeface="Calibri"/>
                    <a:ea typeface="Calibri"/>
                    <a:cs typeface="Calibr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平均</c:v>
                </c:pt>
                <c:pt idx="1">
                  <c:v>P50</c:v>
                </c:pt>
                <c:pt idx="2">
                  <c:v>P99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2.8964970000000001</c:v>
                </c:pt>
                <c:pt idx="1">
                  <c:v>1.970793</c:v>
                </c:pt>
                <c:pt idx="2">
                  <c:v>11.059542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C65-0F49-BB89-CDF01E1F4C72}"/>
            </c:ext>
          </c:extLst>
        </c:ser>
        <c:ser>
          <c:idx val="1"/>
          <c:order val="1"/>
          <c:tx>
            <c:v>RPS 4</c:v>
          </c:tx>
          <c:spPr>
            <a:solidFill>
              <a:srgbClr val="F2A300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50">
                    <a:latin typeface="Calibri"/>
                    <a:ea typeface="Calibri"/>
                    <a:cs typeface="Calibr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Data'!$C$2:$C$4</c:f>
              <c:strCache>
                <c:ptCount val="3"/>
                <c:pt idx="0">
                  <c:v>平均</c:v>
                </c:pt>
                <c:pt idx="1">
                  <c:v>P50</c:v>
                </c:pt>
                <c:pt idx="2">
                  <c:v>P99</c:v>
                </c:pt>
              </c:strCache>
            </c:strRef>
          </c:cat>
          <c:val>
            <c:numRef>
              <c:f>'Chart Data'!$D$2:$D$4</c:f>
              <c:numCache>
                <c:formatCode>0.00</c:formatCode>
                <c:ptCount val="3"/>
                <c:pt idx="0">
                  <c:v>8.5552650000000003</c:v>
                </c:pt>
                <c:pt idx="1">
                  <c:v>8.4069199999999995</c:v>
                </c:pt>
                <c:pt idx="2">
                  <c:v>20.284884999999999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C65-0F49-BB89-CDF01E1F4C7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25"/>
          <c:min val="0"/>
        </c:scaling>
        <c:delete val="0"/>
        <c:axPos val="l"/>
        <c:majorGridlines>
          <c:spPr>
            <a:ln w="4763">
              <a:solidFill>
                <a:srgbClr val="DDDDDD"/>
              </a:solidFill>
            </a:ln>
          </c:spPr>
        </c:majorGridlines>
        <c:numFmt formatCode="0.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5"/>
      </c:valAx>
    </c:plotArea>
    <c:legend>
      <c:legendPos val="b"/>
      <c:overlay val="0"/>
      <c:txPr>
        <a:bodyPr anchorCtr="1"/>
        <a:lstStyle/>
        <a:p>
          <a:pPr>
            <a:defRPr sz="1050">
              <a:latin typeface="微软雅黑"/>
              <a:ea typeface="微软雅黑"/>
              <a:cs typeface="微软雅黑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P25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6E19-B54A-BC4C-3BF82A6EF6D5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6E19-B54A-BC4C-3BF82A6EF6D5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6E19-B54A-BC4C-3BF82A6EF6D5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1.236</c:v>
                </c:pt>
                <c:pt idx="1">
                  <c:v>2.2789999999999999</c:v>
                </c:pt>
                <c:pt idx="2">
                  <c:v>8.1760000000000002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6E19-B54A-BC4C-3BF82A6EF6D5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6E19-B54A-BC4C-3BF82A6EF6D5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6E19-B54A-BC4C-3BF82A6EF6D5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6E19-B54A-BC4C-3BF82A6EF6D5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1.093</c:v>
                </c:pt>
                <c:pt idx="1">
                  <c:v>1.792</c:v>
                </c:pt>
                <c:pt idx="2">
                  <c:v>12.122999999999999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6E19-B54A-BC4C-3BF82A6EF6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825">
              <a:solidFill>
                <a:srgbClr val="222222"/>
              </a:solidFill>
              <a:latin typeface="Calibri"/>
              <a:ea typeface="Calibri"/>
              <a:cs typeface="Calibr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P50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528F-7A4C-A16E-CFEFAE985EB4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528F-7A4C-A16E-CFEFAE985EB4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528F-7A4C-A16E-CFEFAE985EB4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1.746</c:v>
                </c:pt>
                <c:pt idx="1">
                  <c:v>3.363</c:v>
                </c:pt>
                <c:pt idx="2">
                  <c:v>10.961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528F-7A4C-A16E-CFEFAE985EB4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528F-7A4C-A16E-CFEFAE985EB4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528F-7A4C-A16E-CFEFAE985EB4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528F-7A4C-A16E-CFEFAE985EB4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1.7529999999999999</c:v>
                </c:pt>
                <c:pt idx="1">
                  <c:v>2.9590000000000001</c:v>
                </c:pt>
                <c:pt idx="2">
                  <c:v>17.853999999999999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528F-7A4C-A16E-CFEFAE985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P90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D542-AB47-8206-3EBA79190549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D542-AB47-8206-3EBA79190549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D542-AB47-8206-3EBA79190549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4.0570000000000004</c:v>
                </c:pt>
                <c:pt idx="1">
                  <c:v>7.1820000000000004</c:v>
                </c:pt>
                <c:pt idx="2">
                  <c:v>17.824000000000002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D542-AB47-8206-3EBA79190549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D542-AB47-8206-3EBA79190549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D542-AB47-8206-3EBA79190549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D542-AB47-8206-3EBA79190549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4.524</c:v>
                </c:pt>
                <c:pt idx="1">
                  <c:v>6.7839999999999998</c:v>
                </c:pt>
                <c:pt idx="2">
                  <c:v>28.606000000000002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D542-AB47-8206-3EBA791905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P95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88F8-9748-A06E-D2A332BD3B8C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88F8-9748-A06E-D2A332BD3B8C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88F8-9748-A06E-D2A332BD3B8C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5.258</c:v>
                </c:pt>
                <c:pt idx="1">
                  <c:v>8.5120000000000005</c:v>
                </c:pt>
                <c:pt idx="2">
                  <c:v>20.010000000000002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88F8-9748-A06E-D2A332BD3B8C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88F8-9748-A06E-D2A332BD3B8C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88F8-9748-A06E-D2A332BD3B8C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88F8-9748-A06E-D2A332BD3B8C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5.7619999999999996</c:v>
                </c:pt>
                <c:pt idx="1">
                  <c:v>8.2889999999999997</c:v>
                </c:pt>
                <c:pt idx="2">
                  <c:v>30.992999999999999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88F8-9748-A06E-D2A332BD3B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P99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CE5B-9345-A041-2B12B33D7BCB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CE5B-9345-A041-2B12B33D7BCB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CE5B-9345-A041-2B12B33D7BCB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7.1269999999999998</c:v>
                </c:pt>
                <c:pt idx="1">
                  <c:v>11.265000000000001</c:v>
                </c:pt>
                <c:pt idx="2">
                  <c:v>24.962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CE5B-9345-A041-2B12B33D7BCB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CE5B-9345-A041-2B12B33D7BCB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CE5B-9345-A041-2B12B33D7BCB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CE5B-9345-A041-2B12B33D7BCB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8.1549999999999994</c:v>
                </c:pt>
                <c:pt idx="1">
                  <c:v>10.824</c:v>
                </c:pt>
                <c:pt idx="2">
                  <c:v>35.725000000000001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CE5B-9345-A041-2B12B33D7B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P25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BD96-EC4F-BE2A-02D3C2802EEF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BD96-EC4F-BE2A-02D3C2802EEF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BD96-EC4F-BE2A-02D3C2802EEF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1.236</c:v>
                </c:pt>
                <c:pt idx="1">
                  <c:v>2.2789999999999999</c:v>
                </c:pt>
                <c:pt idx="2">
                  <c:v>8.1760000000000002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D96-EC4F-BE2A-02D3C2802EEF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BD96-EC4F-BE2A-02D3C2802EEF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BD96-EC4F-BE2A-02D3C2802EEF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BD96-EC4F-BE2A-02D3C2802EEF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1.7749999999999999</c:v>
                </c:pt>
                <c:pt idx="1">
                  <c:v>2.5990000000000002</c:v>
                </c:pt>
                <c:pt idx="2">
                  <c:v>5.3940000000000001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BD96-EC4F-BE2A-02D3C2802E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825">
              <a:solidFill>
                <a:srgbClr val="222222"/>
              </a:solidFill>
              <a:latin typeface="Calibri"/>
              <a:ea typeface="Calibri"/>
              <a:cs typeface="Calibr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P50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2931-F147-B722-96BF056421D2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2931-F147-B722-96BF056421D2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2931-F147-B722-96BF056421D2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1.746</c:v>
                </c:pt>
                <c:pt idx="1">
                  <c:v>3.363</c:v>
                </c:pt>
                <c:pt idx="2">
                  <c:v>10.961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2931-F147-B722-96BF056421D2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2931-F147-B722-96BF056421D2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2931-F147-B722-96BF056421D2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2931-F147-B722-96BF056421D2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2.5750000000000002</c:v>
                </c:pt>
                <c:pt idx="1">
                  <c:v>3.6120000000000001</c:v>
                </c:pt>
                <c:pt idx="2">
                  <c:v>7.423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2931-F147-B722-96BF056421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P90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35C0-6C4A-BE7F-933838444E7C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35C0-6C4A-BE7F-933838444E7C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35C0-6C4A-BE7F-933838444E7C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4.0570000000000004</c:v>
                </c:pt>
                <c:pt idx="1">
                  <c:v>7.1820000000000004</c:v>
                </c:pt>
                <c:pt idx="2">
                  <c:v>17.824000000000002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35C0-6C4A-BE7F-933838444E7C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35C0-6C4A-BE7F-933838444E7C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35C0-6C4A-BE7F-933838444E7C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35C0-6C4A-BE7F-933838444E7C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5.2060000000000004</c:v>
                </c:pt>
                <c:pt idx="1">
                  <c:v>7.3650000000000002</c:v>
                </c:pt>
                <c:pt idx="2">
                  <c:v>12.161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35C0-6C4A-BE7F-933838444E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P95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5D85-824A-92DF-F80ACAAC9B75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5D85-824A-92DF-F80ACAAC9B75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5D85-824A-92DF-F80ACAAC9B75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5.258</c:v>
                </c:pt>
                <c:pt idx="1">
                  <c:v>8.5120000000000005</c:v>
                </c:pt>
                <c:pt idx="2">
                  <c:v>20.010000000000002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5D85-824A-92DF-F80ACAAC9B75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5D85-824A-92DF-F80ACAAC9B75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5D85-824A-92DF-F80ACAAC9B75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5D85-824A-92DF-F80ACAAC9B75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6.4820000000000002</c:v>
                </c:pt>
                <c:pt idx="1">
                  <c:v>8.8789999999999996</c:v>
                </c:pt>
                <c:pt idx="2">
                  <c:v>13.829000000000001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5D85-824A-92DF-F80ACAAC9B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P99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DC89-1B42-B071-E5FA0AD79F0E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DC89-1B42-B071-E5FA0AD79F0E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DC89-1B42-B071-E5FA0AD79F0E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7.1269999999999998</c:v>
                </c:pt>
                <c:pt idx="1">
                  <c:v>11.265000000000001</c:v>
                </c:pt>
                <c:pt idx="2">
                  <c:v>24.962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DC89-1B42-B071-E5FA0AD79F0E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DC89-1B42-B071-E5FA0AD79F0E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DC89-1B42-B071-E5FA0AD79F0E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DC89-1B42-B071-E5FA0AD79F0E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8.7550000000000008</c:v>
                </c:pt>
                <c:pt idx="1">
                  <c:v>11.46</c:v>
                </c:pt>
                <c:pt idx="2">
                  <c:v>16.79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DC89-1B42-B071-E5FA0AD79F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P25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301C-784E-8B56-26C391076679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301C-784E-8B56-26C391076679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301C-784E-8B56-26C391076679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1.236</c:v>
                </c:pt>
                <c:pt idx="1">
                  <c:v>2.2789999999999999</c:v>
                </c:pt>
                <c:pt idx="2">
                  <c:v>8.1760000000000002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301C-784E-8B56-26C391076679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301C-784E-8B56-26C391076679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301C-784E-8B56-26C391076679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301C-784E-8B56-26C391076679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3.5710000000000002</c:v>
                </c:pt>
                <c:pt idx="1">
                  <c:v>4.7789999999999999</c:v>
                </c:pt>
                <c:pt idx="2">
                  <c:v>5.8979999999999997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301C-784E-8B56-26C3910766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825">
              <a:solidFill>
                <a:srgbClr val="222222"/>
              </a:solidFill>
              <a:latin typeface="Calibri"/>
              <a:ea typeface="Calibri"/>
              <a:cs typeface="Calibr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P50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CC73-9041-9F80-DF084E072D6C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CC73-9041-9F80-DF084E072D6C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CC73-9041-9F80-DF084E072D6C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1.746</c:v>
                </c:pt>
                <c:pt idx="1">
                  <c:v>3.363</c:v>
                </c:pt>
                <c:pt idx="2">
                  <c:v>10.961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CC73-9041-9F80-DF084E072D6C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CC73-9041-9F80-DF084E072D6C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CC73-9041-9F80-DF084E072D6C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CC73-9041-9F80-DF084E072D6C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4.798</c:v>
                </c:pt>
                <c:pt idx="1">
                  <c:v>5.9359999999999999</c:v>
                </c:pt>
                <c:pt idx="2">
                  <c:v>7.859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CC73-9041-9F80-DF084E072D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P90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DCA3-F94F-A0B1-8BC60F5BBF49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DCA3-F94F-A0B1-8BC60F5BBF49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DCA3-F94F-A0B1-8BC60F5BBF49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4.0570000000000004</c:v>
                </c:pt>
                <c:pt idx="1">
                  <c:v>7.1820000000000004</c:v>
                </c:pt>
                <c:pt idx="2">
                  <c:v>17.824000000000002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DCA3-F94F-A0B1-8BC60F5BBF49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DCA3-F94F-A0B1-8BC60F5BBF49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DCA3-F94F-A0B1-8BC60F5BBF49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DCA3-F94F-A0B1-8BC60F5BBF49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7.9809999999999999</c:v>
                </c:pt>
                <c:pt idx="1">
                  <c:v>9.9909999999999997</c:v>
                </c:pt>
                <c:pt idx="2">
                  <c:v>12.648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DCA3-F94F-A0B1-8BC60F5BBF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P95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252-B04A-9DAA-B8CB4484AB55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252-B04A-9DAA-B8CB4484AB55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E252-B04A-9DAA-B8CB4484AB55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5.258</c:v>
                </c:pt>
                <c:pt idx="1">
                  <c:v>8.5120000000000005</c:v>
                </c:pt>
                <c:pt idx="2">
                  <c:v>20.010000000000002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E252-B04A-9DAA-B8CB4484AB55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E252-B04A-9DAA-B8CB4484AB55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E252-B04A-9DAA-B8CB4484AB55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E252-B04A-9DAA-B8CB4484AB55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9.5129999999999999</c:v>
                </c:pt>
                <c:pt idx="1">
                  <c:v>11.557</c:v>
                </c:pt>
                <c:pt idx="2">
                  <c:v>14.212999999999999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E252-B04A-9DAA-B8CB4484AB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lang="en-US" sz="1125" b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P99 TTFT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AFD (PR #320)</c:v>
          </c:tx>
          <c:spPr>
            <a:ln w="21908">
              <a:solidFill>
                <a:srgbClr val="F2A90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F2A900"/>
              </a:solidFill>
            </c:spPr>
          </c:marker>
          <c:dPt>
            <c:idx val="0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B6AC-7148-B4C5-663B4A95CF5F}"/>
              </c:ext>
            </c:extLst>
          </c:dPt>
          <c:dPt>
            <c:idx val="1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B6AC-7148-B4C5-663B4A95CF5F}"/>
              </c:ext>
            </c:extLst>
          </c:dPt>
          <c:dPt>
            <c:idx val="2"/>
            <c:bubble3D val="0"/>
            <c:spPr>
              <a:ln w="9525">
                <a:solidFill>
                  <a:srgbClr val="F2A90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B6AC-7148-B4C5-663B4A95CF5F}"/>
              </c:ext>
            </c:extLst>
          </c:dPt>
          <c:cat>
            <c:numRef>
              <c:f>'Chart Data'!$A$2:$A$4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7.1269999999999998</c:v>
                </c:pt>
                <c:pt idx="1">
                  <c:v>11.265000000000001</c:v>
                </c:pt>
                <c:pt idx="2">
                  <c:v>24.962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6AC-7148-B4C5-663B4A95CF5F}"/>
            </c:ext>
          </c:extLst>
        </c:ser>
        <c:ser>
          <c:idx val="1"/>
          <c:order val="1"/>
          <c:tx>
            <c:v>2×EP16 + Router</c:v>
          </c:tx>
          <c:spPr>
            <a:ln w="21908">
              <a:solidFill>
                <a:srgbClr val="4472C4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472C4"/>
              </a:solidFill>
            </c:spPr>
          </c:marker>
          <c:dPt>
            <c:idx val="0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B6AC-7148-B4C5-663B4A95CF5F}"/>
              </c:ext>
            </c:extLst>
          </c:dPt>
          <c:dPt>
            <c:idx val="1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B6AC-7148-B4C5-663B4A95CF5F}"/>
              </c:ext>
            </c:extLst>
          </c:dPt>
          <c:dPt>
            <c:idx val="2"/>
            <c:bubble3D val="0"/>
            <c:spPr>
              <a:ln w="9525">
                <a:solidFill>
                  <a:srgbClr val="4472C4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B6AC-7148-B4C5-663B4A95CF5F}"/>
              </c:ext>
            </c:extLst>
          </c:dPt>
          <c:cat>
            <c:numRef>
              <c:f>'Chart Data'!$C$2:$C$4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12.266</c:v>
                </c:pt>
                <c:pt idx="1">
                  <c:v>14.676</c:v>
                </c:pt>
                <c:pt idx="2">
                  <c:v>17.253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B6AC-7148-B4C5-663B4A95CF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E8E8E8"/>
              </a:solidFill>
              <a:prstDash val="solid"/>
            </a:ln>
          </c:spPr>
        </c:majorGridlines>
        <c:numFmt formatCode="0.0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endParaRPr lang="zh-CN"/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9525">
          <a:solidFill>
            <a:srgbClr val="ECECEC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9525">
      <a:solidFill>
        <a:srgbClr val="D0D0D0"/>
      </a:solidFill>
      <a:prstDash val="solid"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当前部署 MoE 模型的一项主要挑战，在于 Attention 与 MoE 层之间存在异构性。</a:t>
            </a:r>
          </a:p>
          <a:p>
            <a:r>
              <a:t>Attention 受限于 KV Cache 容量：随着上下文长度增加，一个解码批次能够容纳的活跃请求会越来越少。相比之下，MoE 层需要足够大的批次，才能保证专家 GEMM 运算的效率。</a:t>
            </a:r>
          </a:p>
          <a:p>
            <a:r>
              <a:t>因此，随着上下文变长，活跃解码批次逐渐缩小，Attention 的开销主要由 KV Cache 读取主导；与此同时，MoE 无法获得高效执行专家计算所需的足够 Token 数量。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AFD-Plugin.pptx, source slide 4 (architecture diagram, legend, component labels, and grouping).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/Users/jiangkuaixue/Desktop/vllm-afd-plugin-architecture.svg</a:t>
            </a:r>
          </a:p>
          <a:p>
            <a:r>
              <a:t>- /Users/jiangkuaixue/code/afd-plugin (current source tree; vLLM 0.26.0 pin)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/Users/jiangkuaixue/Desktop/afd-connector-base-diagram-v2.png (built-in ImageGen output)</a:t>
            </a:r>
          </a:p>
          <a:p>
            <a:r>
              <a:t>- /Users/jiangkuaixue/code/afd-plugin/afd_plugin/connectors/base.py</a:t>
            </a:r>
          </a:p>
          <a:p>
            <a:r>
              <a:t>- /Users/jiangkuaixue/code/afd-plugin/docs/design/module/connector_contracts.md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P4补充基础方案的问题总结，引导推到到下一页</a:t>
            </a:r>
            <a:br/>
            <a:r>
              <a:t>P6华为云的性能结果分析补充一些总结描述</a:t>
            </a:r>
            <a:br/>
            <a:r>
              <a:t>增加一个跟VLLM当前的配合状态，放在华为云之前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https://github.com/vllm-project/afd-plugin/pull/186</a:t>
            </a:r>
          </a:p>
          <a:p>
            <a:r>
              <a:t>https://github.com/vllm-project/afd-plugin/issues/169</a:t>
            </a:r>
          </a:p>
          <a:p>
            <a:r>
              <a:t>https://github.com/vllm-project/afd-plugin/issues/179</a:t>
            </a:r>
          </a:p>
          <a:p>
            <a:r>
              <a:t>https://github.com/vllm-project/afd-plugin/pull/191</a:t>
            </a:r>
          </a:p>
          <a:p>
            <a:r>
              <a:t>https://github.com/vllm-project/afd-plugin/issues/202</a:t>
            </a:r>
          </a:p>
          <a:p>
            <a:r>
              <a:t>https://github.com/vllm-project/afd-plugin/pull/205</a:t>
            </a:r>
          </a:p>
          <a:p>
            <a:r>
              <a:t>https://github.com/vllm-project/afd-plugin/pull/216</a:t>
            </a:r>
          </a:p>
          <a:p>
            <a:r>
              <a:t>https://github.com/vllm-project/afd-plugin/pull/222</a:t>
            </a:r>
          </a:p>
          <a:p>
            <a:r>
              <a:t>https://github.com/vllm-project/afd-plugin/issues/224</a:t>
            </a:r>
          </a:p>
          <a:p>
            <a:r>
              <a:t>https://github.com/vllm-project/afd-plugin/issues/227</a:t>
            </a:r>
          </a:p>
          <a:p>
            <a:r>
              <a:t>https://github.com/vllm-project/afd-plugin/issues/228</a:t>
            </a:r>
          </a:p>
          <a:p>
            <a:r>
              <a:t>Accessed 2026-08-12.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AFD已刷新为本次dsv4-flash-20260908-rps234批次，MBT65536，RPS2/3/4每档repeat1/2/3的客户端分位数算术均值，毫秒转秒。与final_report/summary.csv核对一致。RPS2和4各有1个请求失败，仍保留三轮，统计成功请求。EP16 DP4TP4与DP8TP2保留上一版数据，MBT=4K，属于原2026-09-07/08批次。跨批次配置比较。红色最优值按未四舍五入的均值判断。</a:t>
            </a:r>
          </a:p>
          <a:p>
            <a:r>
              <a:t>AFD来源：</a:t>
            </a:r>
          </a:p>
          <a:p>
            <a:r>
              <a:t>/Users/wentiange/afd-download/dsv4-flash-20260908-rps234/afd_dp4tp2/chunk_65536/rps_2/repeat_1/result.json</a:t>
            </a:r>
          </a:p>
          <a:p>
            <a:r>
              <a:t>/Users/wentiange/afd-download/dsv4-flash-20260908-rps234/afd_dp4tp2/chunk_65536/rps_2/repeat_2/result.json</a:t>
            </a:r>
          </a:p>
          <a:p>
            <a:r>
              <a:t>/Users/wentiange/afd-download/dsv4-flash-20260908-rps234/afd_dp4tp2/chunk_65536/rps_2/repeat_3/result.json</a:t>
            </a:r>
          </a:p>
          <a:p>
            <a:r>
              <a:t>/Users/wentiange/afd-download/dsv4-flash-20260908-rps234/afd_dp4tp2/chunk_65536/rps_3/repeat_1/result.json</a:t>
            </a:r>
          </a:p>
          <a:p>
            <a:r>
              <a:t>/Users/wentiange/afd-download/dsv4-flash-20260908-rps234/afd_dp4tp2/chunk_65536/rps_3/repeat_2/result.json</a:t>
            </a:r>
          </a:p>
          <a:p>
            <a:r>
              <a:t>/Users/wentiange/afd-download/dsv4-flash-20260908-rps234/afd_dp4tp2/chunk_65536/rps_3/repeat_3/result.json</a:t>
            </a:r>
          </a:p>
          <a:p>
            <a:r>
              <a:t>/Users/wentiange/afd-download/dsv4-flash-20260908-rps234/afd_dp4tp2/chunk_65536/rps_4/repeat_1/result.json</a:t>
            </a:r>
          </a:p>
          <a:p>
            <a:r>
              <a:t>/Users/wentiange/afd-download/dsv4-flash-20260908-rps234/afd_dp4tp2/chunk_65536/rps_4/repeat_2/result.json</a:t>
            </a:r>
          </a:p>
          <a:p>
            <a:r>
              <a:t>/Users/wentiange/afd-download/dsv4-flash-20260908-rps234/afd_dp4tp2/chunk_65536/rps_4/repeat_3/result.json</a:t>
            </a:r>
          </a:p>
          <a:p>
            <a:r>
              <a:t>EP16来源：</a:t>
            </a:r>
          </a:p>
          <a:p>
            <a:r>
              <a:t>/Users/wentiange/afd-download/afd_experiment_results_20260907_20260908/dsv4-flash-six-node-rerun-20260907/exp3_jcz_afd4/ep16_dp4tp4/chunk_4096/rps_2/repeat_1/result.json</a:t>
            </a:r>
          </a:p>
          <a:p>
            <a:r>
              <a:t>/Users/wentiange/afd-download/afd_experiment_results_20260907_20260908/dsv4-flash-six-node-rerun-20260907/exp3_jcz_afd4/ep16_dp4tp4/chunk_4096/rps_2/repeat_2/result.json</a:t>
            </a:r>
          </a:p>
          <a:p>
            <a:r>
              <a:t>/Users/wentiange/afd-download/afd_experiment_results_20260907_20260908/dsv4-flash-six-node-rerun-20260907/exp3_jcz_afd4/ep16_dp4tp4/chunk_4096/rps_2/repeat_3/result.json</a:t>
            </a:r>
          </a:p>
          <a:p>
            <a:r>
              <a:t>/Users/wentiange/afd-download/afd_experiment_results_20260907_20260908/dsv4-flash-six-node-rerun-20260907/exp3_jcz_afd4/ep16_dp4tp4/chunk_4096/rps_3/repeat_1/result.json</a:t>
            </a:r>
          </a:p>
          <a:p>
            <a:r>
              <a:t>/Users/wentiange/afd-download/afd_experiment_results_20260907_20260908/dsv4-flash-six-node-rerun-20260907/exp3_jcz_afd4/ep16_dp4tp4/chunk_4096/rps_3/repeat_2/result.json</a:t>
            </a:r>
          </a:p>
          <a:p>
            <a:r>
              <a:t>/Users/wentiange/afd-download/afd_experiment_results_20260907_20260908/dsv4-flash-six-node-rerun-20260907/exp3_jcz_afd4/ep16_dp4tp4/chunk_4096/rps_3/repeat_3/result.json</a:t>
            </a:r>
          </a:p>
          <a:p>
            <a:r>
              <a:t>/Users/wentiange/afd-download/afd_experiment_results_20260907_20260908/dsv4-flash-six-node-rerun-20260907/exp3_jcz_afd4/ep16_dp4tp4/chunk_4096/rps_4/repeat_1/result.json</a:t>
            </a:r>
          </a:p>
          <a:p>
            <a:r>
              <a:t>/Users/wentiange/afd-download/afd_experiment_results_20260907_20260908/dsv4-flash-six-node-rerun-20260907/exp3_jcz_afd4/ep16_dp4tp4/chunk_4096/rps_4/repeat_2/result.json</a:t>
            </a:r>
          </a:p>
          <a:p>
            <a:r>
              <a:t>/Users/wentiange/afd-download/afd_experiment_results_20260907_20260908/dsv4-flash-six-node-rerun-20260907/exp3_jcz_afd4/ep16_dp4tp4/chunk_4096/rps_4/repeat_3/result.json</a:t>
            </a:r>
          </a:p>
          <a:p>
            <a:r>
              <a:t>/Users/wentiange/afd-download/afd_experiment_results_20260907_20260908/dsv4-flash/exp4_ep16_dp8tp2_jcz_afd5_20260907_2348/ep16_dp8tp2/chunk_4096/rps_2/repeat_1/result.json</a:t>
            </a:r>
          </a:p>
          <a:p>
            <a:r>
              <a:t>/Users/wentiange/afd-download/afd_experiment_results_20260907_20260908/dsv4-flash/exp4_ep16_dp8tp2_jcz_afd5_20260907_2348/ep16_dp8tp2/chunk_4096/rps_2/repeat_2/result.json</a:t>
            </a:r>
          </a:p>
          <a:p>
            <a:r>
              <a:t>/Users/wentiange/afd-download/afd_experiment_results_20260907_20260908/dsv4-flash/exp4_ep16_dp8tp2_jcz_afd5_20260907_2348/ep16_dp8tp2/chunk_4096/rps_2/repeat_3/result.json</a:t>
            </a:r>
          </a:p>
          <a:p>
            <a:r>
              <a:t>/Users/wentiange/afd-download/afd_experiment_results_20260907_20260908/dsv4-flash/exp4_ep16_dp8tp2_jcz_afd5_20260907_2348/ep16_dp8tp2/chunk_4096/rps_3/repeat_1/result.json</a:t>
            </a:r>
          </a:p>
          <a:p>
            <a:r>
              <a:t>/Users/wentiange/afd-download/afd_experiment_results_20260907_20260908/dsv4-flash/exp4_ep16_dp8tp2_jcz_afd5_20260907_2348/ep16_dp8tp2/chunk_4096/rps_3/repeat_2/result.json</a:t>
            </a:r>
          </a:p>
          <a:p>
            <a:r>
              <a:t>/Users/wentiange/afd-download/afd_experiment_results_20260907_20260908/dsv4-flash/exp4_ep16_dp8tp2_jcz_afd5_20260907_2348/ep16_dp8tp2/chunk_4096/rps_3/repeat_3/result.json</a:t>
            </a:r>
          </a:p>
          <a:p>
            <a:r>
              <a:t>/Users/wentiange/afd-download/afd_experiment_results_20260907_20260908/dsv4-flash/exp4_ep16_dp8tp2_jcz_afd5_20260907_2348/ep16_dp8tp2/chunk_4096/rps_4/repeat_1/result.json</a:t>
            </a:r>
          </a:p>
          <a:p>
            <a:r>
              <a:t>/Users/wentiange/afd-download/afd_experiment_results_20260907_20260908/dsv4-flash/exp4_ep16_dp8tp2_jcz_afd5_20260907_2348/ep16_dp8tp2/chunk_4096/rps_4/repeat_2/result.json</a:t>
            </a:r>
          </a:p>
          <a:p>
            <a:r>
              <a:t>/Users/wentiange/afd-download/afd_experiment_results_20260907_20260908/dsv4-flash/exp4_ep16_dp8tp2_jcz_afd5_20260907_2348/ep16_dp8tp2/chunk_4096/rps_4/repeat_3/result.json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AFD已刷新为本次dsv4-flash-20260908-rps234批次，MBT65536，RPS2/3/4每档repeat1/2/3的客户端分位数算术均值，毫秒转秒。与final_report/summary.csv核对一致。RPS2和4各有1个请求失败，仍保留三轮，统计成功请求。EP16 DP4TP4与DP8TP2保留上一版数据，MBT=8K，属于原2026-09-07/08批次。跨批次配置比较。红色最优值按未四舍五入的均值判断。</a:t>
            </a:r>
          </a:p>
          <a:p>
            <a:r>
              <a:t>AFD来源：</a:t>
            </a:r>
          </a:p>
          <a:p>
            <a:r>
              <a:t>/Users/wentiange/afd-download/dsv4-flash-20260908-rps234/afd_dp4tp2/chunk_65536/rps_2/repeat_1/result.json</a:t>
            </a:r>
          </a:p>
          <a:p>
            <a:r>
              <a:t>/Users/wentiange/afd-download/dsv4-flash-20260908-rps234/afd_dp4tp2/chunk_65536/rps_2/repeat_2/result.json</a:t>
            </a:r>
          </a:p>
          <a:p>
            <a:r>
              <a:t>/Users/wentiange/afd-download/dsv4-flash-20260908-rps234/afd_dp4tp2/chunk_65536/rps_2/repeat_3/result.json</a:t>
            </a:r>
          </a:p>
          <a:p>
            <a:r>
              <a:t>/Users/wentiange/afd-download/dsv4-flash-20260908-rps234/afd_dp4tp2/chunk_65536/rps_3/repeat_1/result.json</a:t>
            </a:r>
          </a:p>
          <a:p>
            <a:r>
              <a:t>/Users/wentiange/afd-download/dsv4-flash-20260908-rps234/afd_dp4tp2/chunk_65536/rps_3/repeat_2/result.json</a:t>
            </a:r>
          </a:p>
          <a:p>
            <a:r>
              <a:t>/Users/wentiange/afd-download/dsv4-flash-20260908-rps234/afd_dp4tp2/chunk_65536/rps_3/repeat_3/result.json</a:t>
            </a:r>
          </a:p>
          <a:p>
            <a:r>
              <a:t>/Users/wentiange/afd-download/dsv4-flash-20260908-rps234/afd_dp4tp2/chunk_65536/rps_4/repeat_1/result.json</a:t>
            </a:r>
          </a:p>
          <a:p>
            <a:r>
              <a:t>/Users/wentiange/afd-download/dsv4-flash-20260908-rps234/afd_dp4tp2/chunk_65536/rps_4/repeat_2/result.json</a:t>
            </a:r>
          </a:p>
          <a:p>
            <a:r>
              <a:t>/Users/wentiange/afd-download/dsv4-flash-20260908-rps234/afd_dp4tp2/chunk_65536/rps_4/repeat_3/result.json</a:t>
            </a:r>
          </a:p>
          <a:p>
            <a:r>
              <a:t>EP16来源：</a:t>
            </a:r>
          </a:p>
          <a:p>
            <a:r>
              <a:t>/Users/wentiange/afd-download/afd_experiment_results_20260907_20260908/dsv4-flash-six-node-rerun-20260907/exp3_jcz_afd4/ep16_dp4tp4/chunk_8192/rps_2/repeat_1/result.json</a:t>
            </a:r>
          </a:p>
          <a:p>
            <a:r>
              <a:t>/Users/wentiange/afd-download/afd_experiment_results_20260907_20260908/dsv4-flash-six-node-rerun-20260907/exp3_jcz_afd4/ep16_dp4tp4/chunk_8192/rps_2/repeat_2/result.json</a:t>
            </a:r>
          </a:p>
          <a:p>
            <a:r>
              <a:t>/Users/wentiange/afd-download/afd_experiment_results_20260907_20260908/dsv4-flash-six-node-rerun-20260907/exp3_jcz_afd4/ep16_dp4tp4/chunk_8192/rps_2/repeat_3/result.json</a:t>
            </a:r>
          </a:p>
          <a:p>
            <a:r>
              <a:t>/Users/wentiange/afd-download/afd_experiment_results_20260907_20260908/dsv4-flash-six-node-rerun-20260907/exp3_jcz_afd4/ep16_dp4tp4/chunk_8192/rps_3/repeat_1/result.json</a:t>
            </a:r>
          </a:p>
          <a:p>
            <a:r>
              <a:t>/Users/wentiange/afd-download/afd_experiment_results_20260907_20260908/dsv4-flash-six-node-rerun-20260907/exp3_jcz_afd4/ep16_dp4tp4/chunk_8192/rps_3/repeat_2/result.json</a:t>
            </a:r>
          </a:p>
          <a:p>
            <a:r>
              <a:t>/Users/wentiange/afd-download/afd_experiment_results_20260907_20260908/dsv4-flash-six-node-rerun-20260907/exp3_jcz_afd4/ep16_dp4tp4/chunk_8192/rps_3/repeat_3/result.json</a:t>
            </a:r>
          </a:p>
          <a:p>
            <a:r>
              <a:t>/Users/wentiange/afd-download/afd_experiment_results_20260907_20260908/dsv4-flash-six-node-rerun-20260907/exp3_jcz_afd4/ep16_dp4tp4/chunk_8192/rps_4/repeat_1/result.json</a:t>
            </a:r>
          </a:p>
          <a:p>
            <a:r>
              <a:t>/Users/wentiange/afd-download/afd_experiment_results_20260907_20260908/dsv4-flash-six-node-rerun-20260907/exp3_jcz_afd4/ep16_dp4tp4/chunk_8192/rps_4/repeat_2/result.json</a:t>
            </a:r>
          </a:p>
          <a:p>
            <a:r>
              <a:t>/Users/wentiange/afd-download/afd_experiment_results_20260907_20260908/dsv4-flash-six-node-rerun-20260907/exp3_jcz_afd4/ep16_dp4tp4/chunk_8192/rps_4/repeat_3/result.json</a:t>
            </a:r>
          </a:p>
          <a:p>
            <a:r>
              <a:t>/Users/wentiange/afd-download/afd_experiment_results_20260907_20260908/dsv4-flash/exp4_ep16_dp8tp2_jcz_afd5_20260907_2348/ep16_dp8tp2/chunk_8192/rps_2/repeat_1/result.json</a:t>
            </a:r>
          </a:p>
          <a:p>
            <a:r>
              <a:t>/Users/wentiange/afd-download/afd_experiment_results_20260907_20260908/dsv4-flash/exp4_ep16_dp8tp2_jcz_afd5_20260907_2348/ep16_dp8tp2/chunk_8192/rps_2/repeat_2/result.json</a:t>
            </a:r>
          </a:p>
          <a:p>
            <a:r>
              <a:t>/Users/wentiange/afd-download/afd_experiment_results_20260907_20260908/dsv4-flash/exp4_ep16_dp8tp2_jcz_afd5_20260907_2348/ep16_dp8tp2/chunk_8192/rps_2/repeat_3/result.json</a:t>
            </a:r>
          </a:p>
          <a:p>
            <a:r>
              <a:t>/Users/wentiange/afd-download/afd_experiment_results_20260907_20260908/dsv4-flash/exp4_ep16_dp8tp2_jcz_afd5_20260907_2348/ep16_dp8tp2/chunk_8192/rps_3/repeat_1/result.json</a:t>
            </a:r>
          </a:p>
          <a:p>
            <a:r>
              <a:t>/Users/wentiange/afd-download/afd_experiment_results_20260907_20260908/dsv4-flash/exp4_ep16_dp8tp2_jcz_afd5_20260907_2348/ep16_dp8tp2/chunk_8192/rps_3/repeat_2/result.json</a:t>
            </a:r>
          </a:p>
          <a:p>
            <a:r>
              <a:t>/Users/wentiange/afd-download/afd_experiment_results_20260907_20260908/dsv4-flash/exp4_ep16_dp8tp2_jcz_afd5_20260907_2348/ep16_dp8tp2/chunk_8192/rps_3/repeat_3/result.json</a:t>
            </a:r>
          </a:p>
          <a:p>
            <a:r>
              <a:t>/Users/wentiange/afd-download/afd_experiment_results_20260907_20260908/dsv4-flash/exp4_ep16_dp8tp2_jcz_afd5_20260907_2348/ep16_dp8tp2/chunk_8192/rps_4/repeat_1/result.json</a:t>
            </a:r>
          </a:p>
          <a:p>
            <a:r>
              <a:t>/Users/wentiange/afd-download/afd_experiment_results_20260907_20260908/dsv4-flash/exp4_ep16_dp8tp2_jcz_afd5_20260907_2348/ep16_dp8tp2/chunk_8192/rps_4/repeat_2/result.json</a:t>
            </a:r>
          </a:p>
          <a:p>
            <a:r>
              <a:t>/Users/wentiange/afd-download/afd_experiment_results_20260907_20260908/dsv4-flash/exp4_ep16_dp8tp2_jcz_afd5_20260907_2348/ep16_dp8tp2/chunk_8192/rps_4/repeat_3/result.json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AFD已刷新为本次dsv4-flash-20260908-rps234批次，MBT65536，RPS2/3/4每档repeat1/2/3的客户端分位数算术均值，毫秒转秒。与final_report/summary.csv核对一致。RPS2和4各有1个请求失败，仍保留三轮，统计成功请求。EP16 DP4TP4与DP8TP2保留上一版数据，MBT=16K，属于原2026-09-07/08批次。跨批次配置比较。红色最优值按未四舍五入的均值判断。</a:t>
            </a:r>
          </a:p>
          <a:p>
            <a:r>
              <a:t>AFD来源：</a:t>
            </a:r>
          </a:p>
          <a:p>
            <a:r>
              <a:t>/Users/wentiange/afd-download/dsv4-flash-20260908-rps234/afd_dp4tp2/chunk_65536/rps_2/repeat_1/result.json</a:t>
            </a:r>
          </a:p>
          <a:p>
            <a:r>
              <a:t>/Users/wentiange/afd-download/dsv4-flash-20260908-rps234/afd_dp4tp2/chunk_65536/rps_2/repeat_2/result.json</a:t>
            </a:r>
          </a:p>
          <a:p>
            <a:r>
              <a:t>/Users/wentiange/afd-download/dsv4-flash-20260908-rps234/afd_dp4tp2/chunk_65536/rps_2/repeat_3/result.json</a:t>
            </a:r>
          </a:p>
          <a:p>
            <a:r>
              <a:t>/Users/wentiange/afd-download/dsv4-flash-20260908-rps234/afd_dp4tp2/chunk_65536/rps_3/repeat_1/result.json</a:t>
            </a:r>
          </a:p>
          <a:p>
            <a:r>
              <a:t>/Users/wentiange/afd-download/dsv4-flash-20260908-rps234/afd_dp4tp2/chunk_65536/rps_3/repeat_2/result.json</a:t>
            </a:r>
          </a:p>
          <a:p>
            <a:r>
              <a:t>/Users/wentiange/afd-download/dsv4-flash-20260908-rps234/afd_dp4tp2/chunk_65536/rps_3/repeat_3/result.json</a:t>
            </a:r>
          </a:p>
          <a:p>
            <a:r>
              <a:t>/Users/wentiange/afd-download/dsv4-flash-20260908-rps234/afd_dp4tp2/chunk_65536/rps_4/repeat_1/result.json</a:t>
            </a:r>
          </a:p>
          <a:p>
            <a:r>
              <a:t>/Users/wentiange/afd-download/dsv4-flash-20260908-rps234/afd_dp4tp2/chunk_65536/rps_4/repeat_2/result.json</a:t>
            </a:r>
          </a:p>
          <a:p>
            <a:r>
              <a:t>/Users/wentiange/afd-download/dsv4-flash-20260908-rps234/afd_dp4tp2/chunk_65536/rps_4/repeat_3/result.json</a:t>
            </a:r>
          </a:p>
          <a:p>
            <a:r>
              <a:t>EP16来源：</a:t>
            </a:r>
          </a:p>
          <a:p>
            <a:r>
              <a:t>/Users/wentiange/afd-download/afd_experiment_results_20260907_20260908/dsv4-flash-six-node-rerun-20260907/exp3_jcz_afd4/ep16_dp4tp4/chunk_16384/rps_2/repeat_1/result.json</a:t>
            </a:r>
          </a:p>
          <a:p>
            <a:r>
              <a:t>/Users/wentiange/afd-download/afd_experiment_results_20260907_20260908/dsv4-flash-six-node-rerun-20260907/exp3_jcz_afd4/ep16_dp4tp4/chunk_16384/rps_2/repeat_2/result.json</a:t>
            </a:r>
          </a:p>
          <a:p>
            <a:r>
              <a:t>/Users/wentiange/afd-download/afd_experiment_results_20260907_20260908/dsv4-flash-six-node-rerun-20260907/exp3_jcz_afd4/ep16_dp4tp4/chunk_16384/rps_2/repeat_3/result.json</a:t>
            </a:r>
          </a:p>
          <a:p>
            <a:r>
              <a:t>/Users/wentiange/afd-download/afd_experiment_results_20260907_20260908/dsv4-flash-six-node-rerun-20260907/exp3_jcz_afd4/ep16_dp4tp4/chunk_16384/rps_3/repeat_1/result.json</a:t>
            </a:r>
          </a:p>
          <a:p>
            <a:r>
              <a:t>/Users/wentiange/afd-download/afd_experiment_results_20260907_20260908/dsv4-flash-six-node-rerun-20260907/exp3_jcz_afd4/ep16_dp4tp4/chunk_16384/rps_3/repeat_2/result.json</a:t>
            </a:r>
          </a:p>
          <a:p>
            <a:r>
              <a:t>/Users/wentiange/afd-download/afd_experiment_results_20260907_20260908/dsv4-flash-six-node-rerun-20260907/exp3_jcz_afd4/ep16_dp4tp4/chunk_16384/rps_3/repeat_3/result.json</a:t>
            </a:r>
          </a:p>
          <a:p>
            <a:r>
              <a:t>/Users/wentiange/afd-download/afd_experiment_results_20260907_20260908/dsv4-flash-six-node-rerun-20260907/exp3_jcz_afd4/ep16_dp4tp4/chunk_16384/rps_4/repeat_1/result.json</a:t>
            </a:r>
          </a:p>
          <a:p>
            <a:r>
              <a:t>/Users/wentiange/afd-download/afd_experiment_results_20260907_20260908/dsv4-flash-six-node-rerun-20260907/exp3_jcz_afd4/ep16_dp4tp4/chunk_16384/rps_4/repeat_2/result.json</a:t>
            </a:r>
          </a:p>
          <a:p>
            <a:r>
              <a:t>/Users/wentiange/afd-download/afd_experiment_results_20260907_20260908/dsv4-flash-six-node-rerun-20260907/exp3_jcz_afd4/ep16_dp4tp4/chunk_16384/rps_4/repeat_3/result.json</a:t>
            </a:r>
          </a:p>
          <a:p>
            <a:r>
              <a:t>/Users/wentiange/afd-download/afd_experiment_results_20260907_20260908/dsv4-flash/exp4_ep16_dp8tp2_jcz_afd5_20260907_2348/ep16_dp8tp2/chunk_16384/rps_2/repeat_1/result.json</a:t>
            </a:r>
          </a:p>
          <a:p>
            <a:r>
              <a:t>/Users/wentiange/afd-download/afd_experiment_results_20260907_20260908/dsv4-flash/exp4_ep16_dp8tp2_jcz_afd5_20260907_2348/ep16_dp8tp2/chunk_16384/rps_2/repeat_2/result.json</a:t>
            </a:r>
          </a:p>
          <a:p>
            <a:r>
              <a:t>/Users/wentiange/afd-download/afd_experiment_results_20260907_20260908/dsv4-flash/exp4_ep16_dp8tp2_jcz_afd5_20260907_2348/ep16_dp8tp2/chunk_16384/rps_2/repeat_3/result.json</a:t>
            </a:r>
          </a:p>
          <a:p>
            <a:r>
              <a:t>/Users/wentiange/afd-download/afd_experiment_results_20260907_20260908/dsv4-flash/exp4_ep16_dp8tp2_jcz_afd5_20260907_2348/ep16_dp8tp2/chunk_16384/rps_3/repeat_1/result.json</a:t>
            </a:r>
          </a:p>
          <a:p>
            <a:r>
              <a:t>/Users/wentiange/afd-download/afd_experiment_results_20260907_20260908/dsv4-flash/exp4_ep16_dp8tp2_jcz_afd5_20260907_2348/ep16_dp8tp2/chunk_16384/rps_3/repeat_2/result.json</a:t>
            </a:r>
          </a:p>
          <a:p>
            <a:r>
              <a:t>/Users/wentiange/afd-download/afd_experiment_results_20260907_20260908/dsv4-flash/exp4_ep16_dp8tp2_jcz_afd5_20260907_2348/ep16_dp8tp2/chunk_16384/rps_3/repeat_3/result.json</a:t>
            </a:r>
          </a:p>
          <a:p>
            <a:r>
              <a:t>/Users/wentiange/afd-download/afd_experiment_results_20260907_20260908/dsv4-flash/exp4_ep16_dp8tp2_jcz_afd5_20260907_2348/ep16_dp8tp2/chunk_16384/rps_4/repeat_1/result.json</a:t>
            </a:r>
          </a:p>
          <a:p>
            <a:r>
              <a:t>/Users/wentiange/afd-download/afd_experiment_results_20260907_20260908/dsv4-flash/exp4_ep16_dp8tp2_jcz_afd5_20260907_2348/ep16_dp8tp2/chunk_16384/rps_4/repeat_2/result.json</a:t>
            </a:r>
          </a:p>
          <a:p>
            <a:r>
              <a:t>/Users/wentiange/afd-download/afd_experiment_results_20260907_20260908/dsv4-flash/exp4_ep16_dp8tp2_jcz_afd5_20260907_2348/ep16_dp8tp2/chunk_16384/rps_4/repeat_3/result.json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实验来源：20260908-rps234（AFD64K、EP16），20260909-afd16k32k-rps234、20260909-afd8k-rps234。AFD64K及EP16每档3轮，AFD8/16/32K每档1轮。TTFT分位数为逐轮分位数均值；长度分组页使用合并三轮成功请求分位数。少量请求失败保留实验，不纳入延迟。metrics为每轮Attention API histogram before/after差分sum/count，再取三轮均值。请求级M(r)按DP rank本地batch计算，非耗时占比、空泡率或硬件效率。数据与分析来源：</a:t>
            </a:r>
          </a:p>
          <a:p>
            <a:r>
              <a:t>/Users/wentiange/afd-download/dsv4-flash-20260909-afd8k-rps234/afd_dp4tp2/chunk_8192/rps_2/repeat_1/result.json</a:t>
            </a:r>
          </a:p>
          <a:p>
            <a:r>
              <a:t>/Users/wentiange/afd-download/dsv4-flash-20260909-afd8k-rps234/afd_dp4tp2/chunk_8192/rps_3/repeat_1/result.json</a:t>
            </a:r>
          </a:p>
          <a:p>
            <a:r>
              <a:t>/Users/wentiange/afd-download/dsv4-flash-20260909-afd8k-rps234/afd_dp4tp2/chunk_8192/rps_4/repeat_1/result.json</a:t>
            </a:r>
          </a:p>
          <a:p>
            <a:r>
              <a:t>/Users/wentiange/afd-download/dsv4-flash-20260909-afd16k32k-rps234/afd_dp4tp2/chunk_16384/rps_2/repeat_1/result.json</a:t>
            </a:r>
          </a:p>
          <a:p>
            <a:r>
              <a:t>/Users/wentiange/afd-download/dsv4-flash-20260909-afd16k32k-rps234/afd_dp4tp2/chunk_16384/rps_3/repeat_1/result.json</a:t>
            </a:r>
          </a:p>
          <a:p>
            <a:r>
              <a:t>/Users/wentiange/afd-download/dsv4-flash-20260909-afd16k32k-rps234/afd_dp4tp2/chunk_16384/rps_4/repeat_1/result.json</a:t>
            </a:r>
          </a:p>
          <a:p>
            <a:r>
              <a:t>/Users/wentiange/afd-download/dsv4-flash-20260909-afd16k32k-rps234/afd_dp4tp2/chunk_32768/rps_2/repeat_1/result.json</a:t>
            </a:r>
          </a:p>
          <a:p>
            <a:r>
              <a:t>/Users/wentiange/afd-download/dsv4-flash-20260909-afd16k32k-rps234/afd_dp4tp2/chunk_32768/rps_3/repeat_1/result.json</a:t>
            </a:r>
          </a:p>
          <a:p>
            <a:r>
              <a:t>/Users/wentiange/afd-download/dsv4-flash-20260909-afd16k32k-rps234/afd_dp4tp2/chunk_32768/rps_4/repeat_1/result.json</a:t>
            </a:r>
          </a:p>
          <a:p>
            <a:r>
              <a:t>/Users/wentiange/afd-download/dsv4-flash-20260908-rps234/afd_dp4tp2/chunk_65536/rps_2/repeat_1/result.json</a:t>
            </a:r>
          </a:p>
          <a:p>
            <a:r>
              <a:t>/Users/wentiange/afd-download/dsv4-flash-20260908-rps234/afd_dp4tp2/chunk_65536/rps_2/repeat_2/result.json</a:t>
            </a:r>
          </a:p>
          <a:p>
            <a:r>
              <a:t>/Users/wentiange/afd-download/dsv4-flash-20260908-rps234/afd_dp4tp2/chunk_65536/rps_2/repeat_3/result.json</a:t>
            </a:r>
          </a:p>
          <a:p>
            <a:r>
              <a:t>/Users/wentiange/afd-download/dsv4-flash-20260908-rps234/afd_dp4tp2/chunk_65536/rps_3/repeat_1/result.json</a:t>
            </a:r>
          </a:p>
          <a:p>
            <a:r>
              <a:t>/Users/wentiange/afd-download/dsv4-flash-20260908-rps234/afd_dp4tp2/chunk_65536/rps_3/repeat_2/result.json</a:t>
            </a:r>
          </a:p>
          <a:p>
            <a:r>
              <a:t>/Users/wentiange/afd-download/dsv4-flash-20260908-rps234/afd_dp4tp2/chunk_65536/rps_3/repeat_3/result.json</a:t>
            </a:r>
          </a:p>
          <a:p>
            <a:r>
              <a:t>/Users/wentiange/afd-download/dsv4-flash-20260908-rps234/afd_dp4tp2/chunk_65536/rps_4/repeat_1/result.json</a:t>
            </a:r>
          </a:p>
          <a:p>
            <a:r>
              <a:t>/Users/wentiange/afd-download/dsv4-flash-20260908-rps234/afd_dp4tp2/chunk_65536/rps_4/repeat_2/result.json</a:t>
            </a:r>
          </a:p>
          <a:p>
            <a:r>
              <a:t>/Users/wentiange/afd-download/dsv4-flash-20260908-rps234/afd_dp4tp2/chunk_65536/rps_4/repeat_3/result.json</a:t>
            </a:r>
          </a:p>
          <a:p>
            <a:r>
              <a:t>/Users/wentiange/afd-download/dsv4-flash-20260908-rps234/ep16_dp4tp4/chunk_8192/rps_2/repeat_1/result.json</a:t>
            </a:r>
          </a:p>
          <a:p>
            <a:r>
              <a:t>/Users/wentiange/afd-download/dsv4-flash-20260908-rps234/ep16_dp4tp4/chunk_8192/rps_2/repeat_2/result.json</a:t>
            </a:r>
          </a:p>
          <a:p>
            <a:r>
              <a:t>/Users/wentiange/afd-download/dsv4-flash-20260908-rps234/ep16_dp4tp4/chunk_8192/rps_2/repeat_3/result.json</a:t>
            </a:r>
          </a:p>
          <a:p>
            <a:r>
              <a:t>/Users/wentiange/afd-download/dsv4-flash-20260908-rps234/ep16_dp4tp4/chunk_8192/rps_3/repeat_1/result.json</a:t>
            </a:r>
          </a:p>
          <a:p>
            <a:r>
              <a:t>/Users/wentiange/afd-download/dsv4-flash-20260908-rps234/ep16_dp4tp4/chunk_8192/rps_3/repeat_2/result.json</a:t>
            </a:r>
          </a:p>
          <a:p>
            <a:r>
              <a:t>/Users/wentiange/afd-download/dsv4-flash-20260908-rps234/ep16_dp4tp4/chunk_8192/rps_3/repeat_3/result.json</a:t>
            </a:r>
          </a:p>
          <a:p>
            <a:r>
              <a:t>/Users/wentiange/afd-download/dsv4-flash-20260908-rps234/ep16_dp4tp4/chunk_8192/rps_4/repeat_1/result.json</a:t>
            </a:r>
          </a:p>
          <a:p>
            <a:r>
              <a:t>/Users/wentiange/afd-download/dsv4-flash-20260908-rps234/ep16_dp4tp4/chunk_8192/rps_4/repeat_2/result.json</a:t>
            </a:r>
          </a:p>
          <a:p>
            <a:r>
              <a:t>/Users/wentiange/afd-download/dsv4-flash-20260908-rps234/ep16_dp4tp4/chunk_8192/rps_4/repeat_3/result.json</a:t>
            </a:r>
          </a:p>
          <a:p>
            <a:r>
              <a:t>/Users/wentiange/afd-download/dsv4-flash-20260908-rps234/ep16_dp4tp4/chunk_16384/rps_2/repeat_1/result.json</a:t>
            </a:r>
          </a:p>
          <a:p>
            <a:r>
              <a:t>/Users/wentiange/afd-download/dsv4-flash-20260908-rps234/ep16_dp4tp4/chunk_16384/rps_2/repeat_2/result.json</a:t>
            </a:r>
          </a:p>
          <a:p>
            <a:r>
              <a:t>/Users/wentiange/afd-download/dsv4-flash-20260908-rps234/ep16_dp4tp4/chunk_16384/rps_2/repeat_3/result.json</a:t>
            </a:r>
          </a:p>
          <a:p>
            <a:r>
              <a:t>/Users/wentiange/afd-download/dsv4-flash-20260908-rps234/ep16_dp4tp4/chunk_16384/rps_3/repeat_1/result.json</a:t>
            </a:r>
          </a:p>
          <a:p>
            <a:r>
              <a:t>/Users/wentiange/afd-download/dsv4-flash-20260908-rps234/ep16_dp4tp4/chunk_16384/rps_3/repeat_2/result.json</a:t>
            </a:r>
          </a:p>
          <a:p>
            <a:r>
              <a:t>/Users/wentiange/afd-download/dsv4-flash-20260908-rps234/ep16_dp4tp4/chunk_16384/rps_3/repeat_3/result.json</a:t>
            </a:r>
          </a:p>
          <a:p>
            <a:r>
              <a:t>/Users/wentiange/afd-download/dsv4-flash-20260908-rps234/ep16_dp4tp4/chunk_16384/rps_4/repeat_1/result.json</a:t>
            </a:r>
          </a:p>
          <a:p>
            <a:r>
              <a:t>/Users/wentiange/afd-download/dsv4-flash-20260908-rps234/ep16_dp4tp4/chunk_16384/rps_4/repeat_2/result.json</a:t>
            </a:r>
          </a:p>
          <a:p>
            <a:r>
              <a:t>/Users/wentiange/afd-download/dsv4-flash-20260908-rps234/ep16_dp4tp4/chunk_16384/rps_4/repeat_3/result.json</a:t>
            </a:r>
          </a:p>
          <a:p>
            <a:r>
              <a:t>/Users/wentiange/afd-download/dsv4-flash-20260908-rps234/ep16_dp8tp2/chunk_8192/rps_2/repeat_1/result.json</a:t>
            </a:r>
          </a:p>
          <a:p>
            <a:r>
              <a:t>/Users/wentiange/afd-download/dsv4-flash-20260908-rps234/ep16_dp8tp2/chunk_8192/rps_2/repeat_2/result.json</a:t>
            </a:r>
          </a:p>
          <a:p>
            <a:r>
              <a:t>/Users/wentiange/afd-download/dsv4-flash-20260908-rps234/ep16_dp8tp2/chunk_8192/rps_2/repeat_3/result.json</a:t>
            </a:r>
          </a:p>
          <a:p>
            <a:r>
              <a:t>/Users/wentiange/afd-download/dsv4-flash-20260908-rps234/ep16_dp8tp2/chunk_8192/rps_3/repeat_1/result.json</a:t>
            </a:r>
          </a:p>
          <a:p>
            <a:r>
              <a:t>/Users/wentiange/afd-download/dsv4-flash-20260908-rps234/ep16_dp8tp2/chunk_8192/rps_3/repeat_2/result.json</a:t>
            </a:r>
          </a:p>
          <a:p>
            <a:r>
              <a:t>/Users/wentiange/afd-download/dsv4-flash-20260908-rps234/ep16_dp8tp2/chunk_8192/rps_3/repeat_3/result.json</a:t>
            </a:r>
          </a:p>
          <a:p>
            <a:r>
              <a:t>/Users/wentiange/afd-download/dsv4-flash-20260908-rps234/ep16_dp8tp2/chunk_8192/rps_4/repeat_1/result.json</a:t>
            </a:r>
          </a:p>
          <a:p>
            <a:r>
              <a:t>/Users/wentiange/afd-download/dsv4-flash-20260908-rps234/ep16_dp8tp2/chunk_8192/rps_4/repeat_2/result.json</a:t>
            </a:r>
          </a:p>
          <a:p>
            <a:r>
              <a:t>/Users/wentiange/afd-download/dsv4-flash-20260908-rps234/ep16_dp8tp2/chunk_8192/rps_4/repeat_3/result.json</a:t>
            </a:r>
          </a:p>
          <a:p>
            <a:r>
              <a:t>/Users/wentiange/afd-download/dsv4-flash-20260908-rps234/ep16_dp8tp2/chunk_16384/rps_2/repeat_1/result.json</a:t>
            </a:r>
          </a:p>
          <a:p>
            <a:r>
              <a:t>/Users/wentiange/afd-download/dsv4-flash-20260908-rps234/ep16_dp8tp2/chunk_16384/rps_2/repeat_2/result.json</a:t>
            </a:r>
          </a:p>
          <a:p>
            <a:r>
              <a:t>/Users/wentiange/afd-download/dsv4-flash-20260908-rps234/ep16_dp8tp2/chunk_16384/rps_2/repeat_3/result.json</a:t>
            </a:r>
          </a:p>
          <a:p>
            <a:r>
              <a:t>/Users/wentiange/afd-download/dsv4-flash-20260908-rps234/ep16_dp8tp2/chunk_16384/rps_3/repeat_1/result.json</a:t>
            </a:r>
          </a:p>
          <a:p>
            <a:r>
              <a:t>/Users/wentiange/afd-download/dsv4-flash-20260908-rps234/ep16_dp8tp2/chunk_16384/rps_3/repeat_2/result.json</a:t>
            </a:r>
          </a:p>
          <a:p>
            <a:r>
              <a:t>/Users/wentiange/afd-download/dsv4-flash-20260908-rps234/ep16_dp8tp2/chunk_16384/rps_3/repeat_3/result.json</a:t>
            </a:r>
          </a:p>
          <a:p>
            <a:r>
              <a:t>/Users/wentiange/afd-download/dsv4-flash-20260908-rps234/ep16_dp8tp2/chunk_16384/rps_4/repeat_1/result.json</a:t>
            </a:r>
          </a:p>
          <a:p>
            <a:r>
              <a:t>/Users/wentiange/afd-download/dsv4-flash-20260908-rps234/ep16_dp8tp2/chunk_16384/rps_4/repeat_2/result.json</a:t>
            </a:r>
          </a:p>
          <a:p>
            <a:r>
              <a:t>/Users/wentiange/afd-download/dsv4-flash-20260908-rps234/ep16_dp8tp2/chunk_16384/rps_4/repeat_3/result.json</a:t>
            </a:r>
          </a:p>
          <a:p>
            <a:r>
              <a:t>/Users/wentiange/afd-download/dsv4-flash-20260908-rps234/afd_dp4tp2/chunk_65536/rps_3/repeat_1/metrics/attention_before.prom</a:t>
            </a:r>
          </a:p>
          <a:p>
            <a:r>
              <a:t>/Users/wentiange/afd-download/dsv4-flash-20260908-rps234/afd_dp4tp2/chunk_65536/rps_3/repeat_1/metrics/attention_after.prom</a:t>
            </a:r>
          </a:p>
          <a:p>
            <a:r>
              <a:t>/Users/wentiange/afd-download/dsv4-flash-20260908-rps234/afd_dp4tp2/chunk_65536/rps_3/repeat_2/metrics/attention_before.prom</a:t>
            </a:r>
          </a:p>
          <a:p>
            <a:r>
              <a:t>/Users/wentiange/afd-download/dsv4-flash-20260908-rps234/afd_dp4tp2/chunk_65536/rps_3/repeat_2/metrics/attention_after.prom</a:t>
            </a:r>
          </a:p>
          <a:p>
            <a:r>
              <a:t>/Users/wentiange/afd-download/dsv4-flash-20260908-rps234/afd_dp4tp2/chunk_65536/rps_3/repeat_3/metrics/attention_before.prom</a:t>
            </a:r>
          </a:p>
          <a:p>
            <a:r>
              <a:t>/Users/wentiange/afd-download/dsv4-flash-20260908-rps234/afd_dp4tp2/chunk_65536/rps_3/repeat_3/metrics/attention_after.prom</a:t>
            </a:r>
          </a:p>
          <a:p>
            <a:r>
              <a:t>/Users/wentiange/afd-download/dsv4-flash-20260908-rps234/afd_dp4tp2/chunk_65536/rps_4/repeat_1/metrics/attention_before.prom</a:t>
            </a:r>
          </a:p>
          <a:p>
            <a:r>
              <a:t>/Users/wentiange/afd-download/dsv4-flash-20260908-rps234/afd_dp4tp2/chunk_65536/rps_4/repeat_1/metrics/attention_after.prom</a:t>
            </a:r>
          </a:p>
          <a:p>
            <a:r>
              <a:t>/Users/wentiange/afd-download/dsv4-flash-20260908-rps234/afd_dp4tp2/chunk_65536/rps_4/repeat_2/metrics/attention_before.prom</a:t>
            </a:r>
          </a:p>
          <a:p>
            <a:r>
              <a:t>/Users/wentiange/afd-download/dsv4-flash-20260908-rps234/afd_dp4tp2/chunk_65536/rps_4/repeat_2/metrics/attention_after.prom</a:t>
            </a:r>
          </a:p>
          <a:p>
            <a:r>
              <a:t>/Users/wentiange/afd-download/dsv4-flash-20260908-rps234/afd_dp4tp2/chunk_65536/rps_4/repeat_3/metrics/attention_before.prom</a:t>
            </a:r>
          </a:p>
          <a:p>
            <a:r>
              <a:t>/Users/wentiange/afd-download/dsv4-flash-20260908-rps234/afd_dp4tp2/chunk_65536/rps_4/repeat_3/metrics/attention_after.prom</a:t>
            </a:r>
          </a:p>
          <a:p>
            <a:r>
              <a:t>/Users/wentiange/afd-download/dsv4-flash-20260908-afd-length-analysis/summary.csv</a:t>
            </a:r>
          </a:p>
          <a:p>
            <a:r>
              <a:t>/Users/wentiange/afd-download/dsv4-flash-20260908-afd-request-share/requests.csv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实验来源：20260908-rps234（AFD64K、EP16），20260909-afd16k32k-rps234、20260909-afd8k-rps234。AFD64K及EP16每档3轮，AFD8/16/32K每档1轮。TTFT分位数为逐轮分位数均值；长度分组页使用合并三轮成功请求分位数。少量请求失败保留实验，不纳入延迟。metrics为每轮Attention API histogram before/after差分sum/count，再取三轮均值。请求级M(r)按DP rank本地batch计算，非耗时占比、空泡率或硬件效率。数据与分析来源：</a:t>
            </a:r>
          </a:p>
          <a:p>
            <a:r>
              <a:t>/Users/wentiange/afd-download/dsv4-flash-20260909-afd8k-rps234/afd_dp4tp2/chunk_8192/rps_2/repeat_1/result.json</a:t>
            </a:r>
          </a:p>
          <a:p>
            <a:r>
              <a:t>/Users/wentiange/afd-download/dsv4-flash-20260909-afd8k-rps234/afd_dp4tp2/chunk_8192/rps_3/repeat_1/result.json</a:t>
            </a:r>
          </a:p>
          <a:p>
            <a:r>
              <a:t>/Users/wentiange/afd-download/dsv4-flash-20260909-afd8k-rps234/afd_dp4tp2/chunk_8192/rps_4/repeat_1/result.json</a:t>
            </a:r>
          </a:p>
          <a:p>
            <a:r>
              <a:t>/Users/wentiange/afd-download/dsv4-flash-20260909-afd16k32k-rps234/afd_dp4tp2/chunk_16384/rps_2/repeat_1/result.json</a:t>
            </a:r>
          </a:p>
          <a:p>
            <a:r>
              <a:t>/Users/wentiange/afd-download/dsv4-flash-20260909-afd16k32k-rps234/afd_dp4tp2/chunk_16384/rps_3/repeat_1/result.json</a:t>
            </a:r>
          </a:p>
          <a:p>
            <a:r>
              <a:t>/Users/wentiange/afd-download/dsv4-flash-20260909-afd16k32k-rps234/afd_dp4tp2/chunk_16384/rps_4/repeat_1/result.json</a:t>
            </a:r>
          </a:p>
          <a:p>
            <a:r>
              <a:t>/Users/wentiange/afd-download/dsv4-flash-20260909-afd16k32k-rps234/afd_dp4tp2/chunk_32768/rps_2/repeat_1/result.json</a:t>
            </a:r>
          </a:p>
          <a:p>
            <a:r>
              <a:t>/Users/wentiange/afd-download/dsv4-flash-20260909-afd16k32k-rps234/afd_dp4tp2/chunk_32768/rps_3/repeat_1/result.json</a:t>
            </a:r>
          </a:p>
          <a:p>
            <a:r>
              <a:t>/Users/wentiange/afd-download/dsv4-flash-20260909-afd16k32k-rps234/afd_dp4tp2/chunk_32768/rps_4/repeat_1/result.json</a:t>
            </a:r>
          </a:p>
          <a:p>
            <a:r>
              <a:t>/Users/wentiange/afd-download/dsv4-flash-20260908-rps234/afd_dp4tp2/chunk_65536/rps_2/repeat_1/result.json</a:t>
            </a:r>
          </a:p>
          <a:p>
            <a:r>
              <a:t>/Users/wentiange/afd-download/dsv4-flash-20260908-rps234/afd_dp4tp2/chunk_65536/rps_2/repeat_2/result.json</a:t>
            </a:r>
          </a:p>
          <a:p>
            <a:r>
              <a:t>/Users/wentiange/afd-download/dsv4-flash-20260908-rps234/afd_dp4tp2/chunk_65536/rps_2/repeat_3/result.json</a:t>
            </a:r>
          </a:p>
          <a:p>
            <a:r>
              <a:t>/Users/wentiange/afd-download/dsv4-flash-20260908-rps234/afd_dp4tp2/chunk_65536/rps_3/repeat_1/result.json</a:t>
            </a:r>
          </a:p>
          <a:p>
            <a:r>
              <a:t>/Users/wentiange/afd-download/dsv4-flash-20260908-rps234/afd_dp4tp2/chunk_65536/rps_3/repeat_2/result.json</a:t>
            </a:r>
          </a:p>
          <a:p>
            <a:r>
              <a:t>/Users/wentiange/afd-download/dsv4-flash-20260908-rps234/afd_dp4tp2/chunk_65536/rps_3/repeat_3/result.json</a:t>
            </a:r>
          </a:p>
          <a:p>
            <a:r>
              <a:t>/Users/wentiange/afd-download/dsv4-flash-20260908-rps234/afd_dp4tp2/chunk_65536/rps_4/repeat_1/result.json</a:t>
            </a:r>
          </a:p>
          <a:p>
            <a:r>
              <a:t>/Users/wentiange/afd-download/dsv4-flash-20260908-rps234/afd_dp4tp2/chunk_65536/rps_4/repeat_2/result.json</a:t>
            </a:r>
          </a:p>
          <a:p>
            <a:r>
              <a:t>/Users/wentiange/afd-download/dsv4-flash-20260908-rps234/afd_dp4tp2/chunk_65536/rps_4/repeat_3/result.json</a:t>
            </a:r>
          </a:p>
          <a:p>
            <a:r>
              <a:t>/Users/wentiange/afd-download/dsv4-flash-20260908-rps234/ep16_dp4tp4/chunk_8192/rps_2/repeat_1/result.json</a:t>
            </a:r>
          </a:p>
          <a:p>
            <a:r>
              <a:t>/Users/wentiange/afd-download/dsv4-flash-20260908-rps234/ep16_dp4tp4/chunk_8192/rps_2/repeat_2/result.json</a:t>
            </a:r>
          </a:p>
          <a:p>
            <a:r>
              <a:t>/Users/wentiange/afd-download/dsv4-flash-20260908-rps234/ep16_dp4tp4/chunk_8192/rps_2/repeat_3/result.json</a:t>
            </a:r>
          </a:p>
          <a:p>
            <a:r>
              <a:t>/Users/wentiange/afd-download/dsv4-flash-20260908-rps234/ep16_dp4tp4/chunk_8192/rps_3/repeat_1/result.json</a:t>
            </a:r>
          </a:p>
          <a:p>
            <a:r>
              <a:t>/Users/wentiange/afd-download/dsv4-flash-20260908-rps234/ep16_dp4tp4/chunk_8192/rps_3/repeat_2/result.json</a:t>
            </a:r>
          </a:p>
          <a:p>
            <a:r>
              <a:t>/Users/wentiange/afd-download/dsv4-flash-20260908-rps234/ep16_dp4tp4/chunk_8192/rps_3/repeat_3/result.json</a:t>
            </a:r>
          </a:p>
          <a:p>
            <a:r>
              <a:t>/Users/wentiange/afd-download/dsv4-flash-20260908-rps234/ep16_dp4tp4/chunk_8192/rps_4/repeat_1/result.json</a:t>
            </a:r>
          </a:p>
          <a:p>
            <a:r>
              <a:t>/Users/wentiange/afd-download/dsv4-flash-20260908-rps234/ep16_dp4tp4/chunk_8192/rps_4/repeat_2/result.json</a:t>
            </a:r>
          </a:p>
          <a:p>
            <a:r>
              <a:t>/Users/wentiange/afd-download/dsv4-flash-20260908-rps234/ep16_dp4tp4/chunk_8192/rps_4/repeat_3/result.json</a:t>
            </a:r>
          </a:p>
          <a:p>
            <a:r>
              <a:t>/Users/wentiange/afd-download/dsv4-flash-20260908-rps234/ep16_dp4tp4/chunk_16384/rps_2/repeat_1/result.json</a:t>
            </a:r>
          </a:p>
          <a:p>
            <a:r>
              <a:t>/Users/wentiange/afd-download/dsv4-flash-20260908-rps234/ep16_dp4tp4/chunk_16384/rps_2/repeat_2/result.json</a:t>
            </a:r>
          </a:p>
          <a:p>
            <a:r>
              <a:t>/Users/wentiange/afd-download/dsv4-flash-20260908-rps234/ep16_dp4tp4/chunk_16384/rps_2/repeat_3/result.json</a:t>
            </a:r>
          </a:p>
          <a:p>
            <a:r>
              <a:t>/Users/wentiange/afd-download/dsv4-flash-20260908-rps234/ep16_dp4tp4/chunk_16384/rps_3/repeat_1/result.json</a:t>
            </a:r>
          </a:p>
          <a:p>
            <a:r>
              <a:t>/Users/wentiange/afd-download/dsv4-flash-20260908-rps234/ep16_dp4tp4/chunk_16384/rps_3/repeat_2/result.json</a:t>
            </a:r>
          </a:p>
          <a:p>
            <a:r>
              <a:t>/Users/wentiange/afd-download/dsv4-flash-20260908-rps234/ep16_dp4tp4/chunk_16384/rps_3/repeat_3/result.json</a:t>
            </a:r>
          </a:p>
          <a:p>
            <a:r>
              <a:t>/Users/wentiange/afd-download/dsv4-flash-20260908-rps234/ep16_dp4tp4/chunk_16384/rps_4/repeat_1/result.json</a:t>
            </a:r>
          </a:p>
          <a:p>
            <a:r>
              <a:t>/Users/wentiange/afd-download/dsv4-flash-20260908-rps234/ep16_dp4tp4/chunk_16384/rps_4/repeat_2/result.json</a:t>
            </a:r>
          </a:p>
          <a:p>
            <a:r>
              <a:t>/Users/wentiange/afd-download/dsv4-flash-20260908-rps234/ep16_dp4tp4/chunk_16384/rps_4/repeat_3/result.json</a:t>
            </a:r>
          </a:p>
          <a:p>
            <a:r>
              <a:t>/Users/wentiange/afd-download/dsv4-flash-20260908-rps234/ep16_dp8tp2/chunk_8192/rps_2/repeat_1/result.json</a:t>
            </a:r>
          </a:p>
          <a:p>
            <a:r>
              <a:t>/Users/wentiange/afd-download/dsv4-flash-20260908-rps234/ep16_dp8tp2/chunk_8192/rps_2/repeat_2/result.json</a:t>
            </a:r>
          </a:p>
          <a:p>
            <a:r>
              <a:t>/Users/wentiange/afd-download/dsv4-flash-20260908-rps234/ep16_dp8tp2/chunk_8192/rps_2/repeat_3/result.json</a:t>
            </a:r>
          </a:p>
          <a:p>
            <a:r>
              <a:t>/Users/wentiange/afd-download/dsv4-flash-20260908-rps234/ep16_dp8tp2/chunk_8192/rps_3/repeat_1/result.json</a:t>
            </a:r>
          </a:p>
          <a:p>
            <a:r>
              <a:t>/Users/wentiange/afd-download/dsv4-flash-20260908-rps234/ep16_dp8tp2/chunk_8192/rps_3/repeat_2/result.json</a:t>
            </a:r>
          </a:p>
          <a:p>
            <a:r>
              <a:t>/Users/wentiange/afd-download/dsv4-flash-20260908-rps234/ep16_dp8tp2/chunk_8192/rps_3/repeat_3/result.json</a:t>
            </a:r>
          </a:p>
          <a:p>
            <a:r>
              <a:t>/Users/wentiange/afd-download/dsv4-flash-20260908-rps234/ep16_dp8tp2/chunk_8192/rps_4/repeat_1/result.json</a:t>
            </a:r>
          </a:p>
          <a:p>
            <a:r>
              <a:t>/Users/wentiange/afd-download/dsv4-flash-20260908-rps234/ep16_dp8tp2/chunk_8192/rps_4/repeat_2/result.json</a:t>
            </a:r>
          </a:p>
          <a:p>
            <a:r>
              <a:t>/Users/wentiange/afd-download/dsv4-flash-20260908-rps234/ep16_dp8tp2/chunk_8192/rps_4/repeat_3/result.json</a:t>
            </a:r>
          </a:p>
          <a:p>
            <a:r>
              <a:t>/Users/wentiange/afd-download/dsv4-flash-20260908-rps234/ep16_dp8tp2/chunk_16384/rps_2/repeat_1/result.json</a:t>
            </a:r>
          </a:p>
          <a:p>
            <a:r>
              <a:t>/Users/wentiange/afd-download/dsv4-flash-20260908-rps234/ep16_dp8tp2/chunk_16384/rps_2/repeat_2/result.json</a:t>
            </a:r>
          </a:p>
          <a:p>
            <a:r>
              <a:t>/Users/wentiange/afd-download/dsv4-flash-20260908-rps234/ep16_dp8tp2/chunk_16384/rps_2/repeat_3/result.json</a:t>
            </a:r>
          </a:p>
          <a:p>
            <a:r>
              <a:t>/Users/wentiange/afd-download/dsv4-flash-20260908-rps234/ep16_dp8tp2/chunk_16384/rps_3/repeat_1/result.json</a:t>
            </a:r>
          </a:p>
          <a:p>
            <a:r>
              <a:t>/Users/wentiange/afd-download/dsv4-flash-20260908-rps234/ep16_dp8tp2/chunk_16384/rps_3/repeat_2/result.json</a:t>
            </a:r>
          </a:p>
          <a:p>
            <a:r>
              <a:t>/Users/wentiange/afd-download/dsv4-flash-20260908-rps234/ep16_dp8tp2/chunk_16384/rps_3/repeat_3/result.json</a:t>
            </a:r>
          </a:p>
          <a:p>
            <a:r>
              <a:t>/Users/wentiange/afd-download/dsv4-flash-20260908-rps234/ep16_dp8tp2/chunk_16384/rps_4/repeat_1/result.json</a:t>
            </a:r>
          </a:p>
          <a:p>
            <a:r>
              <a:t>/Users/wentiange/afd-download/dsv4-flash-20260908-rps234/ep16_dp8tp2/chunk_16384/rps_4/repeat_2/result.json</a:t>
            </a:r>
          </a:p>
          <a:p>
            <a:r>
              <a:t>/Users/wentiange/afd-download/dsv4-flash-20260908-rps234/ep16_dp8tp2/chunk_16384/rps_4/repeat_3/result.json</a:t>
            </a:r>
          </a:p>
          <a:p>
            <a:r>
              <a:t>/Users/wentiange/afd-download/dsv4-flash-20260908-rps234/afd_dp4tp2/chunk_65536/rps_3/repeat_1/metrics/attention_before.prom</a:t>
            </a:r>
          </a:p>
          <a:p>
            <a:r>
              <a:t>/Users/wentiange/afd-download/dsv4-flash-20260908-rps234/afd_dp4tp2/chunk_65536/rps_3/repeat_1/metrics/attention_after.prom</a:t>
            </a:r>
          </a:p>
          <a:p>
            <a:r>
              <a:t>/Users/wentiange/afd-download/dsv4-flash-20260908-rps234/afd_dp4tp2/chunk_65536/rps_3/repeat_2/metrics/attention_before.prom</a:t>
            </a:r>
          </a:p>
          <a:p>
            <a:r>
              <a:t>/Users/wentiange/afd-download/dsv4-flash-20260908-rps234/afd_dp4tp2/chunk_65536/rps_3/repeat_2/metrics/attention_after.prom</a:t>
            </a:r>
          </a:p>
          <a:p>
            <a:r>
              <a:t>/Users/wentiange/afd-download/dsv4-flash-20260908-rps234/afd_dp4tp2/chunk_65536/rps_3/repeat_3/metrics/attention_before.prom</a:t>
            </a:r>
          </a:p>
          <a:p>
            <a:r>
              <a:t>/Users/wentiange/afd-download/dsv4-flash-20260908-rps234/afd_dp4tp2/chunk_65536/rps_3/repeat_3/metrics/attention_after.prom</a:t>
            </a:r>
          </a:p>
          <a:p>
            <a:r>
              <a:t>/Users/wentiange/afd-download/dsv4-flash-20260908-rps234/afd_dp4tp2/chunk_65536/rps_4/repeat_1/metrics/attention_before.prom</a:t>
            </a:r>
          </a:p>
          <a:p>
            <a:r>
              <a:t>/Users/wentiange/afd-download/dsv4-flash-20260908-rps234/afd_dp4tp2/chunk_65536/rps_4/repeat_1/metrics/attention_after.prom</a:t>
            </a:r>
          </a:p>
          <a:p>
            <a:r>
              <a:t>/Users/wentiange/afd-download/dsv4-flash-20260908-rps234/afd_dp4tp2/chunk_65536/rps_4/repeat_2/metrics/attention_before.prom</a:t>
            </a:r>
          </a:p>
          <a:p>
            <a:r>
              <a:t>/Users/wentiange/afd-download/dsv4-flash-20260908-rps234/afd_dp4tp2/chunk_65536/rps_4/repeat_2/metrics/attention_after.prom</a:t>
            </a:r>
          </a:p>
          <a:p>
            <a:r>
              <a:t>/Users/wentiange/afd-download/dsv4-flash-20260908-rps234/afd_dp4tp2/chunk_65536/rps_4/repeat_3/metrics/attention_before.prom</a:t>
            </a:r>
          </a:p>
          <a:p>
            <a:r>
              <a:t>/Users/wentiange/afd-download/dsv4-flash-20260908-rps234/afd_dp4tp2/chunk_65536/rps_4/repeat_3/metrics/attention_after.prom</a:t>
            </a:r>
          </a:p>
          <a:p>
            <a:r>
              <a:t>/Users/wentiange/afd-download/dsv4-flash-20260908-afd-length-analysis/summary.csv</a:t>
            </a:r>
          </a:p>
          <a:p>
            <a:r>
              <a:t>/Users/wentiange/afd-download/dsv4-flash-20260908-afd-request-share/requests.csv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实验来源：20260908-rps234（AFD64K、EP16），20260909-afd16k32k-rps234、20260909-afd8k-rps234。AFD64K及EP16每档3轮，AFD8/16/32K每档1轮。TTFT分位数为逐轮分位数均值；长度分组页使用合并三轮成功请求分位数。少量请求失败保留实验，不纳入延迟。metrics为每轮Attention API histogram before/after差分sum/count，再取三轮均值。请求级M(r)按DP rank本地batch计算，非耗时占比、空泡率或硬件效率。数据与分析来源：</a:t>
            </a:r>
          </a:p>
          <a:p>
            <a:r>
              <a:t>/Users/wentiange/afd-download/dsv4-flash-20260909-afd8k-rps234/afd_dp4tp2/chunk_8192/rps_2/repeat_1/result.json</a:t>
            </a:r>
          </a:p>
          <a:p>
            <a:r>
              <a:t>/Users/wentiange/afd-download/dsv4-flash-20260909-afd8k-rps234/afd_dp4tp2/chunk_8192/rps_3/repeat_1/result.json</a:t>
            </a:r>
          </a:p>
          <a:p>
            <a:r>
              <a:t>/Users/wentiange/afd-download/dsv4-flash-20260909-afd8k-rps234/afd_dp4tp2/chunk_8192/rps_4/repeat_1/result.json</a:t>
            </a:r>
          </a:p>
          <a:p>
            <a:r>
              <a:t>/Users/wentiange/afd-download/dsv4-flash-20260909-afd16k32k-rps234/afd_dp4tp2/chunk_16384/rps_2/repeat_1/result.json</a:t>
            </a:r>
          </a:p>
          <a:p>
            <a:r>
              <a:t>/Users/wentiange/afd-download/dsv4-flash-20260909-afd16k32k-rps234/afd_dp4tp2/chunk_16384/rps_3/repeat_1/result.json</a:t>
            </a:r>
          </a:p>
          <a:p>
            <a:r>
              <a:t>/Users/wentiange/afd-download/dsv4-flash-20260909-afd16k32k-rps234/afd_dp4tp2/chunk_16384/rps_4/repeat_1/result.json</a:t>
            </a:r>
          </a:p>
          <a:p>
            <a:r>
              <a:t>/Users/wentiange/afd-download/dsv4-flash-20260909-afd16k32k-rps234/afd_dp4tp2/chunk_32768/rps_2/repeat_1/result.json</a:t>
            </a:r>
          </a:p>
          <a:p>
            <a:r>
              <a:t>/Users/wentiange/afd-download/dsv4-flash-20260909-afd16k32k-rps234/afd_dp4tp2/chunk_32768/rps_3/repeat_1/result.json</a:t>
            </a:r>
          </a:p>
          <a:p>
            <a:r>
              <a:t>/Users/wentiange/afd-download/dsv4-flash-20260909-afd16k32k-rps234/afd_dp4tp2/chunk_32768/rps_4/repeat_1/result.json</a:t>
            </a:r>
          </a:p>
          <a:p>
            <a:r>
              <a:t>/Users/wentiange/afd-download/dsv4-flash-20260908-rps234/afd_dp4tp2/chunk_65536/rps_2/repeat_1/result.json</a:t>
            </a:r>
          </a:p>
          <a:p>
            <a:r>
              <a:t>/Users/wentiange/afd-download/dsv4-flash-20260908-rps234/afd_dp4tp2/chunk_65536/rps_2/repeat_2/result.json</a:t>
            </a:r>
          </a:p>
          <a:p>
            <a:r>
              <a:t>/Users/wentiange/afd-download/dsv4-flash-20260908-rps234/afd_dp4tp2/chunk_65536/rps_2/repeat_3/result.json</a:t>
            </a:r>
          </a:p>
          <a:p>
            <a:r>
              <a:t>/Users/wentiange/afd-download/dsv4-flash-20260908-rps234/afd_dp4tp2/chunk_65536/rps_3/repeat_1/result.json</a:t>
            </a:r>
          </a:p>
          <a:p>
            <a:r>
              <a:t>/Users/wentiange/afd-download/dsv4-flash-20260908-rps234/afd_dp4tp2/chunk_65536/rps_3/repeat_2/result.json</a:t>
            </a:r>
          </a:p>
          <a:p>
            <a:r>
              <a:t>/Users/wentiange/afd-download/dsv4-flash-20260908-rps234/afd_dp4tp2/chunk_65536/rps_3/repeat_3/result.json</a:t>
            </a:r>
          </a:p>
          <a:p>
            <a:r>
              <a:t>/Users/wentiange/afd-download/dsv4-flash-20260908-rps234/afd_dp4tp2/chunk_65536/rps_4/repeat_1/result.json</a:t>
            </a:r>
          </a:p>
          <a:p>
            <a:r>
              <a:t>/Users/wentiange/afd-download/dsv4-flash-20260908-rps234/afd_dp4tp2/chunk_65536/rps_4/repeat_2/result.json</a:t>
            </a:r>
          </a:p>
          <a:p>
            <a:r>
              <a:t>/Users/wentiange/afd-download/dsv4-flash-20260908-rps234/afd_dp4tp2/chunk_65536/rps_4/repeat_3/result.json</a:t>
            </a:r>
          </a:p>
          <a:p>
            <a:r>
              <a:t>/Users/wentiange/afd-download/dsv4-flash-20260908-rps234/ep16_dp4tp4/chunk_8192/rps_2/repeat_1/result.json</a:t>
            </a:r>
          </a:p>
          <a:p>
            <a:r>
              <a:t>/Users/wentiange/afd-download/dsv4-flash-20260908-rps234/ep16_dp4tp4/chunk_8192/rps_2/repeat_2/result.json</a:t>
            </a:r>
          </a:p>
          <a:p>
            <a:r>
              <a:t>/Users/wentiange/afd-download/dsv4-flash-20260908-rps234/ep16_dp4tp4/chunk_8192/rps_2/repeat_3/result.json</a:t>
            </a:r>
          </a:p>
          <a:p>
            <a:r>
              <a:t>/Users/wentiange/afd-download/dsv4-flash-20260908-rps234/ep16_dp4tp4/chunk_8192/rps_3/repeat_1/result.json</a:t>
            </a:r>
          </a:p>
          <a:p>
            <a:r>
              <a:t>/Users/wentiange/afd-download/dsv4-flash-20260908-rps234/ep16_dp4tp4/chunk_8192/rps_3/repeat_2/result.json</a:t>
            </a:r>
          </a:p>
          <a:p>
            <a:r>
              <a:t>/Users/wentiange/afd-download/dsv4-flash-20260908-rps234/ep16_dp4tp4/chunk_8192/rps_3/repeat_3/result.json</a:t>
            </a:r>
          </a:p>
          <a:p>
            <a:r>
              <a:t>/Users/wentiange/afd-download/dsv4-flash-20260908-rps234/ep16_dp4tp4/chunk_8192/rps_4/repeat_1/result.json</a:t>
            </a:r>
          </a:p>
          <a:p>
            <a:r>
              <a:t>/Users/wentiange/afd-download/dsv4-flash-20260908-rps234/ep16_dp4tp4/chunk_8192/rps_4/repeat_2/result.json</a:t>
            </a:r>
          </a:p>
          <a:p>
            <a:r>
              <a:t>/Users/wentiange/afd-download/dsv4-flash-20260908-rps234/ep16_dp4tp4/chunk_8192/rps_4/repeat_3/result.json</a:t>
            </a:r>
          </a:p>
          <a:p>
            <a:r>
              <a:t>/Users/wentiange/afd-download/dsv4-flash-20260908-rps234/ep16_dp4tp4/chunk_16384/rps_2/repeat_1/result.json</a:t>
            </a:r>
          </a:p>
          <a:p>
            <a:r>
              <a:t>/Users/wentiange/afd-download/dsv4-flash-20260908-rps234/ep16_dp4tp4/chunk_16384/rps_2/repeat_2/result.json</a:t>
            </a:r>
          </a:p>
          <a:p>
            <a:r>
              <a:t>/Users/wentiange/afd-download/dsv4-flash-20260908-rps234/ep16_dp4tp4/chunk_16384/rps_2/repeat_3/result.json</a:t>
            </a:r>
          </a:p>
          <a:p>
            <a:r>
              <a:t>/Users/wentiange/afd-download/dsv4-flash-20260908-rps234/ep16_dp4tp4/chunk_16384/rps_3/repeat_1/result.json</a:t>
            </a:r>
          </a:p>
          <a:p>
            <a:r>
              <a:t>/Users/wentiange/afd-download/dsv4-flash-20260908-rps234/ep16_dp4tp4/chunk_16384/rps_3/repeat_2/result.json</a:t>
            </a:r>
          </a:p>
          <a:p>
            <a:r>
              <a:t>/Users/wentiange/afd-download/dsv4-flash-20260908-rps234/ep16_dp4tp4/chunk_16384/rps_3/repeat_3/result.json</a:t>
            </a:r>
          </a:p>
          <a:p>
            <a:r>
              <a:t>/Users/wentiange/afd-download/dsv4-flash-20260908-rps234/ep16_dp4tp4/chunk_16384/rps_4/repeat_1/result.json</a:t>
            </a:r>
          </a:p>
          <a:p>
            <a:r>
              <a:t>/Users/wentiange/afd-download/dsv4-flash-20260908-rps234/ep16_dp4tp4/chunk_16384/rps_4/repeat_2/result.json</a:t>
            </a:r>
          </a:p>
          <a:p>
            <a:r>
              <a:t>/Users/wentiange/afd-download/dsv4-flash-20260908-rps234/ep16_dp4tp4/chunk_16384/rps_4/repeat_3/result.json</a:t>
            </a:r>
          </a:p>
          <a:p>
            <a:r>
              <a:t>/Users/wentiange/afd-download/dsv4-flash-20260908-rps234/ep16_dp8tp2/chunk_8192/rps_2/repeat_1/result.json</a:t>
            </a:r>
          </a:p>
          <a:p>
            <a:r>
              <a:t>/Users/wentiange/afd-download/dsv4-flash-20260908-rps234/ep16_dp8tp2/chunk_8192/rps_2/repeat_2/result.json</a:t>
            </a:r>
          </a:p>
          <a:p>
            <a:r>
              <a:t>/Users/wentiange/afd-download/dsv4-flash-20260908-rps234/ep16_dp8tp2/chunk_8192/rps_2/repeat_3/result.json</a:t>
            </a:r>
          </a:p>
          <a:p>
            <a:r>
              <a:t>/Users/wentiange/afd-download/dsv4-flash-20260908-rps234/ep16_dp8tp2/chunk_8192/rps_3/repeat_1/result.json</a:t>
            </a:r>
          </a:p>
          <a:p>
            <a:r>
              <a:t>/Users/wentiange/afd-download/dsv4-flash-20260908-rps234/ep16_dp8tp2/chunk_8192/rps_3/repeat_2/result.json</a:t>
            </a:r>
          </a:p>
          <a:p>
            <a:r>
              <a:t>/Users/wentiange/afd-download/dsv4-flash-20260908-rps234/ep16_dp8tp2/chunk_8192/rps_3/repeat_3/result.json</a:t>
            </a:r>
          </a:p>
          <a:p>
            <a:r>
              <a:t>/Users/wentiange/afd-download/dsv4-flash-20260908-rps234/ep16_dp8tp2/chunk_8192/rps_4/repeat_1/result.json</a:t>
            </a:r>
          </a:p>
          <a:p>
            <a:r>
              <a:t>/Users/wentiange/afd-download/dsv4-flash-20260908-rps234/ep16_dp8tp2/chunk_8192/rps_4/repeat_2/result.json</a:t>
            </a:r>
          </a:p>
          <a:p>
            <a:r>
              <a:t>/Users/wentiange/afd-download/dsv4-flash-20260908-rps234/ep16_dp8tp2/chunk_8192/rps_4/repeat_3/result.json</a:t>
            </a:r>
          </a:p>
          <a:p>
            <a:r>
              <a:t>/Users/wentiange/afd-download/dsv4-flash-20260908-rps234/ep16_dp8tp2/chunk_16384/rps_2/repeat_1/result.json</a:t>
            </a:r>
          </a:p>
          <a:p>
            <a:r>
              <a:t>/Users/wentiange/afd-download/dsv4-flash-20260908-rps234/ep16_dp8tp2/chunk_16384/rps_2/repeat_2/result.json</a:t>
            </a:r>
          </a:p>
          <a:p>
            <a:r>
              <a:t>/Users/wentiange/afd-download/dsv4-flash-20260908-rps234/ep16_dp8tp2/chunk_16384/rps_2/repeat_3/result.json</a:t>
            </a:r>
          </a:p>
          <a:p>
            <a:r>
              <a:t>/Users/wentiange/afd-download/dsv4-flash-20260908-rps234/ep16_dp8tp2/chunk_16384/rps_3/repeat_1/result.json</a:t>
            </a:r>
          </a:p>
          <a:p>
            <a:r>
              <a:t>/Users/wentiange/afd-download/dsv4-flash-20260908-rps234/ep16_dp8tp2/chunk_16384/rps_3/repeat_2/result.json</a:t>
            </a:r>
          </a:p>
          <a:p>
            <a:r>
              <a:t>/Users/wentiange/afd-download/dsv4-flash-20260908-rps234/ep16_dp8tp2/chunk_16384/rps_3/repeat_3/result.json</a:t>
            </a:r>
          </a:p>
          <a:p>
            <a:r>
              <a:t>/Users/wentiange/afd-download/dsv4-flash-20260908-rps234/ep16_dp8tp2/chunk_16384/rps_4/repeat_1/result.json</a:t>
            </a:r>
          </a:p>
          <a:p>
            <a:r>
              <a:t>/Users/wentiange/afd-download/dsv4-flash-20260908-rps234/ep16_dp8tp2/chunk_16384/rps_4/repeat_2/result.json</a:t>
            </a:r>
          </a:p>
          <a:p>
            <a:r>
              <a:t>/Users/wentiange/afd-download/dsv4-flash-20260908-rps234/ep16_dp8tp2/chunk_16384/rps_4/repeat_3/result.json</a:t>
            </a:r>
          </a:p>
          <a:p>
            <a:r>
              <a:t>/Users/wentiange/afd-download/dsv4-flash-20260908-rps234/afd_dp4tp2/chunk_65536/rps_3/repeat_1/metrics/attention_before.prom</a:t>
            </a:r>
          </a:p>
          <a:p>
            <a:r>
              <a:t>/Users/wentiange/afd-download/dsv4-flash-20260908-rps234/afd_dp4tp2/chunk_65536/rps_3/repeat_1/metrics/attention_after.prom</a:t>
            </a:r>
          </a:p>
          <a:p>
            <a:r>
              <a:t>/Users/wentiange/afd-download/dsv4-flash-20260908-rps234/afd_dp4tp2/chunk_65536/rps_3/repeat_2/metrics/attention_before.prom</a:t>
            </a:r>
          </a:p>
          <a:p>
            <a:r>
              <a:t>/Users/wentiange/afd-download/dsv4-flash-20260908-rps234/afd_dp4tp2/chunk_65536/rps_3/repeat_2/metrics/attention_after.prom</a:t>
            </a:r>
          </a:p>
          <a:p>
            <a:r>
              <a:t>/Users/wentiange/afd-download/dsv4-flash-20260908-rps234/afd_dp4tp2/chunk_65536/rps_3/repeat_3/metrics/attention_before.prom</a:t>
            </a:r>
          </a:p>
          <a:p>
            <a:r>
              <a:t>/Users/wentiange/afd-download/dsv4-flash-20260908-rps234/afd_dp4tp2/chunk_65536/rps_3/repeat_3/metrics/attention_after.prom</a:t>
            </a:r>
          </a:p>
          <a:p>
            <a:r>
              <a:t>/Users/wentiange/afd-download/dsv4-flash-20260908-rps234/afd_dp4tp2/chunk_65536/rps_4/repeat_1/metrics/attention_before.prom</a:t>
            </a:r>
          </a:p>
          <a:p>
            <a:r>
              <a:t>/Users/wentiange/afd-download/dsv4-flash-20260908-rps234/afd_dp4tp2/chunk_65536/rps_4/repeat_1/metrics/attention_after.prom</a:t>
            </a:r>
          </a:p>
          <a:p>
            <a:r>
              <a:t>/Users/wentiange/afd-download/dsv4-flash-20260908-rps234/afd_dp4tp2/chunk_65536/rps_4/repeat_2/metrics/attention_before.prom</a:t>
            </a:r>
          </a:p>
          <a:p>
            <a:r>
              <a:t>/Users/wentiange/afd-download/dsv4-flash-20260908-rps234/afd_dp4tp2/chunk_65536/rps_4/repeat_2/metrics/attention_after.prom</a:t>
            </a:r>
          </a:p>
          <a:p>
            <a:r>
              <a:t>/Users/wentiange/afd-download/dsv4-flash-20260908-rps234/afd_dp4tp2/chunk_65536/rps_4/repeat_3/metrics/attention_before.prom</a:t>
            </a:r>
          </a:p>
          <a:p>
            <a:r>
              <a:t>/Users/wentiange/afd-download/dsv4-flash-20260908-rps234/afd_dp4tp2/chunk_65536/rps_4/repeat_3/metrics/attention_after.prom</a:t>
            </a:r>
          </a:p>
          <a:p>
            <a:r>
              <a:t>/Users/wentiange/afd-download/dsv4-flash-20260908-afd-length-analysis/summary.csv</a:t>
            </a:r>
          </a:p>
          <a:p>
            <a:r>
              <a:t>/Users/wentiange/afd-download/dsv4-flash-20260908-afd-request-share/requests.csv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实验来源：20260908-rps234（AFD64K、EP16），20260909-afd16k32k-rps234、20260909-afd8k-rps234。AFD64K及EP16每档3轮，AFD8/16/32K每档1轮。TTFT分位数为逐轮分位数均值；长度分组页使用合并三轮成功请求分位数。少量请求失败保留实验，不纳入延迟。metrics为每轮Attention API histogram before/after差分sum/count，再取三轮均值。请求级M(r)按DP rank本地batch计算，非耗时占比、空泡率或硬件效率。数据与分析来源：</a:t>
            </a:r>
          </a:p>
          <a:p>
            <a:r>
              <a:t>/Users/wentiange/afd-download/dsv4-flash-20260909-afd8k-rps234/afd_dp4tp2/chunk_8192/rps_2/repeat_1/result.json</a:t>
            </a:r>
          </a:p>
          <a:p>
            <a:r>
              <a:t>/Users/wentiange/afd-download/dsv4-flash-20260909-afd8k-rps234/afd_dp4tp2/chunk_8192/rps_3/repeat_1/result.json</a:t>
            </a:r>
          </a:p>
          <a:p>
            <a:r>
              <a:t>/Users/wentiange/afd-download/dsv4-flash-20260909-afd8k-rps234/afd_dp4tp2/chunk_8192/rps_4/repeat_1/result.json</a:t>
            </a:r>
          </a:p>
          <a:p>
            <a:r>
              <a:t>/Users/wentiange/afd-download/dsv4-flash-20260909-afd16k32k-rps234/afd_dp4tp2/chunk_16384/rps_2/repeat_1/result.json</a:t>
            </a:r>
          </a:p>
          <a:p>
            <a:r>
              <a:t>/Users/wentiange/afd-download/dsv4-flash-20260909-afd16k32k-rps234/afd_dp4tp2/chunk_16384/rps_3/repeat_1/result.json</a:t>
            </a:r>
          </a:p>
          <a:p>
            <a:r>
              <a:t>/Users/wentiange/afd-download/dsv4-flash-20260909-afd16k32k-rps234/afd_dp4tp2/chunk_16384/rps_4/repeat_1/result.json</a:t>
            </a:r>
          </a:p>
          <a:p>
            <a:r>
              <a:t>/Users/wentiange/afd-download/dsv4-flash-20260909-afd16k32k-rps234/afd_dp4tp2/chunk_32768/rps_2/repeat_1/result.json</a:t>
            </a:r>
          </a:p>
          <a:p>
            <a:r>
              <a:t>/Users/wentiange/afd-download/dsv4-flash-20260909-afd16k32k-rps234/afd_dp4tp2/chunk_32768/rps_3/repeat_1/result.json</a:t>
            </a:r>
          </a:p>
          <a:p>
            <a:r>
              <a:t>/Users/wentiange/afd-download/dsv4-flash-20260909-afd16k32k-rps234/afd_dp4tp2/chunk_32768/rps_4/repeat_1/result.json</a:t>
            </a:r>
          </a:p>
          <a:p>
            <a:r>
              <a:t>/Users/wentiange/afd-download/dsv4-flash-20260908-rps234/afd_dp4tp2/chunk_65536/rps_2/repeat_1/result.json</a:t>
            </a:r>
          </a:p>
          <a:p>
            <a:r>
              <a:t>/Users/wentiange/afd-download/dsv4-flash-20260908-rps234/afd_dp4tp2/chunk_65536/rps_2/repeat_2/result.json</a:t>
            </a:r>
          </a:p>
          <a:p>
            <a:r>
              <a:t>/Users/wentiange/afd-download/dsv4-flash-20260908-rps234/afd_dp4tp2/chunk_65536/rps_2/repeat_3/result.json</a:t>
            </a:r>
          </a:p>
          <a:p>
            <a:r>
              <a:t>/Users/wentiange/afd-download/dsv4-flash-20260908-rps234/afd_dp4tp2/chunk_65536/rps_3/repeat_1/result.json</a:t>
            </a:r>
          </a:p>
          <a:p>
            <a:r>
              <a:t>/Users/wentiange/afd-download/dsv4-flash-20260908-rps234/afd_dp4tp2/chunk_65536/rps_3/repeat_2/result.json</a:t>
            </a:r>
          </a:p>
          <a:p>
            <a:r>
              <a:t>/Users/wentiange/afd-download/dsv4-flash-20260908-rps234/afd_dp4tp2/chunk_65536/rps_3/repeat_3/result.json</a:t>
            </a:r>
          </a:p>
          <a:p>
            <a:r>
              <a:t>/Users/wentiange/afd-download/dsv4-flash-20260908-rps234/afd_dp4tp2/chunk_65536/rps_4/repeat_1/result.json</a:t>
            </a:r>
          </a:p>
          <a:p>
            <a:r>
              <a:t>/Users/wentiange/afd-download/dsv4-flash-20260908-rps234/afd_dp4tp2/chunk_65536/rps_4/repeat_2/result.json</a:t>
            </a:r>
          </a:p>
          <a:p>
            <a:r>
              <a:t>/Users/wentiange/afd-download/dsv4-flash-20260908-rps234/afd_dp4tp2/chunk_65536/rps_4/repeat_3/result.json</a:t>
            </a:r>
          </a:p>
          <a:p>
            <a:r>
              <a:t>/Users/wentiange/afd-download/dsv4-flash-20260908-rps234/ep16_dp4tp4/chunk_8192/rps_2/repeat_1/result.json</a:t>
            </a:r>
          </a:p>
          <a:p>
            <a:r>
              <a:t>/Users/wentiange/afd-download/dsv4-flash-20260908-rps234/ep16_dp4tp4/chunk_8192/rps_2/repeat_2/result.json</a:t>
            </a:r>
          </a:p>
          <a:p>
            <a:r>
              <a:t>/Users/wentiange/afd-download/dsv4-flash-20260908-rps234/ep16_dp4tp4/chunk_8192/rps_2/repeat_3/result.json</a:t>
            </a:r>
          </a:p>
          <a:p>
            <a:r>
              <a:t>/Users/wentiange/afd-download/dsv4-flash-20260908-rps234/ep16_dp4tp4/chunk_8192/rps_3/repeat_1/result.json</a:t>
            </a:r>
          </a:p>
          <a:p>
            <a:r>
              <a:t>/Users/wentiange/afd-download/dsv4-flash-20260908-rps234/ep16_dp4tp4/chunk_8192/rps_3/repeat_2/result.json</a:t>
            </a:r>
          </a:p>
          <a:p>
            <a:r>
              <a:t>/Users/wentiange/afd-download/dsv4-flash-20260908-rps234/ep16_dp4tp4/chunk_8192/rps_3/repeat_3/result.json</a:t>
            </a:r>
          </a:p>
          <a:p>
            <a:r>
              <a:t>/Users/wentiange/afd-download/dsv4-flash-20260908-rps234/ep16_dp4tp4/chunk_8192/rps_4/repeat_1/result.json</a:t>
            </a:r>
          </a:p>
          <a:p>
            <a:r>
              <a:t>/Users/wentiange/afd-download/dsv4-flash-20260908-rps234/ep16_dp4tp4/chunk_8192/rps_4/repeat_2/result.json</a:t>
            </a:r>
          </a:p>
          <a:p>
            <a:r>
              <a:t>/Users/wentiange/afd-download/dsv4-flash-20260908-rps234/ep16_dp4tp4/chunk_8192/rps_4/repeat_3/result.json</a:t>
            </a:r>
          </a:p>
          <a:p>
            <a:r>
              <a:t>/Users/wentiange/afd-download/dsv4-flash-20260908-rps234/ep16_dp4tp4/chunk_16384/rps_2/repeat_1/result.json</a:t>
            </a:r>
          </a:p>
          <a:p>
            <a:r>
              <a:t>/Users/wentiange/afd-download/dsv4-flash-20260908-rps234/ep16_dp4tp4/chunk_16384/rps_2/repeat_2/result.json</a:t>
            </a:r>
          </a:p>
          <a:p>
            <a:r>
              <a:t>/Users/wentiange/afd-download/dsv4-flash-20260908-rps234/ep16_dp4tp4/chunk_16384/rps_2/repeat_3/result.json</a:t>
            </a:r>
          </a:p>
          <a:p>
            <a:r>
              <a:t>/Users/wentiange/afd-download/dsv4-flash-20260908-rps234/ep16_dp4tp4/chunk_16384/rps_3/repeat_1/result.json</a:t>
            </a:r>
          </a:p>
          <a:p>
            <a:r>
              <a:t>/Users/wentiange/afd-download/dsv4-flash-20260908-rps234/ep16_dp4tp4/chunk_16384/rps_3/repeat_2/result.json</a:t>
            </a:r>
          </a:p>
          <a:p>
            <a:r>
              <a:t>/Users/wentiange/afd-download/dsv4-flash-20260908-rps234/ep16_dp4tp4/chunk_16384/rps_3/repeat_3/result.json</a:t>
            </a:r>
          </a:p>
          <a:p>
            <a:r>
              <a:t>/Users/wentiange/afd-download/dsv4-flash-20260908-rps234/ep16_dp4tp4/chunk_16384/rps_4/repeat_1/result.json</a:t>
            </a:r>
          </a:p>
          <a:p>
            <a:r>
              <a:t>/Users/wentiange/afd-download/dsv4-flash-20260908-rps234/ep16_dp4tp4/chunk_16384/rps_4/repeat_2/result.json</a:t>
            </a:r>
          </a:p>
          <a:p>
            <a:r>
              <a:t>/Users/wentiange/afd-download/dsv4-flash-20260908-rps234/ep16_dp4tp4/chunk_16384/rps_4/repeat_3/result.json</a:t>
            </a:r>
          </a:p>
          <a:p>
            <a:r>
              <a:t>/Users/wentiange/afd-download/dsv4-flash-20260908-rps234/ep16_dp8tp2/chunk_8192/rps_2/repeat_1/result.json</a:t>
            </a:r>
          </a:p>
          <a:p>
            <a:r>
              <a:t>/Users/wentiange/afd-download/dsv4-flash-20260908-rps234/ep16_dp8tp2/chunk_8192/rps_2/repeat_2/result.json</a:t>
            </a:r>
          </a:p>
          <a:p>
            <a:r>
              <a:t>/Users/wentiange/afd-download/dsv4-flash-20260908-rps234/ep16_dp8tp2/chunk_8192/rps_2/repeat_3/result.json</a:t>
            </a:r>
          </a:p>
          <a:p>
            <a:r>
              <a:t>/Users/wentiange/afd-download/dsv4-flash-20260908-rps234/ep16_dp8tp2/chunk_8192/rps_3/repeat_1/result.json</a:t>
            </a:r>
          </a:p>
          <a:p>
            <a:r>
              <a:t>/Users/wentiange/afd-download/dsv4-flash-20260908-rps234/ep16_dp8tp2/chunk_8192/rps_3/repeat_2/result.json</a:t>
            </a:r>
          </a:p>
          <a:p>
            <a:r>
              <a:t>/Users/wentiange/afd-download/dsv4-flash-20260908-rps234/ep16_dp8tp2/chunk_8192/rps_3/repeat_3/result.json</a:t>
            </a:r>
          </a:p>
          <a:p>
            <a:r>
              <a:t>/Users/wentiange/afd-download/dsv4-flash-20260908-rps234/ep16_dp8tp2/chunk_8192/rps_4/repeat_1/result.json</a:t>
            </a:r>
          </a:p>
          <a:p>
            <a:r>
              <a:t>/Users/wentiange/afd-download/dsv4-flash-20260908-rps234/ep16_dp8tp2/chunk_8192/rps_4/repeat_2/result.json</a:t>
            </a:r>
          </a:p>
          <a:p>
            <a:r>
              <a:t>/Users/wentiange/afd-download/dsv4-flash-20260908-rps234/ep16_dp8tp2/chunk_8192/rps_4/repeat_3/result.json</a:t>
            </a:r>
          </a:p>
          <a:p>
            <a:r>
              <a:t>/Users/wentiange/afd-download/dsv4-flash-20260908-rps234/ep16_dp8tp2/chunk_16384/rps_2/repeat_1/result.json</a:t>
            </a:r>
          </a:p>
          <a:p>
            <a:r>
              <a:t>/Users/wentiange/afd-download/dsv4-flash-20260908-rps234/ep16_dp8tp2/chunk_16384/rps_2/repeat_2/result.json</a:t>
            </a:r>
          </a:p>
          <a:p>
            <a:r>
              <a:t>/Users/wentiange/afd-download/dsv4-flash-20260908-rps234/ep16_dp8tp2/chunk_16384/rps_2/repeat_3/result.json</a:t>
            </a:r>
          </a:p>
          <a:p>
            <a:r>
              <a:t>/Users/wentiange/afd-download/dsv4-flash-20260908-rps234/ep16_dp8tp2/chunk_16384/rps_3/repeat_1/result.json</a:t>
            </a:r>
          </a:p>
          <a:p>
            <a:r>
              <a:t>/Users/wentiange/afd-download/dsv4-flash-20260908-rps234/ep16_dp8tp2/chunk_16384/rps_3/repeat_2/result.json</a:t>
            </a:r>
          </a:p>
          <a:p>
            <a:r>
              <a:t>/Users/wentiange/afd-download/dsv4-flash-20260908-rps234/ep16_dp8tp2/chunk_16384/rps_3/repeat_3/result.json</a:t>
            </a:r>
          </a:p>
          <a:p>
            <a:r>
              <a:t>/Users/wentiange/afd-download/dsv4-flash-20260908-rps234/ep16_dp8tp2/chunk_16384/rps_4/repeat_1/result.json</a:t>
            </a:r>
          </a:p>
          <a:p>
            <a:r>
              <a:t>/Users/wentiange/afd-download/dsv4-flash-20260908-rps234/ep16_dp8tp2/chunk_16384/rps_4/repeat_2/result.json</a:t>
            </a:r>
          </a:p>
          <a:p>
            <a:r>
              <a:t>/Users/wentiange/afd-download/dsv4-flash-20260908-rps234/ep16_dp8tp2/chunk_16384/rps_4/repeat_3/result.json</a:t>
            </a:r>
          </a:p>
          <a:p>
            <a:r>
              <a:t>/Users/wentiange/afd-download/dsv4-flash-20260908-rps234/afd_dp4tp2/chunk_65536/rps_3/repeat_1/metrics/attention_before.prom</a:t>
            </a:r>
          </a:p>
          <a:p>
            <a:r>
              <a:t>/Users/wentiange/afd-download/dsv4-flash-20260908-rps234/afd_dp4tp2/chunk_65536/rps_3/repeat_1/metrics/attention_after.prom</a:t>
            </a:r>
          </a:p>
          <a:p>
            <a:r>
              <a:t>/Users/wentiange/afd-download/dsv4-flash-20260908-rps234/afd_dp4tp2/chunk_65536/rps_3/repeat_2/metrics/attention_before.prom</a:t>
            </a:r>
          </a:p>
          <a:p>
            <a:r>
              <a:t>/Users/wentiange/afd-download/dsv4-flash-20260908-rps234/afd_dp4tp2/chunk_65536/rps_3/repeat_2/metrics/attention_after.prom</a:t>
            </a:r>
          </a:p>
          <a:p>
            <a:r>
              <a:t>/Users/wentiange/afd-download/dsv4-flash-20260908-rps234/afd_dp4tp2/chunk_65536/rps_3/repeat_3/metrics/attention_before.prom</a:t>
            </a:r>
          </a:p>
          <a:p>
            <a:r>
              <a:t>/Users/wentiange/afd-download/dsv4-flash-20260908-rps234/afd_dp4tp2/chunk_65536/rps_3/repeat_3/metrics/attention_after.prom</a:t>
            </a:r>
          </a:p>
          <a:p>
            <a:r>
              <a:t>/Users/wentiange/afd-download/dsv4-flash-20260908-rps234/afd_dp4tp2/chunk_65536/rps_4/repeat_1/metrics/attention_before.prom</a:t>
            </a:r>
          </a:p>
          <a:p>
            <a:r>
              <a:t>/Users/wentiange/afd-download/dsv4-flash-20260908-rps234/afd_dp4tp2/chunk_65536/rps_4/repeat_1/metrics/attention_after.prom</a:t>
            </a:r>
          </a:p>
          <a:p>
            <a:r>
              <a:t>/Users/wentiange/afd-download/dsv4-flash-20260908-rps234/afd_dp4tp2/chunk_65536/rps_4/repeat_2/metrics/attention_before.prom</a:t>
            </a:r>
          </a:p>
          <a:p>
            <a:r>
              <a:t>/Users/wentiange/afd-download/dsv4-flash-20260908-rps234/afd_dp4tp2/chunk_65536/rps_4/repeat_2/metrics/attention_after.prom</a:t>
            </a:r>
          </a:p>
          <a:p>
            <a:r>
              <a:t>/Users/wentiange/afd-download/dsv4-flash-20260908-rps234/afd_dp4tp2/chunk_65536/rps_4/repeat_3/metrics/attention_before.prom</a:t>
            </a:r>
          </a:p>
          <a:p>
            <a:r>
              <a:t>/Users/wentiange/afd-download/dsv4-flash-20260908-rps234/afd_dp4tp2/chunk_65536/rps_4/repeat_3/metrics/attention_after.prom</a:t>
            </a:r>
          </a:p>
          <a:p>
            <a:r>
              <a:t>/Users/wentiange/afd-download/dsv4-flash-20260908-afd-length-analysis/summary.csv</a:t>
            </a:r>
          </a:p>
          <a:p>
            <a:r>
              <a:t>/Users/wentiange/afd-download/dsv4-flash-20260908-afd-request-share/requests.csv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实验来源：20260908-rps234（AFD64K、EP16），20260909-afd16k32k-rps234、20260909-afd8k-rps234。AFD64K及EP16每档3轮，AFD8/16/32K每档1轮。TTFT分位数为逐轮分位数均值；长度分组页使用合并三轮成功请求分位数。少量请求失败保留实验，不纳入延迟。metrics为每轮Attention API histogram before/after差分sum/count，再取三轮均值。请求级M(r)按DP rank本地batch计算，非耗时占比、空泡率或硬件效率。数据与分析来源：</a:t>
            </a:r>
          </a:p>
          <a:p>
            <a:r>
              <a:t>/Users/wentiange/afd-download/dsv4-flash-20260909-afd8k-rps234/afd_dp4tp2/chunk_8192/rps_2/repeat_1/result.json</a:t>
            </a:r>
          </a:p>
          <a:p>
            <a:r>
              <a:t>/Users/wentiange/afd-download/dsv4-flash-20260909-afd8k-rps234/afd_dp4tp2/chunk_8192/rps_3/repeat_1/result.json</a:t>
            </a:r>
          </a:p>
          <a:p>
            <a:r>
              <a:t>/Users/wentiange/afd-download/dsv4-flash-20260909-afd8k-rps234/afd_dp4tp2/chunk_8192/rps_4/repeat_1/result.json</a:t>
            </a:r>
          </a:p>
          <a:p>
            <a:r>
              <a:t>/Users/wentiange/afd-download/dsv4-flash-20260909-afd16k32k-rps234/afd_dp4tp2/chunk_16384/rps_2/repeat_1/result.json</a:t>
            </a:r>
          </a:p>
          <a:p>
            <a:r>
              <a:t>/Users/wentiange/afd-download/dsv4-flash-20260909-afd16k32k-rps234/afd_dp4tp2/chunk_16384/rps_3/repeat_1/result.json</a:t>
            </a:r>
          </a:p>
          <a:p>
            <a:r>
              <a:t>/Users/wentiange/afd-download/dsv4-flash-20260909-afd16k32k-rps234/afd_dp4tp2/chunk_16384/rps_4/repeat_1/result.json</a:t>
            </a:r>
          </a:p>
          <a:p>
            <a:r>
              <a:t>/Users/wentiange/afd-download/dsv4-flash-20260909-afd16k32k-rps234/afd_dp4tp2/chunk_32768/rps_2/repeat_1/result.json</a:t>
            </a:r>
          </a:p>
          <a:p>
            <a:r>
              <a:t>/Users/wentiange/afd-download/dsv4-flash-20260909-afd16k32k-rps234/afd_dp4tp2/chunk_32768/rps_3/repeat_1/result.json</a:t>
            </a:r>
          </a:p>
          <a:p>
            <a:r>
              <a:t>/Users/wentiange/afd-download/dsv4-flash-20260909-afd16k32k-rps234/afd_dp4tp2/chunk_32768/rps_4/repeat_1/result.json</a:t>
            </a:r>
          </a:p>
          <a:p>
            <a:r>
              <a:t>/Users/wentiange/afd-download/dsv4-flash-20260908-rps234/afd_dp4tp2/chunk_65536/rps_2/repeat_1/result.json</a:t>
            </a:r>
          </a:p>
          <a:p>
            <a:r>
              <a:t>/Users/wentiange/afd-download/dsv4-flash-20260908-rps234/afd_dp4tp2/chunk_65536/rps_2/repeat_2/result.json</a:t>
            </a:r>
          </a:p>
          <a:p>
            <a:r>
              <a:t>/Users/wentiange/afd-download/dsv4-flash-20260908-rps234/afd_dp4tp2/chunk_65536/rps_2/repeat_3/result.json</a:t>
            </a:r>
          </a:p>
          <a:p>
            <a:r>
              <a:t>/Users/wentiange/afd-download/dsv4-flash-20260908-rps234/afd_dp4tp2/chunk_65536/rps_3/repeat_1/result.json</a:t>
            </a:r>
          </a:p>
          <a:p>
            <a:r>
              <a:t>/Users/wentiange/afd-download/dsv4-flash-20260908-rps234/afd_dp4tp2/chunk_65536/rps_3/repeat_2/result.json</a:t>
            </a:r>
          </a:p>
          <a:p>
            <a:r>
              <a:t>/Users/wentiange/afd-download/dsv4-flash-20260908-rps234/afd_dp4tp2/chunk_65536/rps_3/repeat_3/result.json</a:t>
            </a:r>
          </a:p>
          <a:p>
            <a:r>
              <a:t>/Users/wentiange/afd-download/dsv4-flash-20260908-rps234/afd_dp4tp2/chunk_65536/rps_4/repeat_1/result.json</a:t>
            </a:r>
          </a:p>
          <a:p>
            <a:r>
              <a:t>/Users/wentiange/afd-download/dsv4-flash-20260908-rps234/afd_dp4tp2/chunk_65536/rps_4/repeat_2/result.json</a:t>
            </a:r>
          </a:p>
          <a:p>
            <a:r>
              <a:t>/Users/wentiange/afd-download/dsv4-flash-20260908-rps234/afd_dp4tp2/chunk_65536/rps_4/repeat_3/result.json</a:t>
            </a:r>
          </a:p>
          <a:p>
            <a:r>
              <a:t>/Users/wentiange/afd-download/dsv4-flash-20260908-rps234/ep16_dp4tp4/chunk_8192/rps_2/repeat_1/result.json</a:t>
            </a:r>
          </a:p>
          <a:p>
            <a:r>
              <a:t>/Users/wentiange/afd-download/dsv4-flash-20260908-rps234/ep16_dp4tp4/chunk_8192/rps_2/repeat_2/result.json</a:t>
            </a:r>
          </a:p>
          <a:p>
            <a:r>
              <a:t>/Users/wentiange/afd-download/dsv4-flash-20260908-rps234/ep16_dp4tp4/chunk_8192/rps_2/repeat_3/result.json</a:t>
            </a:r>
          </a:p>
          <a:p>
            <a:r>
              <a:t>/Users/wentiange/afd-download/dsv4-flash-20260908-rps234/ep16_dp4tp4/chunk_8192/rps_3/repeat_1/result.json</a:t>
            </a:r>
          </a:p>
          <a:p>
            <a:r>
              <a:t>/Users/wentiange/afd-download/dsv4-flash-20260908-rps234/ep16_dp4tp4/chunk_8192/rps_3/repeat_2/result.json</a:t>
            </a:r>
          </a:p>
          <a:p>
            <a:r>
              <a:t>/Users/wentiange/afd-download/dsv4-flash-20260908-rps234/ep16_dp4tp4/chunk_8192/rps_3/repeat_3/result.json</a:t>
            </a:r>
          </a:p>
          <a:p>
            <a:r>
              <a:t>/Users/wentiange/afd-download/dsv4-flash-20260908-rps234/ep16_dp4tp4/chunk_8192/rps_4/repeat_1/result.json</a:t>
            </a:r>
          </a:p>
          <a:p>
            <a:r>
              <a:t>/Users/wentiange/afd-download/dsv4-flash-20260908-rps234/ep16_dp4tp4/chunk_8192/rps_4/repeat_2/result.json</a:t>
            </a:r>
          </a:p>
          <a:p>
            <a:r>
              <a:t>/Users/wentiange/afd-download/dsv4-flash-20260908-rps234/ep16_dp4tp4/chunk_8192/rps_4/repeat_3/result.json</a:t>
            </a:r>
          </a:p>
          <a:p>
            <a:r>
              <a:t>/Users/wentiange/afd-download/dsv4-flash-20260908-rps234/ep16_dp4tp4/chunk_16384/rps_2/repeat_1/result.json</a:t>
            </a:r>
          </a:p>
          <a:p>
            <a:r>
              <a:t>/Users/wentiange/afd-download/dsv4-flash-20260908-rps234/ep16_dp4tp4/chunk_16384/rps_2/repeat_2/result.json</a:t>
            </a:r>
          </a:p>
          <a:p>
            <a:r>
              <a:t>/Users/wentiange/afd-download/dsv4-flash-20260908-rps234/ep16_dp4tp4/chunk_16384/rps_2/repeat_3/result.json</a:t>
            </a:r>
          </a:p>
          <a:p>
            <a:r>
              <a:t>/Users/wentiange/afd-download/dsv4-flash-20260908-rps234/ep16_dp4tp4/chunk_16384/rps_3/repeat_1/result.json</a:t>
            </a:r>
          </a:p>
          <a:p>
            <a:r>
              <a:t>/Users/wentiange/afd-download/dsv4-flash-20260908-rps234/ep16_dp4tp4/chunk_16384/rps_3/repeat_2/result.json</a:t>
            </a:r>
          </a:p>
          <a:p>
            <a:r>
              <a:t>/Users/wentiange/afd-download/dsv4-flash-20260908-rps234/ep16_dp4tp4/chunk_16384/rps_3/repeat_3/result.json</a:t>
            </a:r>
          </a:p>
          <a:p>
            <a:r>
              <a:t>/Users/wentiange/afd-download/dsv4-flash-20260908-rps234/ep16_dp4tp4/chunk_16384/rps_4/repeat_1/result.json</a:t>
            </a:r>
          </a:p>
          <a:p>
            <a:r>
              <a:t>/Users/wentiange/afd-download/dsv4-flash-20260908-rps234/ep16_dp4tp4/chunk_16384/rps_4/repeat_2/result.json</a:t>
            </a:r>
          </a:p>
          <a:p>
            <a:r>
              <a:t>/Users/wentiange/afd-download/dsv4-flash-20260908-rps234/ep16_dp4tp4/chunk_16384/rps_4/repeat_3/result.json</a:t>
            </a:r>
          </a:p>
          <a:p>
            <a:r>
              <a:t>/Users/wentiange/afd-download/dsv4-flash-20260908-rps234/ep16_dp8tp2/chunk_8192/rps_2/repeat_1/result.json</a:t>
            </a:r>
          </a:p>
          <a:p>
            <a:r>
              <a:t>/Users/wentiange/afd-download/dsv4-flash-20260908-rps234/ep16_dp8tp2/chunk_8192/rps_2/repeat_2/result.json</a:t>
            </a:r>
          </a:p>
          <a:p>
            <a:r>
              <a:t>/Users/wentiange/afd-download/dsv4-flash-20260908-rps234/ep16_dp8tp2/chunk_8192/rps_2/repeat_3/result.json</a:t>
            </a:r>
          </a:p>
          <a:p>
            <a:r>
              <a:t>/Users/wentiange/afd-download/dsv4-flash-20260908-rps234/ep16_dp8tp2/chunk_8192/rps_3/repeat_1/result.json</a:t>
            </a:r>
          </a:p>
          <a:p>
            <a:r>
              <a:t>/Users/wentiange/afd-download/dsv4-flash-20260908-rps234/ep16_dp8tp2/chunk_8192/rps_3/repeat_2/result.json</a:t>
            </a:r>
          </a:p>
          <a:p>
            <a:r>
              <a:t>/Users/wentiange/afd-download/dsv4-flash-20260908-rps234/ep16_dp8tp2/chunk_8192/rps_3/repeat_3/result.json</a:t>
            </a:r>
          </a:p>
          <a:p>
            <a:r>
              <a:t>/Users/wentiange/afd-download/dsv4-flash-20260908-rps234/ep16_dp8tp2/chunk_8192/rps_4/repeat_1/result.json</a:t>
            </a:r>
          </a:p>
          <a:p>
            <a:r>
              <a:t>/Users/wentiange/afd-download/dsv4-flash-20260908-rps234/ep16_dp8tp2/chunk_8192/rps_4/repeat_2/result.json</a:t>
            </a:r>
          </a:p>
          <a:p>
            <a:r>
              <a:t>/Users/wentiange/afd-download/dsv4-flash-20260908-rps234/ep16_dp8tp2/chunk_8192/rps_4/repeat_3/result.json</a:t>
            </a:r>
          </a:p>
          <a:p>
            <a:r>
              <a:t>/Users/wentiange/afd-download/dsv4-flash-20260908-rps234/ep16_dp8tp2/chunk_16384/rps_2/repeat_1/result.json</a:t>
            </a:r>
          </a:p>
          <a:p>
            <a:r>
              <a:t>/Users/wentiange/afd-download/dsv4-flash-20260908-rps234/ep16_dp8tp2/chunk_16384/rps_2/repeat_2/result.json</a:t>
            </a:r>
          </a:p>
          <a:p>
            <a:r>
              <a:t>/Users/wentiange/afd-download/dsv4-flash-20260908-rps234/ep16_dp8tp2/chunk_16384/rps_2/repeat_3/result.json</a:t>
            </a:r>
          </a:p>
          <a:p>
            <a:r>
              <a:t>/Users/wentiange/afd-download/dsv4-flash-20260908-rps234/ep16_dp8tp2/chunk_16384/rps_3/repeat_1/result.json</a:t>
            </a:r>
          </a:p>
          <a:p>
            <a:r>
              <a:t>/Users/wentiange/afd-download/dsv4-flash-20260908-rps234/ep16_dp8tp2/chunk_16384/rps_3/repeat_2/result.json</a:t>
            </a:r>
          </a:p>
          <a:p>
            <a:r>
              <a:t>/Users/wentiange/afd-download/dsv4-flash-20260908-rps234/ep16_dp8tp2/chunk_16384/rps_3/repeat_3/result.json</a:t>
            </a:r>
          </a:p>
          <a:p>
            <a:r>
              <a:t>/Users/wentiange/afd-download/dsv4-flash-20260908-rps234/ep16_dp8tp2/chunk_16384/rps_4/repeat_1/result.json</a:t>
            </a:r>
          </a:p>
          <a:p>
            <a:r>
              <a:t>/Users/wentiange/afd-download/dsv4-flash-20260908-rps234/ep16_dp8tp2/chunk_16384/rps_4/repeat_2/result.json</a:t>
            </a:r>
          </a:p>
          <a:p>
            <a:r>
              <a:t>/Users/wentiange/afd-download/dsv4-flash-20260908-rps234/ep16_dp8tp2/chunk_16384/rps_4/repeat_3/result.json</a:t>
            </a:r>
          </a:p>
          <a:p>
            <a:r>
              <a:t>/Users/wentiange/afd-download/dsv4-flash-20260908-rps234/afd_dp4tp2/chunk_65536/rps_3/repeat_1/metrics/attention_before.prom</a:t>
            </a:r>
          </a:p>
          <a:p>
            <a:r>
              <a:t>/Users/wentiange/afd-download/dsv4-flash-20260908-rps234/afd_dp4tp2/chunk_65536/rps_3/repeat_1/metrics/attention_after.prom</a:t>
            </a:r>
          </a:p>
          <a:p>
            <a:r>
              <a:t>/Users/wentiange/afd-download/dsv4-flash-20260908-rps234/afd_dp4tp2/chunk_65536/rps_3/repeat_2/metrics/attention_before.prom</a:t>
            </a:r>
          </a:p>
          <a:p>
            <a:r>
              <a:t>/Users/wentiange/afd-download/dsv4-flash-20260908-rps234/afd_dp4tp2/chunk_65536/rps_3/repeat_2/metrics/attention_after.prom</a:t>
            </a:r>
          </a:p>
          <a:p>
            <a:r>
              <a:t>/Users/wentiange/afd-download/dsv4-flash-20260908-rps234/afd_dp4tp2/chunk_65536/rps_3/repeat_3/metrics/attention_before.prom</a:t>
            </a:r>
          </a:p>
          <a:p>
            <a:r>
              <a:t>/Users/wentiange/afd-download/dsv4-flash-20260908-rps234/afd_dp4tp2/chunk_65536/rps_3/repeat_3/metrics/attention_after.prom</a:t>
            </a:r>
          </a:p>
          <a:p>
            <a:r>
              <a:t>/Users/wentiange/afd-download/dsv4-flash-20260908-rps234/afd_dp4tp2/chunk_65536/rps_4/repeat_1/metrics/attention_before.prom</a:t>
            </a:r>
          </a:p>
          <a:p>
            <a:r>
              <a:t>/Users/wentiange/afd-download/dsv4-flash-20260908-rps234/afd_dp4tp2/chunk_65536/rps_4/repeat_1/metrics/attention_after.prom</a:t>
            </a:r>
          </a:p>
          <a:p>
            <a:r>
              <a:t>/Users/wentiange/afd-download/dsv4-flash-20260908-rps234/afd_dp4tp2/chunk_65536/rps_4/repeat_2/metrics/attention_before.prom</a:t>
            </a:r>
          </a:p>
          <a:p>
            <a:r>
              <a:t>/Users/wentiange/afd-download/dsv4-flash-20260908-rps234/afd_dp4tp2/chunk_65536/rps_4/repeat_2/metrics/attention_after.prom</a:t>
            </a:r>
          </a:p>
          <a:p>
            <a:r>
              <a:t>/Users/wentiange/afd-download/dsv4-flash-20260908-rps234/afd_dp4tp2/chunk_65536/rps_4/repeat_3/metrics/attention_before.prom</a:t>
            </a:r>
          </a:p>
          <a:p>
            <a:r>
              <a:t>/Users/wentiange/afd-download/dsv4-flash-20260908-rps234/afd_dp4tp2/chunk_65536/rps_4/repeat_3/metrics/attention_after.prom</a:t>
            </a:r>
          </a:p>
          <a:p>
            <a:r>
              <a:t>/Users/wentiange/afd-download/dsv4-flash-20260908-afd-length-analysis/summary.csv</a:t>
            </a:r>
          </a:p>
          <a:p>
            <a:r>
              <a:t>/Users/wentiange/afd-download/dsv4-flash-20260908-afd-request-share/requests.csv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142713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82973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54385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9B59B1-7AB3-4C7D-903E-83E508E91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9B2CCA-0525-415A-8D15-98070A8626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5470FC-5A4B-4C4F-BC69-3A91EB7999A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B28265-B6C2-42EE-B55A-32D6726BAC8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9BFA26-DAC8-4F12-AE24-5ECF161520B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vllm-dev.slack.com/archives/C0B4C1D84GG" TargetMode="External"/><Relationship Id="rId5" Type="http://schemas.openxmlformats.org/officeDocument/2006/relationships/image" Target="../media/image20.png"/><Relationship Id="rId4" Type="http://schemas.openxmlformats.org/officeDocument/2006/relationships/hyperlink" Target="https://github.com/vllm-project/afd-plugin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chart" Target="../charts/chart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7" Type="http://schemas.openxmlformats.org/officeDocument/2006/relationships/chart" Target="../charts/chart11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0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7" Type="http://schemas.openxmlformats.org/officeDocument/2006/relationships/chart" Target="../charts/chart16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5.xml"/><Relationship Id="rId5" Type="http://schemas.openxmlformats.org/officeDocument/2006/relationships/chart" Target="../charts/chart14.xml"/><Relationship Id="rId4" Type="http://schemas.openxmlformats.org/officeDocument/2006/relationships/chart" Target="../charts/char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7" Type="http://schemas.openxmlformats.org/officeDocument/2006/relationships/chart" Target="../charts/chart2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2.xml"/><Relationship Id="rId5" Type="http://schemas.openxmlformats.org/officeDocument/2006/relationships/chart" Target="../charts/chart21.xml"/><Relationship Id="rId4" Type="http://schemas.openxmlformats.org/officeDocument/2006/relationships/chart" Target="../charts/chart2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4.xml"/><Relationship Id="rId7" Type="http://schemas.openxmlformats.org/officeDocument/2006/relationships/chart" Target="../charts/chart2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7.xml"/><Relationship Id="rId5" Type="http://schemas.openxmlformats.org/officeDocument/2006/relationships/chart" Target="../charts/chart26.xml"/><Relationship Id="rId4" Type="http://schemas.openxmlformats.org/officeDocument/2006/relationships/chart" Target="../charts/chart2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9.xml"/><Relationship Id="rId7" Type="http://schemas.openxmlformats.org/officeDocument/2006/relationships/chart" Target="../charts/chart3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32.xml"/><Relationship Id="rId5" Type="http://schemas.openxmlformats.org/officeDocument/2006/relationships/chart" Target="../charts/chart31.xml"/><Relationship Id="rId4" Type="http://schemas.openxmlformats.org/officeDocument/2006/relationships/chart" Target="../charts/char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FE4B36A2-FB5E-46B8-B62B-A7DDCB3155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08C9273-AA7E-4A4C-BAF3-6C4E61BC21C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vLLM EXTERNAL PLUGIN</a:t>
            </a:r>
            <a:endParaRPr sz="975" b="1">
              <a:solidFill>
                <a:srgbClr val="898989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8DB289-1EEC-4482-9E64-7EA12D6FE381}"/>
              </a:ext>
            </a:extLst>
          </p:cNvPr>
          <p:cNvSpPr>
            <a:spLocks noGrp="1"/>
          </p:cNvSpPr>
          <p:nvPr/>
        </p:nvSpPr>
        <p:spPr>
          <a:xfrm>
            <a:off x="3733800" y="2329180"/>
            <a:ext cx="495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5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AFD Plugin</a:t>
            </a:r>
            <a:endParaRPr sz="5400" b="1">
              <a:solidFill>
                <a:srgbClr val="C0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C8100B-7A12-4D03-B820-ADA0A201160A}"/>
              </a:ext>
            </a:extLst>
          </p:cNvPr>
          <p:cNvSpPr>
            <a:spLocks noGrp="1"/>
          </p:cNvSpPr>
          <p:nvPr/>
        </p:nvSpPr>
        <p:spPr>
          <a:xfrm>
            <a:off x="2945765" y="3053080"/>
            <a:ext cx="6667500" cy="583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buClrTx/>
              <a:buSzTx/>
              <a:buFontTx/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3200" b="1">
                <a:latin typeface="微软雅黑"/>
                <a:ea typeface="微软雅黑"/>
                <a:cs typeface="微软雅黑"/>
              </a:rPr>
              <a:t>vLLM 中的 Attention–FFN 解耦</a:t>
            </a:r>
            <a:endParaRPr sz="3200" b="1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DDDC894-1510-4168-9DF0-3D195584F0E5}"/>
              </a:ext>
            </a:extLst>
          </p:cNvPr>
          <p:cNvSpPr>
            <a:spLocks noGrp="1"/>
          </p:cNvSpPr>
          <p:nvPr/>
        </p:nvSpPr>
        <p:spPr>
          <a:xfrm>
            <a:off x="11315700" y="64008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825" b="0">
              <a:solidFill>
                <a:srgbClr val="898989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08A1625-B38E-48D1-A82D-F82315B1A8B1}"/>
              </a:ext>
            </a:extLst>
          </p:cNvPr>
          <p:cNvSpPr>
            <a:spLocks noGrp="1"/>
          </p:cNvSpPr>
          <p:nvPr/>
        </p:nvSpPr>
        <p:spPr>
          <a:xfrm>
            <a:off x="4787265" y="3881755"/>
            <a:ext cx="3469005" cy="7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2000" b="1">
                <a:latin typeface="微软雅黑"/>
                <a:ea typeface="微软雅黑"/>
                <a:cs typeface="微软雅黑"/>
              </a:rPr>
              <a:t>江晨舟     </a:t>
            </a:r>
            <a:endParaRPr sz="2000" b="1"/>
          </a:p>
          <a:p>
            <a:pPr algn="l">
              <a:buClrTx/>
              <a:buSzTx/>
              <a:buFontTx/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2000" b="1">
                <a:latin typeface="微软雅黑"/>
                <a:ea typeface="微软雅黑"/>
                <a:cs typeface="微软雅黑"/>
              </a:rPr>
              <a:t>蒲削锟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BEDA103-0220-4EB7-A13F-02B95F7CBCC2}"/>
              </a:ext>
            </a:extLst>
          </p:cNvPr>
          <p:cNvSpPr>
            <a:spLocks noGrp="1"/>
          </p:cNvSpPr>
          <p:nvPr/>
        </p:nvSpPr>
        <p:spPr>
          <a:xfrm>
            <a:off x="5725160" y="4050665"/>
            <a:ext cx="213868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>
                <a:latin typeface="微软雅黑"/>
                <a:ea typeface="微软雅黑"/>
                <a:cs typeface="微软雅黑"/>
              </a:rPr>
              <a:t>@huawei</a:t>
            </a:r>
          </a:p>
        </p:txBody>
      </p:sp>
    </p:spTree>
    <p:extLst>
      <p:ext uri="{BB962C8B-B14F-4D97-AF65-F5344CB8AC3E}">
        <p14:creationId xmlns:p14="http://schemas.microsoft.com/office/powerpoint/2010/main" val="1559782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045AE6-4D17-4F4D-907E-CBF880A7304B}"/>
              </a:ext>
            </a:extLst>
          </p:cNvPr>
          <p:cNvSpPr>
            <a:spLocks noGrp="1"/>
          </p:cNvSpPr>
          <p:nvPr/>
        </p:nvSpPr>
        <p:spPr>
          <a:xfrm>
            <a:off x="713232" y="18288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WHY AFD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72431-354A-43C2-A037-3612BE205328}"/>
              </a:ext>
            </a:extLst>
          </p:cNvPr>
          <p:cNvSpPr>
            <a:spLocks noGrp="1"/>
          </p:cNvSpPr>
          <p:nvPr/>
        </p:nvSpPr>
        <p:spPr>
          <a:xfrm>
            <a:off x="713232" y="408051"/>
            <a:ext cx="10744200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Attention 与 MoE 的资源需求越不匹配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D261C6-9D41-4A7D-B9DC-9F390532F474}"/>
              </a:ext>
            </a:extLst>
          </p:cNvPr>
          <p:cNvSpPr>
            <a:spLocks noGrp="1"/>
          </p:cNvSpPr>
          <p:nvPr/>
        </p:nvSpPr>
        <p:spPr>
          <a:xfrm>
            <a:off x="612648" y="914400"/>
            <a:ext cx="1444752" cy="228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AE0C94-7F2B-4A9C-98C7-23276E1F94EA}"/>
              </a:ext>
            </a:extLst>
          </p:cNvPr>
          <p:cNvSpPr>
            <a:spLocks noGrp="1"/>
          </p:cNvSpPr>
          <p:nvPr/>
        </p:nvSpPr>
        <p:spPr>
          <a:xfrm>
            <a:off x="713232" y="100584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550" b="0">
                <a:solidFill>
                  <a:srgbClr val="676767"/>
                </a:solidFill>
                <a:latin typeface="Calibri"/>
                <a:ea typeface="Calibri"/>
                <a:cs typeface="Calibri"/>
              </a:rPr>
              <a:t>Attention 受 KV Cache 容量约束，而 MoE 依赖大批次提升专家 GEMM 效率。</a:t>
            </a:r>
          </a:p>
        </p:txBody>
      </p:sp>
      <p:pic>
        <p:nvPicPr>
          <p:cNvPr id="22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1825" y="1671320"/>
            <a:ext cx="9619615" cy="4244975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1B51716-7641-4F33-8026-EF66C7FE4938}"/>
              </a:ext>
            </a:extLst>
          </p:cNvPr>
          <p:cNvSpPr>
            <a:spLocks noGrp="1"/>
          </p:cNvSpPr>
          <p:nvPr/>
        </p:nvSpPr>
        <p:spPr>
          <a:xfrm>
            <a:off x="566928" y="2160143"/>
            <a:ext cx="1161288" cy="804672"/>
          </a:xfrm>
          <a:prstGeom prst="roundRect">
            <a:avLst/>
          </a:prstGeom>
          <a:solidFill>
            <a:srgbClr val="EEF5FF"/>
          </a:solidFill>
          <a:ln w="13970">
            <a:solidFill>
              <a:srgbClr val="1F5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bIns="36576" anchor="ctr"/>
          <a:lstStyle/>
          <a:p>
            <a:pPr algn="ctr">
              <a:buNone/>
            </a:pPr>
            <a:r>
              <a:rPr sz="1500" b="1">
                <a:solidFill>
                  <a:srgbClr val="1F5FB8"/>
                </a:solidFill>
                <a:latin typeface="Calibri"/>
                <a:ea typeface="Calibri"/>
                <a:cs typeface="Calibri"/>
              </a:rPr>
              <a:t>Attention</a:t>
            </a:r>
          </a:p>
          <a:p>
            <a:pPr algn="ctr">
              <a:spcBef>
                <a:spcPts val="100"/>
              </a:spcBef>
              <a:buNone/>
            </a:pPr>
            <a:r>
              <a:rPr sz="1050">
                <a:solidFill>
                  <a:srgbClr val="676767"/>
                </a:solidFill>
                <a:latin typeface="Calibri"/>
                <a:ea typeface="Calibri"/>
                <a:cs typeface="Calibri"/>
              </a:rPr>
              <a:t>活跃请求 ↓
KV Cache 读取 ↑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4BD6904-9AB7-4633-BDAB-6BBA3A0A1B7D}"/>
              </a:ext>
            </a:extLst>
          </p:cNvPr>
          <p:cNvSpPr>
            <a:spLocks noGrp="1"/>
          </p:cNvSpPr>
          <p:nvPr/>
        </p:nvSpPr>
        <p:spPr>
          <a:xfrm>
            <a:off x="566928" y="4187952"/>
            <a:ext cx="1161288" cy="804672"/>
          </a:xfrm>
          <a:prstGeom prst="roundRect">
            <a:avLst/>
          </a:prstGeom>
          <a:solidFill>
            <a:srgbClr val="F1F8EC"/>
          </a:solidFill>
          <a:ln w="13970">
            <a:solidFill>
              <a:srgbClr val="4F8D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73152" bIns="36576" anchor="ctr"/>
          <a:lstStyle/>
          <a:p>
            <a:pPr algn="ctr">
              <a:buNone/>
            </a:pPr>
            <a:r>
              <a:rPr sz="1500" b="1">
                <a:solidFill>
                  <a:srgbClr val="4F8D22"/>
                </a:solidFill>
                <a:latin typeface="Calibri"/>
                <a:ea typeface="Calibri"/>
                <a:cs typeface="Calibri"/>
              </a:rPr>
              <a:t>MoE / FFN</a:t>
            </a:r>
          </a:p>
          <a:p>
            <a:pPr algn="ctr">
              <a:spcBef>
                <a:spcPts val="100"/>
              </a:spcBef>
              <a:buNone/>
            </a:pPr>
            <a:r>
              <a:rPr sz="1050">
                <a:solidFill>
                  <a:srgbClr val="676767"/>
                </a:solidFill>
                <a:latin typeface="Calibri"/>
                <a:ea typeface="Calibri"/>
                <a:cs typeface="Calibri"/>
              </a:rPr>
              <a:t>Token 批次 ↓
专家利用率 ↓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20D0FD-C8AA-4161-99B8-A23EA516E0BA}"/>
              </a:ext>
            </a:extLst>
          </p:cNvPr>
          <p:cNvSpPr>
            <a:spLocks noGrp="1"/>
          </p:cNvSpPr>
          <p:nvPr/>
        </p:nvSpPr>
        <p:spPr>
          <a:xfrm>
            <a:off x="4407408" y="1353312"/>
            <a:ext cx="33832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250" b="1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上下文长度：短  →  中  →  长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A613D76-21AA-4867-B204-C5D7CBF06301}"/>
              </a:ext>
            </a:extLst>
          </p:cNvPr>
          <p:cNvSpPr>
            <a:spLocks noGrp="1"/>
          </p:cNvSpPr>
          <p:nvPr/>
        </p:nvSpPr>
        <p:spPr>
          <a:xfrm>
            <a:off x="4904486" y="3325876"/>
            <a:ext cx="2633472" cy="347472"/>
          </a:xfrm>
          <a:prstGeom prst="roundRect">
            <a:avLst/>
          </a:prstGeom>
          <a:solidFill>
            <a:srgbClr val="FFF2F2"/>
          </a:solidFill>
          <a:ln w="1397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>
              <a:buNone/>
            </a:pPr>
            <a:r>
              <a:rPr sz="1300" b="1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异构需求错配持续放大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185072-7A82-4D88-A55B-F814B9456276}"/>
              </a:ext>
            </a:extLst>
          </p:cNvPr>
          <p:cNvSpPr>
            <a:spLocks noGrp="1"/>
          </p:cNvSpPr>
          <p:nvPr/>
        </p:nvSpPr>
        <p:spPr>
          <a:xfrm>
            <a:off x="4155567" y="5886831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150" b="1">
                <a:solidFill>
                  <a:srgbClr val="4F8D22"/>
                </a:solidFill>
                <a:latin typeface="Calibri"/>
                <a:ea typeface="Calibri"/>
                <a:cs typeface="Calibri"/>
              </a:rPr>
              <a:t>批次充足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4183E5-B4C0-4D26-9571-2B246DD8F8F1}"/>
              </a:ext>
            </a:extLst>
          </p:cNvPr>
          <p:cNvSpPr>
            <a:spLocks noGrp="1"/>
          </p:cNvSpPr>
          <p:nvPr/>
        </p:nvSpPr>
        <p:spPr>
          <a:xfrm>
            <a:off x="6669278" y="5897626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150" b="1">
                <a:solidFill>
                  <a:srgbClr val="B26500"/>
                </a:solidFill>
                <a:latin typeface="Calibri"/>
                <a:ea typeface="Calibri"/>
                <a:cs typeface="Calibri"/>
              </a:rPr>
              <a:t>批次收缩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C8B506-1EA2-4173-AB19-22028C0DB2BB}"/>
              </a:ext>
            </a:extLst>
          </p:cNvPr>
          <p:cNvSpPr>
            <a:spLocks noGrp="1"/>
          </p:cNvSpPr>
          <p:nvPr/>
        </p:nvSpPr>
        <p:spPr>
          <a:xfrm>
            <a:off x="9704959" y="5886196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150" b="1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批次不足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09A072B-6D42-4770-8F16-AAD148C6DAFA}"/>
              </a:ext>
            </a:extLst>
          </p:cNvPr>
          <p:cNvSpPr>
            <a:spLocks noGrp="1"/>
          </p:cNvSpPr>
          <p:nvPr/>
        </p:nvSpPr>
        <p:spPr>
          <a:xfrm>
            <a:off x="612648" y="6144768"/>
            <a:ext cx="10972800" cy="36576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上下文增长使 Attention 更受内存约束，同时削弱 MoE 的批处理效率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364456-4E42-4B09-8495-8DDC582E144D}"/>
              </a:ext>
            </a:extLst>
          </p:cNvPr>
          <p:cNvSpPr>
            <a:spLocks noGrp="1"/>
          </p:cNvSpPr>
          <p:nvPr/>
        </p:nvSpPr>
        <p:spPr>
          <a:xfrm>
            <a:off x="713232" y="6601968"/>
            <a:ext cx="4572000" cy="128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8D8D8D"/>
                </a:solidFill>
                <a:latin typeface="Calibri"/>
                <a:ea typeface="Calibri"/>
                <a:cs typeface="Calibri"/>
              </a:rPr>
              <a:t>来源：用户提供的 AFD Plugin 动机说明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D1475-E178-40D0-BD3D-7798CA42FA48}"/>
              </a:ext>
            </a:extLst>
          </p:cNvPr>
          <p:cNvSpPr>
            <a:spLocks noGrp="1"/>
          </p:cNvSpPr>
          <p:nvPr/>
        </p:nvSpPr>
        <p:spPr>
          <a:xfrm>
            <a:off x="11475720" y="6556248"/>
            <a:ext cx="1828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850" b="0">
                <a:solidFill>
                  <a:srgbClr val="797979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07309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 44">
            <a:extLst>
              <a:ext uri="{FF2B5EF4-FFF2-40B4-BE49-F238E27FC236}">
                <a16:creationId xmlns:a16="http://schemas.microsoft.com/office/drawing/2014/main" id="{57C257CB-FF7D-4A78-92E2-513608854648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>
                <a:solidFill>
                  <a:srgbClr val="898989"/>
                </a:solidFill>
              </a:defRPr>
            </a:pPr>
            <a:r>
              <a:rPr sz="825" b="1">
                <a:solidFill>
                  <a:srgbClr val="898989"/>
                </a:solidFill>
              </a:rPr>
              <a:t>WHY AFD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63E848-E605-45BF-AC85-F0482968EBA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C00000"/>
                </a:solidFill>
              </a:defRPr>
            </a:pPr>
            <a:r>
              <a:rPr sz="2250" b="1">
                <a:solidFill>
                  <a:srgbClr val="C00000"/>
                </a:solidFill>
              </a:rPr>
              <a:t>Attention–FFN 解耦带来弹性配比、异构部署与低时延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E820112-4D24-4E9F-B8A8-EC5C4CB4FE08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F26C3A-A648-45FB-B4C6-BF35D4A11A9F}"/>
              </a:ext>
            </a:extLst>
          </p:cNvPr>
          <p:cNvSpPr>
            <a:spLocks noGrp="1"/>
          </p:cNvSpPr>
          <p:nvPr/>
        </p:nvSpPr>
        <p:spPr>
          <a:xfrm>
            <a:off x="11430000" y="6419850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</a:defRPr>
            </a:pPr>
            <a:r>
              <a:rPr sz="825" b="0">
                <a:solidFill>
                  <a:srgbClr val="898989"/>
                </a:solidFill>
              </a:rPr>
              <a:t>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6A551F-C0F5-4A26-BD52-1E457C3C779D}"/>
              </a:ext>
            </a:extLst>
          </p:cNvPr>
          <p:cNvSpPr>
            <a:spLocks noGrp="1"/>
          </p:cNvSpPr>
          <p:nvPr/>
        </p:nvSpPr>
        <p:spPr>
          <a:xfrm>
            <a:off x="609600" y="1143000"/>
            <a:ext cx="4476750" cy="4876800"/>
          </a:xfrm>
          <a:prstGeom prst="rect">
            <a:avLst/>
          </a:prstGeom>
          <a:solidFill>
            <a:srgbClr val="FAFAFA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5781680-E09A-4C11-9B0C-5CCAFE0E0C45}"/>
              </a:ext>
            </a:extLst>
          </p:cNvPr>
          <p:cNvSpPr>
            <a:spLocks noGrp="1"/>
          </p:cNvSpPr>
          <p:nvPr/>
        </p:nvSpPr>
        <p:spPr>
          <a:xfrm>
            <a:off x="819150" y="127635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C00000"/>
                </a:solidFill>
              </a:defRPr>
            </a:pPr>
            <a:r>
              <a:rPr sz="1500" b="1">
                <a:solidFill>
                  <a:srgbClr val="C00000"/>
                </a:solidFill>
              </a:rPr>
              <a:t>方法：拆分计算角色</a:t>
            </a:r>
          </a:p>
        </p:txBody>
      </p:sp>
      <p:pic>
        <p:nvPicPr>
          <p:cNvPr id="57" name="图片 5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969" y="1657350"/>
            <a:ext cx="2315563" cy="16764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DEB8E6B-8431-4626-BEB3-9607CA5DF919}"/>
              </a:ext>
            </a:extLst>
          </p:cNvPr>
          <p:cNvSpPr>
            <a:spLocks noGrp="1"/>
          </p:cNvSpPr>
          <p:nvPr/>
        </p:nvSpPr>
        <p:spPr>
          <a:xfrm>
            <a:off x="3676650" y="1971675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56870C"/>
                </a:solidFill>
              </a:defRPr>
            </a:pPr>
            <a:r>
              <a:rPr sz="1200" b="1">
                <a:solidFill>
                  <a:srgbClr val="56870C"/>
                </a:solidFill>
              </a:rPr>
              <a:t>N × FFN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84ECAA-2EA7-47E6-904B-927B1E2C1AC8}"/>
              </a:ext>
            </a:extLst>
          </p:cNvPr>
          <p:cNvSpPr>
            <a:spLocks noGrp="1"/>
          </p:cNvSpPr>
          <p:nvPr/>
        </p:nvSpPr>
        <p:spPr>
          <a:xfrm>
            <a:off x="3676650" y="2686050"/>
            <a:ext cx="1104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2046A0"/>
                </a:solidFill>
              </a:defRPr>
            </a:pPr>
            <a:r>
              <a:rPr sz="1200" b="1">
                <a:solidFill>
                  <a:srgbClr val="2046A0"/>
                </a:solidFill>
              </a:rPr>
              <a:t>M × Attention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9F97551-8F84-4029-ADA4-63A1C8093444}"/>
              </a:ext>
            </a:extLst>
          </p:cNvPr>
          <p:cNvSpPr>
            <a:spLocks noGrp="1"/>
          </p:cNvSpPr>
          <p:nvPr/>
        </p:nvSpPr>
        <p:spPr>
          <a:xfrm>
            <a:off x="819150" y="3314700"/>
            <a:ext cx="4019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555757"/>
                </a:solidFill>
              </a:defRPr>
            </a:pPr>
            <a:r>
              <a:rPr sz="1125" b="0">
                <a:solidFill>
                  <a:srgbClr val="555757"/>
                </a:solidFill>
              </a:rPr>
              <a:t>将 Attention 与 FFN 部署到独立集群，</a:t>
            </a:r>
          </a:p>
          <a:p>
            <a:pPr algn="l">
              <a:buNone/>
              <a:defRPr sz="1125" b="0">
                <a:solidFill>
                  <a:srgbClr val="555757"/>
                </a:solidFill>
              </a:defRPr>
            </a:pPr>
            <a:r>
              <a:rPr sz="1125" b="0">
                <a:solidFill>
                  <a:srgbClr val="555757"/>
                </a:solidFill>
              </a:rPr>
              <a:t>通过 RDMA / NVLink / UB 交换激活。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40AD69-A3E7-4A54-B8EF-BC8BEFEAE562}"/>
              </a:ext>
            </a:extLst>
          </p:cNvPr>
          <p:cNvSpPr>
            <a:spLocks noGrp="1"/>
          </p:cNvSpPr>
          <p:nvPr/>
        </p:nvSpPr>
        <p:spPr>
          <a:xfrm>
            <a:off x="819150" y="38862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B1D21"/>
                </a:solidFill>
              </a:defRPr>
            </a:pPr>
            <a:r>
              <a:rPr sz="1200" b="1">
                <a:solidFill>
                  <a:srgbClr val="1B1D21"/>
                </a:solidFill>
              </a:rPr>
              <a:t>外部趋势：吞吐与交互性同时优化</a:t>
            </a:r>
          </a:p>
        </p:txBody>
      </p:sp>
      <p:pic>
        <p:nvPicPr>
          <p:cNvPr id="62" name="图片 5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1542" y="4171950"/>
            <a:ext cx="2854766" cy="167640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6CF56A1B-7953-4963-AE02-3B710213B522}"/>
              </a:ext>
            </a:extLst>
          </p:cNvPr>
          <p:cNvSpPr>
            <a:spLocks noGrp="1"/>
          </p:cNvSpPr>
          <p:nvPr/>
        </p:nvSpPr>
        <p:spPr>
          <a:xfrm>
            <a:off x="5314950" y="1143000"/>
            <a:ext cx="626745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806ADF8-FBD3-4533-B34B-17DDDF1C4197}"/>
              </a:ext>
            </a:extLst>
          </p:cNvPr>
          <p:cNvSpPr>
            <a:spLocks noGrp="1"/>
          </p:cNvSpPr>
          <p:nvPr/>
        </p:nvSpPr>
        <p:spPr>
          <a:xfrm>
            <a:off x="5524500" y="12573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C00000"/>
                </a:solidFill>
              </a:defRPr>
            </a:pPr>
            <a:r>
              <a:rPr sz="1425" b="1">
                <a:solidFill>
                  <a:srgbClr val="C00000"/>
                </a:solidFill>
              </a:rPr>
              <a:t>01  弹性配比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50F32CE-0E1F-4D4A-9A67-40E3948837AF}"/>
              </a:ext>
            </a:extLst>
          </p:cNvPr>
          <p:cNvSpPr>
            <a:spLocks noGrp="1"/>
          </p:cNvSpPr>
          <p:nvPr/>
        </p:nvSpPr>
        <p:spPr>
          <a:xfrm>
            <a:off x="7486650" y="1276350"/>
            <a:ext cx="3848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解耦后可独立调整 A:F 实例比例，突破共置场景的共同 batch 上限。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85164E1-77C5-4644-BFE4-96F95BC062BB}"/>
              </a:ext>
            </a:extLst>
          </p:cNvPr>
          <p:cNvSpPr>
            <a:spLocks noGrp="1"/>
          </p:cNvSpPr>
          <p:nvPr/>
        </p:nvSpPr>
        <p:spPr>
          <a:xfrm>
            <a:off x="5619750" y="1562100"/>
            <a:ext cx="2552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898989"/>
                </a:solidFill>
              </a:defRPr>
            </a:pPr>
            <a:r>
              <a:rPr sz="975" b="1">
                <a:solidFill>
                  <a:srgbClr val="898989"/>
                </a:solidFill>
              </a:rPr>
              <a:t>共置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27B8F7-1783-4032-8802-32B71B7794E0}"/>
              </a:ext>
            </a:extLst>
          </p:cNvPr>
          <p:cNvSpPr>
            <a:spLocks noGrp="1"/>
          </p:cNvSpPr>
          <p:nvPr/>
        </p:nvSpPr>
        <p:spPr>
          <a:xfrm>
            <a:off x="8458200" y="1562100"/>
            <a:ext cx="2800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C00000"/>
                </a:solidFill>
              </a:defRPr>
            </a:pPr>
            <a:r>
              <a:rPr sz="975" b="1">
                <a:solidFill>
                  <a:srgbClr val="C00000"/>
                </a:solidFill>
              </a:rPr>
              <a:t>解耦</a:t>
            </a:r>
          </a:p>
        </p:txBody>
      </p:sp>
      <p:pic>
        <p:nvPicPr>
          <p:cNvPr id="68" name="图片 6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34" y="1752600"/>
            <a:ext cx="1517333" cy="1028700"/>
          </a:xfrm>
          <a:prstGeom prst="rect">
            <a:avLst/>
          </a:prstGeom>
        </p:spPr>
      </p:pic>
      <p:pic>
        <p:nvPicPr>
          <p:cNvPr id="69" name="图片 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8727" y="1752600"/>
            <a:ext cx="1539296" cy="1028700"/>
          </a:xfrm>
          <a:prstGeom prst="rect">
            <a:avLst/>
          </a:prstGeom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CD3A91E4-5631-4FC2-AE24-065E09F287C3}"/>
              </a:ext>
            </a:extLst>
          </p:cNvPr>
          <p:cNvSpPr>
            <a:spLocks noGrp="1"/>
          </p:cNvSpPr>
          <p:nvPr/>
        </p:nvSpPr>
        <p:spPr>
          <a:xfrm>
            <a:off x="5314950" y="3048000"/>
            <a:ext cx="626745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24F9EE9-8F1D-428D-BC8E-92C84A632149}"/>
              </a:ext>
            </a:extLst>
          </p:cNvPr>
          <p:cNvSpPr>
            <a:spLocks noGrp="1"/>
          </p:cNvSpPr>
          <p:nvPr/>
        </p:nvSpPr>
        <p:spPr>
          <a:xfrm>
            <a:off x="5524500" y="31432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C00000"/>
                </a:solidFill>
              </a:defRPr>
            </a:pPr>
            <a:r>
              <a:rPr sz="1425" b="1">
                <a:solidFill>
                  <a:srgbClr val="C00000"/>
                </a:solidFill>
              </a:rPr>
              <a:t>02  异构部署</a:t>
            </a:r>
          </a:p>
        </p:txBody>
      </p:sp>
      <p:pic>
        <p:nvPicPr>
          <p:cNvPr id="72" name="图片 6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0420" y="3467100"/>
            <a:ext cx="3545811" cy="1066800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CC74FAF7-434E-48A2-A110-1DD7AE73D286}"/>
              </a:ext>
            </a:extLst>
          </p:cNvPr>
          <p:cNvSpPr>
            <a:spLocks noGrp="1"/>
          </p:cNvSpPr>
          <p:nvPr/>
        </p:nvSpPr>
        <p:spPr>
          <a:xfrm>
            <a:off x="9734550" y="3409950"/>
            <a:ext cx="161925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Attention 与 FFN 可分别选择成本效率更优的硬件。</a:t>
            </a:r>
          </a:p>
          <a:p>
            <a:endParaRPr sz="975"/>
          </a:p>
          <a:p>
            <a:pPr algn="l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异构组合具备</a:t>
            </a:r>
          </a:p>
          <a:p>
            <a:pPr algn="l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进一步压低 decode cost 的空间。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A6628EC-75A6-4202-9F4B-4E7D97FCF287}"/>
              </a:ext>
            </a:extLst>
          </p:cNvPr>
          <p:cNvSpPr>
            <a:spLocks noGrp="1"/>
          </p:cNvSpPr>
          <p:nvPr/>
        </p:nvSpPr>
        <p:spPr>
          <a:xfrm>
            <a:off x="5314950" y="4838700"/>
            <a:ext cx="62674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DEBBD7C-D7BE-4CB9-8984-478A6B6597F7}"/>
              </a:ext>
            </a:extLst>
          </p:cNvPr>
          <p:cNvSpPr>
            <a:spLocks noGrp="1"/>
          </p:cNvSpPr>
          <p:nvPr/>
        </p:nvSpPr>
        <p:spPr>
          <a:xfrm>
            <a:off x="5524500" y="4933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C00000"/>
                </a:solidFill>
              </a:defRPr>
            </a:pPr>
            <a:r>
              <a:rPr sz="1425" b="1">
                <a:solidFill>
                  <a:srgbClr val="C00000"/>
                </a:solidFill>
              </a:rPr>
              <a:t>03  低时延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A885715-835B-4DBA-AA22-89058EC71CF6}"/>
              </a:ext>
            </a:extLst>
          </p:cNvPr>
          <p:cNvSpPr>
            <a:spLocks noGrp="1"/>
          </p:cNvSpPr>
          <p:nvPr/>
        </p:nvSpPr>
        <p:spPr>
          <a:xfrm>
            <a:off x="5524500" y="5257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00" b="1">
                <a:solidFill>
                  <a:srgbClr val="555757"/>
                </a:solidFill>
              </a:defRPr>
            </a:pPr>
            <a:r>
              <a:rPr sz="900" b="1">
                <a:solidFill>
                  <a:srgbClr val="555757"/>
                </a:solidFill>
              </a:rPr>
              <a:t>同步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0D2C8EE-D891-4AB3-BF68-D7EC273F72DF}"/>
              </a:ext>
            </a:extLst>
          </p:cNvPr>
          <p:cNvSpPr>
            <a:spLocks noGrp="1"/>
          </p:cNvSpPr>
          <p:nvPr/>
        </p:nvSpPr>
        <p:spPr>
          <a:xfrm>
            <a:off x="5524500" y="558165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00" b="1">
                <a:solidFill>
                  <a:srgbClr val="C00000"/>
                </a:solidFill>
              </a:defRPr>
            </a:pPr>
            <a:r>
              <a:rPr sz="900" b="1">
                <a:solidFill>
                  <a:srgbClr val="C00000"/>
                </a:solidFill>
              </a:rPr>
              <a:t>异步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80A01FE-5276-47A3-BD40-71BE3072049B}"/>
              </a:ext>
            </a:extLst>
          </p:cNvPr>
          <p:cNvSpPr>
            <a:spLocks noGrp="1"/>
          </p:cNvSpPr>
          <p:nvPr/>
        </p:nvSpPr>
        <p:spPr>
          <a:xfrm>
            <a:off x="6057900" y="5257800"/>
            <a:ext cx="514350" cy="171450"/>
          </a:xfrm>
          <a:prstGeom prst="rect">
            <a:avLst/>
          </a:prstGeom>
          <a:solidFill>
            <a:srgbClr val="EDF6E7"/>
          </a:solidFill>
          <a:ln w="9525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E1F3A09-CB07-4EF7-96EA-347A91B14274}"/>
              </a:ext>
            </a:extLst>
          </p:cNvPr>
          <p:cNvSpPr>
            <a:spLocks noGrp="1"/>
          </p:cNvSpPr>
          <p:nvPr/>
        </p:nvSpPr>
        <p:spPr>
          <a:xfrm>
            <a:off x="6629400" y="5238750"/>
            <a:ext cx="95250" cy="209550"/>
          </a:xfrm>
          <a:prstGeom prst="rect">
            <a:avLst/>
          </a:prstGeom>
          <a:solidFill>
            <a:srgbClr val="E9F1FB"/>
          </a:solidFill>
          <a:ln w="9525">
            <a:solidFill>
              <a:srgbClr val="2046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DF7FCFD-12DF-4D7E-9F19-6EB55943D97C}"/>
              </a:ext>
            </a:extLst>
          </p:cNvPr>
          <p:cNvSpPr>
            <a:spLocks noGrp="1"/>
          </p:cNvSpPr>
          <p:nvPr/>
        </p:nvSpPr>
        <p:spPr>
          <a:xfrm>
            <a:off x="6800850" y="5257800"/>
            <a:ext cx="514350" cy="171450"/>
          </a:xfrm>
          <a:prstGeom prst="rect">
            <a:avLst/>
          </a:prstGeom>
          <a:solidFill>
            <a:srgbClr val="EDF6E7"/>
          </a:solidFill>
          <a:ln w="9525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B7CCE16-9084-4B75-BD3B-629850A4FD5E}"/>
              </a:ext>
            </a:extLst>
          </p:cNvPr>
          <p:cNvSpPr>
            <a:spLocks noGrp="1"/>
          </p:cNvSpPr>
          <p:nvPr/>
        </p:nvSpPr>
        <p:spPr>
          <a:xfrm>
            <a:off x="7372350" y="5238750"/>
            <a:ext cx="95250" cy="209550"/>
          </a:xfrm>
          <a:prstGeom prst="rect">
            <a:avLst/>
          </a:prstGeom>
          <a:solidFill>
            <a:srgbClr val="E9F1FB"/>
          </a:solidFill>
          <a:ln w="9525">
            <a:solidFill>
              <a:srgbClr val="2046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4859419-D70A-4370-842B-1F7070D8F9B0}"/>
              </a:ext>
            </a:extLst>
          </p:cNvPr>
          <p:cNvSpPr>
            <a:spLocks noGrp="1"/>
          </p:cNvSpPr>
          <p:nvPr/>
        </p:nvSpPr>
        <p:spPr>
          <a:xfrm>
            <a:off x="7543800" y="5257800"/>
            <a:ext cx="514350" cy="171450"/>
          </a:xfrm>
          <a:prstGeom prst="rect">
            <a:avLst/>
          </a:prstGeom>
          <a:solidFill>
            <a:srgbClr val="EDF6E7"/>
          </a:solidFill>
          <a:ln w="9525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58F1C4D-EA6C-40DB-81C2-AADE5A58D660}"/>
              </a:ext>
            </a:extLst>
          </p:cNvPr>
          <p:cNvSpPr>
            <a:spLocks noGrp="1"/>
          </p:cNvSpPr>
          <p:nvPr/>
        </p:nvSpPr>
        <p:spPr>
          <a:xfrm>
            <a:off x="8115300" y="5238750"/>
            <a:ext cx="95250" cy="209550"/>
          </a:xfrm>
          <a:prstGeom prst="rect">
            <a:avLst/>
          </a:prstGeom>
          <a:solidFill>
            <a:srgbClr val="E9F1FB"/>
          </a:solidFill>
          <a:ln w="9525">
            <a:solidFill>
              <a:srgbClr val="2046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713AAD9-D154-4850-ADD0-6C779E2B0EFA}"/>
              </a:ext>
            </a:extLst>
          </p:cNvPr>
          <p:cNvSpPr>
            <a:spLocks noGrp="1"/>
          </p:cNvSpPr>
          <p:nvPr/>
        </p:nvSpPr>
        <p:spPr>
          <a:xfrm>
            <a:off x="8286750" y="5257800"/>
            <a:ext cx="514350" cy="171450"/>
          </a:xfrm>
          <a:prstGeom prst="rect">
            <a:avLst/>
          </a:prstGeom>
          <a:solidFill>
            <a:srgbClr val="EDF6E7"/>
          </a:solidFill>
          <a:ln w="9525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7ADD27B-EF94-4062-912B-4085AE6CEEA4}"/>
              </a:ext>
            </a:extLst>
          </p:cNvPr>
          <p:cNvSpPr>
            <a:spLocks noGrp="1"/>
          </p:cNvSpPr>
          <p:nvPr/>
        </p:nvSpPr>
        <p:spPr>
          <a:xfrm>
            <a:off x="8858250" y="523875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898989"/>
                </a:solidFill>
              </a:defRPr>
            </a:pPr>
            <a:r>
              <a:rPr sz="750" b="0">
                <a:solidFill>
                  <a:srgbClr val="898989"/>
                </a:solidFill>
              </a:rPr>
              <a:t>全局屏障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912F402-F919-4DFD-87FC-EB9211D23D37}"/>
              </a:ext>
            </a:extLst>
          </p:cNvPr>
          <p:cNvSpPr>
            <a:spLocks noGrp="1"/>
          </p:cNvSpPr>
          <p:nvPr/>
        </p:nvSpPr>
        <p:spPr>
          <a:xfrm>
            <a:off x="6057900" y="5581650"/>
            <a:ext cx="590550" cy="171450"/>
          </a:xfrm>
          <a:prstGeom prst="rect">
            <a:avLst/>
          </a:prstGeom>
          <a:solidFill>
            <a:srgbClr val="EDF6E7"/>
          </a:solidFill>
          <a:ln w="9525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881DAA1-750C-475E-A9C6-A6083D8B1496}"/>
              </a:ext>
            </a:extLst>
          </p:cNvPr>
          <p:cNvSpPr>
            <a:spLocks noGrp="1"/>
          </p:cNvSpPr>
          <p:nvPr/>
        </p:nvSpPr>
        <p:spPr>
          <a:xfrm>
            <a:off x="6705600" y="5581650"/>
            <a:ext cx="171450" cy="171450"/>
          </a:xfrm>
          <a:prstGeom prst="rect">
            <a:avLst/>
          </a:prstGeom>
          <a:solidFill>
            <a:srgbClr val="E9F1FB"/>
          </a:solidFill>
          <a:ln w="9525">
            <a:solidFill>
              <a:srgbClr val="2046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6B51A4D7-467A-4974-9EF2-E6DFDA08B53C}"/>
              </a:ext>
            </a:extLst>
          </p:cNvPr>
          <p:cNvSpPr>
            <a:spLocks noGrp="1"/>
          </p:cNvSpPr>
          <p:nvPr/>
        </p:nvSpPr>
        <p:spPr>
          <a:xfrm>
            <a:off x="6934200" y="5629275"/>
            <a:ext cx="495300" cy="171450"/>
          </a:xfrm>
          <a:prstGeom prst="rect">
            <a:avLst/>
          </a:prstGeom>
          <a:solidFill>
            <a:srgbClr val="EDF6E7"/>
          </a:solidFill>
          <a:ln w="9525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81205A6-75F6-49F3-9408-702991469C4C}"/>
              </a:ext>
            </a:extLst>
          </p:cNvPr>
          <p:cNvSpPr>
            <a:spLocks noGrp="1"/>
          </p:cNvSpPr>
          <p:nvPr/>
        </p:nvSpPr>
        <p:spPr>
          <a:xfrm>
            <a:off x="7486650" y="5543550"/>
            <a:ext cx="171450" cy="171450"/>
          </a:xfrm>
          <a:prstGeom prst="rect">
            <a:avLst/>
          </a:prstGeom>
          <a:solidFill>
            <a:srgbClr val="E9F1FB"/>
          </a:solidFill>
          <a:ln w="9525">
            <a:solidFill>
              <a:srgbClr val="2046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830166C-7159-4832-B6DA-D4EEE9291E0F}"/>
              </a:ext>
            </a:extLst>
          </p:cNvPr>
          <p:cNvSpPr>
            <a:spLocks noGrp="1"/>
          </p:cNvSpPr>
          <p:nvPr/>
        </p:nvSpPr>
        <p:spPr>
          <a:xfrm>
            <a:off x="7715250" y="5581650"/>
            <a:ext cx="628650" cy="171450"/>
          </a:xfrm>
          <a:prstGeom prst="rect">
            <a:avLst/>
          </a:prstGeom>
          <a:solidFill>
            <a:srgbClr val="EDF6E7"/>
          </a:solidFill>
          <a:ln w="9525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26AFE21-6695-47E2-AB9C-5D76A01BD072}"/>
              </a:ext>
            </a:extLst>
          </p:cNvPr>
          <p:cNvSpPr>
            <a:spLocks noGrp="1"/>
          </p:cNvSpPr>
          <p:nvPr/>
        </p:nvSpPr>
        <p:spPr>
          <a:xfrm>
            <a:off x="8401050" y="5638800"/>
            <a:ext cx="171450" cy="171450"/>
          </a:xfrm>
          <a:prstGeom prst="rect">
            <a:avLst/>
          </a:prstGeom>
          <a:solidFill>
            <a:srgbClr val="E9F1FB"/>
          </a:solidFill>
          <a:ln w="9525">
            <a:solidFill>
              <a:srgbClr val="2046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9AF4C13-5E25-414E-8FDF-CABB1C8C2452}"/>
              </a:ext>
            </a:extLst>
          </p:cNvPr>
          <p:cNvSpPr>
            <a:spLocks noGrp="1"/>
          </p:cNvSpPr>
          <p:nvPr/>
        </p:nvSpPr>
        <p:spPr>
          <a:xfrm>
            <a:off x="8629650" y="5581650"/>
            <a:ext cx="590550" cy="171450"/>
          </a:xfrm>
          <a:prstGeom prst="rect">
            <a:avLst/>
          </a:prstGeom>
          <a:solidFill>
            <a:srgbClr val="EDF6E7"/>
          </a:solidFill>
          <a:ln w="9525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99B286B-85C5-4BD9-9A06-1776247E5207}"/>
              </a:ext>
            </a:extLst>
          </p:cNvPr>
          <p:cNvSpPr>
            <a:spLocks noGrp="1"/>
          </p:cNvSpPr>
          <p:nvPr/>
        </p:nvSpPr>
        <p:spPr>
          <a:xfrm>
            <a:off x="9429750" y="5200650"/>
            <a:ext cx="19240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异步调度消除全局同步屏障，</a:t>
            </a:r>
          </a:p>
          <a:p>
            <a:pPr algn="l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让通信与计算重叠，减少 idle waiting。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BEB42FB-C48C-4012-BE00-EDBB7BAA0622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75" b="0" i="1">
                <a:solidFill>
                  <a:srgbClr val="898989"/>
                </a:solidFill>
              </a:defRPr>
            </a:pPr>
            <a:r>
              <a:rPr sz="675" b="0" i="1">
                <a:solidFill>
                  <a:srgbClr val="898989"/>
                </a:solidFill>
              </a:rPr>
              <a:t>来源：原始 PPT 第 1 页（Methodology / Benefits）</a:t>
            </a:r>
          </a:p>
        </p:txBody>
      </p:sp>
    </p:spTree>
    <p:extLst>
      <p:ext uri="{BB962C8B-B14F-4D97-AF65-F5344CB8AC3E}">
        <p14:creationId xmlns:p14="http://schemas.microsoft.com/office/powerpoint/2010/main" val="1269430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967932D-F650-4873-A080-3319570047E7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>
                <a:solidFill>
                  <a:srgbClr val="898989"/>
                </a:solidFill>
              </a:defRPr>
            </a:pPr>
            <a:r>
              <a:rPr sz="825" b="1">
                <a:solidFill>
                  <a:srgbClr val="898989"/>
                </a:solidFill>
              </a:rPr>
              <a:t>PROJECT OVERVIEW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B1D35E-8623-482F-BEA4-024D84C56A64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C00000"/>
                </a:solidFill>
              </a:defRPr>
            </a:pPr>
            <a:r>
              <a:rPr sz="2250" b="1">
                <a:solidFill>
                  <a:srgbClr val="C00000"/>
                </a:solidFill>
              </a:rPr>
              <a:t>AFD Plugin 是 vLLM 的 Attention–FFN 解耦外部插件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CB71FF-2B57-48AA-8693-6E2F8037C74E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C8C5124-777F-49B4-AE3E-9751EF3A0407}"/>
              </a:ext>
            </a:extLst>
          </p:cNvPr>
          <p:cNvSpPr>
            <a:spLocks noGrp="1"/>
          </p:cNvSpPr>
          <p:nvPr/>
        </p:nvSpPr>
        <p:spPr>
          <a:xfrm>
            <a:off x="11430000" y="6419850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</a:defRPr>
            </a:pPr>
            <a:r>
              <a:rPr sz="825" b="0">
                <a:solidFill>
                  <a:srgbClr val="898989"/>
                </a:solidFill>
              </a:rPr>
              <a:t>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0FBF93-F891-4C99-AD08-412E7C14564B}"/>
              </a:ext>
            </a:extLst>
          </p:cNvPr>
          <p:cNvSpPr>
            <a:spLocks noGrp="1"/>
          </p:cNvSpPr>
          <p:nvPr/>
        </p:nvSpPr>
        <p:spPr>
          <a:xfrm>
            <a:off x="609600" y="11906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969DA"/>
                </a:solidFill>
              </a:defRPr>
            </a:pPr>
            <a:r>
              <a:rPr sz="1500" b="1">
                <a:solidFill>
                  <a:srgbClr val="0969DA"/>
                </a:solidFill>
              </a:rPr>
              <a:t>github.com/vllm-project/afd-plugin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63769-987E-41B4-9DA8-6201FA43BA2E}"/>
              </a:ext>
            </a:extLst>
          </p:cNvPr>
          <p:cNvSpPr>
            <a:spLocks noGrp="1"/>
          </p:cNvSpPr>
          <p:nvPr/>
        </p:nvSpPr>
        <p:spPr>
          <a:xfrm>
            <a:off x="609600" y="1847850"/>
            <a:ext cx="4762500" cy="9525"/>
          </a:xfrm>
          <a:prstGeom prst="rect">
            <a:avLst/>
          </a:prstGeom>
          <a:solidFill>
            <a:srgbClr val="D0D7DE"/>
          </a:solidFill>
          <a:ln w="0">
            <a:solidFill>
              <a:srgbClr val="D0D7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6F7F51-FFEE-4AAA-9103-9C1B4C3EB23D}"/>
              </a:ext>
            </a:extLst>
          </p:cNvPr>
          <p:cNvSpPr>
            <a:spLocks noGrp="1"/>
          </p:cNvSpPr>
          <p:nvPr/>
        </p:nvSpPr>
        <p:spPr>
          <a:xfrm>
            <a:off x="609600" y="2019300"/>
            <a:ext cx="4667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55757"/>
                </a:solidFill>
              </a:defRPr>
            </a:pPr>
            <a:r>
              <a:rPr sz="1275" b="0">
                <a:solidFill>
                  <a:srgbClr val="555757"/>
                </a:solidFill>
              </a:rPr>
              <a:t>将 Attention 与 FFN / MoE 拆为独立运行角色，通过 Connector 交换激活，并让两侧资源按负载独立扩缩。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F6DC57-A900-45C0-B92A-D26E501EEC36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4667250" cy="19050"/>
          </a:xfrm>
          <a:prstGeom prst="rect">
            <a:avLst/>
          </a:prstGeom>
          <a:solidFill>
            <a:srgbClr val="2046A0"/>
          </a:solidFill>
          <a:ln w="0">
            <a:solidFill>
              <a:srgbClr val="2046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BD91893-385D-4B49-AD8A-B2F0CD2B2F71}"/>
              </a:ext>
            </a:extLst>
          </p:cNvPr>
          <p:cNvSpPr>
            <a:spLocks noGrp="1"/>
          </p:cNvSpPr>
          <p:nvPr/>
        </p:nvSpPr>
        <p:spPr>
          <a:xfrm>
            <a:off x="609600" y="3048000"/>
            <a:ext cx="1466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2046A0"/>
                </a:solidFill>
              </a:defRPr>
            </a:pPr>
            <a:r>
              <a:rPr sz="1200" b="1">
                <a:solidFill>
                  <a:srgbClr val="2046A0"/>
                </a:solidFill>
              </a:rPr>
              <a:t>插件化接入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DB250AF-EA0C-44D9-A4ED-67E6ADA78687}"/>
              </a:ext>
            </a:extLst>
          </p:cNvPr>
          <p:cNvSpPr>
            <a:spLocks noGrp="1"/>
          </p:cNvSpPr>
          <p:nvPr/>
        </p:nvSpPr>
        <p:spPr>
          <a:xfrm>
            <a:off x="1962150" y="3019425"/>
            <a:ext cx="3314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通过 vllm.general_plugins、role worker、model wrapper 与 additional_config 接入。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ADFD1BC-82E8-4BB3-A7EE-195B672528CE}"/>
              </a:ext>
            </a:extLst>
          </p:cNvPr>
          <p:cNvSpPr>
            <a:spLocks noGrp="1"/>
          </p:cNvSpPr>
          <p:nvPr/>
        </p:nvSpPr>
        <p:spPr>
          <a:xfrm>
            <a:off x="609600" y="3752850"/>
            <a:ext cx="4667250" cy="19050"/>
          </a:xfrm>
          <a:prstGeom prst="rect">
            <a:avLst/>
          </a:prstGeom>
          <a:solidFill>
            <a:srgbClr val="7757B5"/>
          </a:solidFill>
          <a:ln w="0">
            <a:solidFill>
              <a:srgbClr val="7757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90C3F35-D043-47D6-B2AE-5F6FEAF84451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466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7757B5"/>
                </a:solidFill>
              </a:defRPr>
            </a:pPr>
            <a:r>
              <a:rPr sz="1200" b="1">
                <a:solidFill>
                  <a:srgbClr val="7757B5"/>
                </a:solidFill>
              </a:rPr>
              <a:t>多硬件、多模式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6496EA0-3535-4DBB-AFCA-EF008B7DF358}"/>
              </a:ext>
            </a:extLst>
          </p:cNvPr>
          <p:cNvSpPr>
            <a:spLocks noGrp="1"/>
          </p:cNvSpPr>
          <p:nvPr/>
        </p:nvSpPr>
        <p:spPr>
          <a:xfrm>
            <a:off x="1962150" y="3819525"/>
            <a:ext cx="3314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覆盖 CUDA 与 Ascend NPU，支持同步 Decode 与异步 Prefill Connector。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27DFD16-884B-4D32-A098-5FE411DF1350}"/>
              </a:ext>
            </a:extLst>
          </p:cNvPr>
          <p:cNvSpPr>
            <a:spLocks noGrp="1"/>
          </p:cNvSpPr>
          <p:nvPr/>
        </p:nvSpPr>
        <p:spPr>
          <a:xfrm>
            <a:off x="609600" y="4552950"/>
            <a:ext cx="4667250" cy="19050"/>
          </a:xfrm>
          <a:prstGeom prst="rect">
            <a:avLst/>
          </a:prstGeom>
          <a:solidFill>
            <a:srgbClr val="56870C"/>
          </a:solidFill>
          <a:ln w="0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054431-CAD5-420F-BD1F-8626AAE80A71}"/>
              </a:ext>
            </a:extLst>
          </p:cNvPr>
          <p:cNvSpPr>
            <a:spLocks noGrp="1"/>
          </p:cNvSpPr>
          <p:nvPr/>
        </p:nvSpPr>
        <p:spPr>
          <a:xfrm>
            <a:off x="609600" y="4648200"/>
            <a:ext cx="1466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56870C"/>
                </a:solidFill>
              </a:defRPr>
            </a:pPr>
            <a:r>
              <a:rPr sz="1200" b="1">
                <a:solidFill>
                  <a:srgbClr val="56870C"/>
                </a:solidFill>
              </a:rPr>
              <a:t>明确的兼容边界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17E3E87-0D02-4E0C-9CCF-61458503CAD5}"/>
              </a:ext>
            </a:extLst>
          </p:cNvPr>
          <p:cNvSpPr>
            <a:spLocks noGrp="1"/>
          </p:cNvSpPr>
          <p:nvPr/>
        </p:nvSpPr>
        <p:spPr>
          <a:xfrm>
            <a:off x="1962150" y="4619625"/>
            <a:ext cx="3314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不修改 vLLM/vLLM-Ascend source tree。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4E11A22-381A-4406-A09C-A293BB278C41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4667250" cy="533400"/>
          </a:xfrm>
          <a:prstGeom prst="rect">
            <a:avLst/>
          </a:prstGeom>
          <a:solidFill>
            <a:srgbClr val="FFF5DF"/>
          </a:solidFill>
          <a:ln w="9525">
            <a:solidFill>
              <a:srgbClr val="ED6D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AEDD744-AD68-4E77-BD09-1ADDD4F56EF8}"/>
              </a:ext>
            </a:extLst>
          </p:cNvPr>
          <p:cNvSpPr>
            <a:spLocks noGrp="1"/>
          </p:cNvSpPr>
          <p:nvPr/>
        </p:nvSpPr>
        <p:spPr>
          <a:xfrm>
            <a:off x="781050" y="5572125"/>
            <a:ext cx="432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555757"/>
                </a:solidFill>
              </a:defRPr>
            </a:pPr>
            <a:r>
              <a:rPr sz="975" b="0">
                <a:solidFill>
                  <a:srgbClr val="555757"/>
                </a:solidFill>
              </a:rPr>
              <a:t>当前状态：experimental，仍需在更多硬件与大规模场景中验证。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F2C0478-D1DF-4D28-9CC4-AD28C68EFA83}"/>
              </a:ext>
            </a:extLst>
          </p:cNvPr>
          <p:cNvSpPr>
            <a:spLocks noGrp="1"/>
          </p:cNvSpPr>
          <p:nvPr/>
        </p:nvSpPr>
        <p:spPr>
          <a:xfrm>
            <a:off x="5657850" y="1143000"/>
            <a:ext cx="5924550" cy="485775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4" name="图片 42"/>
          <p:cNvPicPr>
            <a:picLocks noChangeAspect="1"/>
          </p:cNvPicPr>
          <p:nvPr/>
        </p:nvPicPr>
        <p:blipFill>
          <a:blip r:embed="rId3"/>
          <a:srcRect l="3296" r="3296"/>
          <a:stretch>
            <a:fillRect/>
          </a:stretch>
        </p:blipFill>
        <p:spPr>
          <a:xfrm>
            <a:off x="5810250" y="1295400"/>
            <a:ext cx="5619750" cy="455295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EE81B434-9435-4151-AF42-6821BF299B24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75" b="0" i="1">
                <a:solidFill>
                  <a:srgbClr val="898989"/>
                </a:solidFill>
              </a:defRPr>
            </a:pPr>
            <a:r>
              <a:rPr sz="675" b="0" i="1">
                <a:solidFill>
                  <a:srgbClr val="898989"/>
                </a:solidFill>
              </a:rPr>
              <a:t>来源：README.md；https://github.com/vllm-project/afd-plugin</a:t>
            </a:r>
          </a:p>
        </p:txBody>
      </p:sp>
    </p:spTree>
    <p:extLst>
      <p:ext uri="{BB962C8B-B14F-4D97-AF65-F5344CB8AC3E}">
        <p14:creationId xmlns:p14="http://schemas.microsoft.com/office/powerpoint/2010/main" val="2007680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9C9CB4A0-4EC9-48A9-A8B7-480FAD81A4AD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>
                <a:solidFill>
                  <a:srgbClr val="898989"/>
                </a:solidFill>
              </a:defRPr>
            </a:pPr>
            <a:r>
              <a:rPr sz="825" b="1">
                <a:solidFill>
                  <a:srgbClr val="898989"/>
                </a:solidFill>
              </a:rPr>
              <a:t>ARCHITECTURE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6732BB-D9B6-43BD-888E-5A4885D5189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C00000"/>
                </a:solidFill>
              </a:defRPr>
            </a:pPr>
            <a:r>
              <a:rPr sz="2250" b="1">
                <a:solidFill>
                  <a:srgbClr val="C00000"/>
                </a:solidFill>
              </a:rPr>
              <a:t>AFD Plugin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FCF57AC-A755-4475-A297-98C4D3E0E739}"/>
              </a:ext>
            </a:extLst>
          </p:cNvPr>
          <p:cNvSpPr>
            <a:spLocks noGrp="1"/>
          </p:cNvSpPr>
          <p:nvPr/>
        </p:nvSpPr>
        <p:spPr>
          <a:xfrm>
            <a:off x="11430000" y="6419850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</a:defRPr>
            </a:pPr>
            <a:r>
              <a:rPr sz="825" b="0">
                <a:solidFill>
                  <a:srgbClr val="898989"/>
                </a:solidFill>
              </a:rPr>
              <a:t>5</a:t>
            </a:r>
          </a:p>
        </p:txBody>
      </p:sp>
      <p:pic>
        <p:nvPicPr>
          <p:cNvPr id="35" name="图片 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248" y="1247775"/>
            <a:ext cx="7332155" cy="4124325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1ADCEA46-BFCB-46AC-B9F2-D58E1016F897}"/>
              </a:ext>
            </a:extLst>
          </p:cNvPr>
          <p:cNvSpPr>
            <a:spLocks noGrp="1"/>
          </p:cNvSpPr>
          <p:nvPr/>
        </p:nvSpPr>
        <p:spPr>
          <a:xfrm>
            <a:off x="7953375" y="1271270"/>
            <a:ext cx="3667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</a:defRPr>
            </a:pPr>
            <a:r>
              <a:rPr sz="1125" b="1">
                <a:solidFill>
                  <a:srgbClr val="1B1D21"/>
                </a:solidFill>
              </a:rPr>
              <a:t>Attention Role｜负责调度、KV Cache 与注意力计算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CE0E1A3-C835-4062-BDD0-2A3753E765B6}"/>
              </a:ext>
            </a:extLst>
          </p:cNvPr>
          <p:cNvSpPr>
            <a:spLocks noGrp="1"/>
          </p:cNvSpPr>
          <p:nvPr/>
        </p:nvSpPr>
        <p:spPr>
          <a:xfrm>
            <a:off x="7953375" y="1480820"/>
            <a:ext cx="366712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65" b="0">
                <a:solidFill>
                  <a:srgbClr val="555757"/>
                </a:solidFill>
              </a:defRPr>
            </a:pPr>
            <a:r>
              <a:rPr sz="865" b="0">
                <a:solidFill>
                  <a:srgbClr val="555757"/>
                </a:solidFill>
              </a:rPr>
              <a:t>• </a:t>
            </a:r>
            <a:r>
              <a:rPr sz="865" b="1">
                <a:solidFill>
                  <a:srgbClr val="555757"/>
                </a:solidFill>
              </a:rPr>
              <a:t>AFDAttentionWorker：</a:t>
            </a:r>
            <a:r>
              <a:rPr sz="865" b="0">
                <a:solidFill>
                  <a:srgbClr val="555757"/>
                </a:solidFill>
              </a:rPr>
              <a:t>负责请求执行、设备协调、调度与状态管理。
• </a:t>
            </a:r>
            <a:r>
              <a:rPr sz="865" b="1">
                <a:solidFill>
                  <a:srgbClr val="555757"/>
                </a:solidFill>
              </a:rPr>
              <a:t>AFDAttentionModelRunner：</a:t>
            </a:r>
            <a:r>
              <a:rPr sz="865" b="0">
                <a:solidFill>
                  <a:srgbClr val="555757"/>
                </a:solidFill>
              </a:rPr>
              <a:t>组织批次、Attention 前向、KV Cache 与图执行。
• </a:t>
            </a:r>
            <a:r>
              <a:rPr sz="865" b="1">
                <a:solidFill>
                  <a:srgbClr val="555757"/>
                </a:solidFill>
              </a:rPr>
              <a:t>AFD Metadata：</a:t>
            </a:r>
            <a:r>
              <a:rPr sz="865" b="0">
                <a:solidFill>
                  <a:srgbClr val="555757"/>
                </a:solidFill>
              </a:rPr>
              <a:t>维护 DP、uBatch、序列映射及图运行元数据。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875513-4EF7-4F6E-B9C9-3CF587C1FAA8}"/>
              </a:ext>
            </a:extLst>
          </p:cNvPr>
          <p:cNvSpPr>
            <a:spLocks noGrp="1"/>
          </p:cNvSpPr>
          <p:nvPr/>
        </p:nvSpPr>
        <p:spPr>
          <a:xfrm>
            <a:off x="7953375" y="2266950"/>
            <a:ext cx="36671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35BD45E-DDC6-4D6D-894E-D74AE99387E8}"/>
              </a:ext>
            </a:extLst>
          </p:cNvPr>
          <p:cNvSpPr>
            <a:spLocks noGrp="1"/>
          </p:cNvSpPr>
          <p:nvPr/>
        </p:nvSpPr>
        <p:spPr>
          <a:xfrm>
            <a:off x="7953375" y="2343150"/>
            <a:ext cx="3667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</a:defRPr>
            </a:pPr>
            <a:r>
              <a:rPr sz="1125" b="1">
                <a:solidFill>
                  <a:srgbClr val="1B1D21"/>
                </a:solidFill>
              </a:rPr>
              <a:t>AFDConnector｜提供 Send / Recv 等通信能力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D8319D7-44B5-4610-ACA5-88C24EDFDE77}"/>
              </a:ext>
            </a:extLst>
          </p:cNvPr>
          <p:cNvSpPr>
            <a:spLocks noGrp="1"/>
          </p:cNvSpPr>
          <p:nvPr/>
        </p:nvSpPr>
        <p:spPr>
          <a:xfrm>
            <a:off x="7953375" y="2552700"/>
            <a:ext cx="3667125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65" b="0">
                <a:solidFill>
                  <a:srgbClr val="555757"/>
                </a:solidFill>
              </a:defRPr>
            </a:pPr>
            <a:r>
              <a:rPr sz="865" b="0">
                <a:solidFill>
                  <a:srgbClr val="555757"/>
                </a:solidFill>
              </a:rPr>
              <a:t>• </a:t>
            </a:r>
            <a:r>
              <a:rPr sz="865" b="1">
                <a:solidFill>
                  <a:srgbClr val="555757"/>
                </a:solidFill>
              </a:rPr>
              <a:t>P2pNcclAFDConnector：</a:t>
            </a:r>
            <a:r>
              <a:rPr sz="865" b="0">
                <a:solidFill>
                  <a:srgbClr val="555757"/>
                </a:solidFill>
              </a:rPr>
              <a:t>基于 GPU NCCL P2P Send / Recv 传输激活与结果。
• </a:t>
            </a:r>
            <a:r>
              <a:rPr sz="865" b="1">
                <a:solidFill>
                  <a:srgbClr val="555757"/>
                </a:solidFill>
              </a:rPr>
              <a:t>CAMP2pAFDConnector：</a:t>
            </a:r>
            <a:r>
              <a:rPr sz="865" b="0">
                <a:solidFill>
                  <a:srgbClr val="555757"/>
                </a:solidFill>
              </a:rPr>
              <a:t>基于NPU，使用 HCCL / CANN 同步收发张量。
• </a:t>
            </a:r>
            <a:r>
              <a:rPr sz="865" b="1">
                <a:solidFill>
                  <a:srgbClr val="555757"/>
                </a:solidFill>
              </a:rPr>
              <a:t>CAMAsyncAFDConnector：</a:t>
            </a:r>
            <a:r>
              <a:rPr sz="865" b="0">
                <a:solidFill>
                  <a:srgbClr val="555757"/>
                </a:solidFill>
              </a:rPr>
              <a:t>基于NPU，通过 CAM 算子异步交换 MoE 数据。
• </a:t>
            </a:r>
            <a:r>
              <a:rPr sz="865" b="1">
                <a:solidFill>
                  <a:srgbClr val="555757"/>
                </a:solidFill>
              </a:rPr>
              <a:t>Others：</a:t>
            </a:r>
            <a:r>
              <a:rPr sz="865" b="0">
                <a:solidFill>
                  <a:srgbClr val="555757"/>
                </a:solidFill>
              </a:rPr>
              <a:t>预留其他加速器与通信后端的扩展接口。未来可新增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7650D2F-503D-4905-937B-727DFE4A3C10}"/>
              </a:ext>
            </a:extLst>
          </p:cNvPr>
          <p:cNvSpPr>
            <a:spLocks noGrp="1"/>
          </p:cNvSpPr>
          <p:nvPr/>
        </p:nvSpPr>
        <p:spPr>
          <a:xfrm>
            <a:off x="7953375" y="3600450"/>
            <a:ext cx="36671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7F28B10-1395-44E8-B9A1-58A9EA118DA7}"/>
              </a:ext>
            </a:extLst>
          </p:cNvPr>
          <p:cNvSpPr>
            <a:spLocks noGrp="1"/>
          </p:cNvSpPr>
          <p:nvPr/>
        </p:nvSpPr>
        <p:spPr>
          <a:xfrm>
            <a:off x="7953375" y="3676650"/>
            <a:ext cx="3667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</a:defRPr>
            </a:pPr>
            <a:r>
              <a:rPr sz="1125" b="1">
                <a:solidFill>
                  <a:srgbClr val="1B1D21"/>
                </a:solidFill>
              </a:rPr>
              <a:t>FFN Role｜负责专家计算与结果回传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8539042-EDB9-4EA6-931C-D3FFA5DB9F61}"/>
              </a:ext>
            </a:extLst>
          </p:cNvPr>
          <p:cNvSpPr>
            <a:spLocks noGrp="1"/>
          </p:cNvSpPr>
          <p:nvPr/>
        </p:nvSpPr>
        <p:spPr>
          <a:xfrm>
            <a:off x="7953375" y="3886200"/>
            <a:ext cx="3667125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65" b="0">
                <a:solidFill>
                  <a:srgbClr val="555757"/>
                </a:solidFill>
              </a:defRPr>
            </a:pPr>
            <a:r>
              <a:rPr sz="865" b="0">
                <a:solidFill>
                  <a:srgbClr val="555757"/>
                </a:solidFill>
              </a:rPr>
              <a:t>• </a:t>
            </a:r>
            <a:r>
              <a:rPr sz="865" b="1">
                <a:solidFill>
                  <a:srgbClr val="555757"/>
                </a:solidFill>
              </a:rPr>
              <a:t>FFNEngineCore：</a:t>
            </a:r>
            <a:r>
              <a:rPr sz="865" b="0">
                <a:solidFill>
                  <a:srgbClr val="555757"/>
                </a:solidFill>
              </a:rPr>
              <a:t>接收 Attention 激活，提供 FFN 侧调度与核心执行入口。
• </a:t>
            </a:r>
            <a:r>
              <a:rPr sz="865" b="1">
                <a:solidFill>
                  <a:srgbClr val="555757"/>
                </a:solidFill>
              </a:rPr>
              <a:t>AFDFFNWorker：</a:t>
            </a:r>
            <a:r>
              <a:rPr sz="865" b="0">
                <a:solidFill>
                  <a:srgbClr val="555757"/>
                </a:solidFill>
              </a:rPr>
              <a:t>管理设备资源、请求队列和实例执行生命周期。
• </a:t>
            </a:r>
            <a:r>
              <a:rPr sz="865" b="1">
                <a:solidFill>
                  <a:srgbClr val="555757"/>
                </a:solidFill>
              </a:rPr>
              <a:t>AFDFFNModelRunner：</a:t>
            </a:r>
            <a:r>
              <a:rPr sz="865" b="0">
                <a:solidFill>
                  <a:srgbClr val="555757"/>
                </a:solidFill>
              </a:rPr>
              <a:t>组织 FFN / MoE 前向、专家计算与结果聚合。
• </a:t>
            </a:r>
            <a:r>
              <a:rPr sz="865" b="1">
                <a:solidFill>
                  <a:srgbClr val="555757"/>
                </a:solidFill>
              </a:rPr>
              <a:t>FFN Loop：</a:t>
            </a:r>
            <a:r>
              <a:rPr sz="865" b="0">
                <a:solidFill>
                  <a:srgbClr val="555757"/>
                </a:solidFill>
              </a:rPr>
              <a:t>持续接收激活、触发计算，并将结果回传 Attention 实例。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681A67C-4CD0-4B40-9228-057E45DC5095}"/>
              </a:ext>
            </a:extLst>
          </p:cNvPr>
          <p:cNvSpPr>
            <a:spLocks noGrp="1"/>
          </p:cNvSpPr>
          <p:nvPr/>
        </p:nvSpPr>
        <p:spPr>
          <a:xfrm>
            <a:off x="7953375" y="4781550"/>
            <a:ext cx="36671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C1B4E29-2DE4-4A26-B19E-C8642BA97A32}"/>
              </a:ext>
            </a:extLst>
          </p:cNvPr>
          <p:cNvSpPr>
            <a:spLocks noGrp="1"/>
          </p:cNvSpPr>
          <p:nvPr/>
        </p:nvSpPr>
        <p:spPr>
          <a:xfrm>
            <a:off x="7953375" y="4857750"/>
            <a:ext cx="3667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</a:defRPr>
            </a:pPr>
            <a:r>
              <a:rPr sz="1125" b="1">
                <a:solidFill>
                  <a:srgbClr val="1B1D21"/>
                </a:solidFill>
              </a:rPr>
              <a:t>AFD Model Wrappers｜模型适配与运行支撑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C5F3063-E927-412D-97A4-6847B11C4B2F}"/>
              </a:ext>
            </a:extLst>
          </p:cNvPr>
          <p:cNvSpPr>
            <a:spLocks noGrp="1"/>
          </p:cNvSpPr>
          <p:nvPr/>
        </p:nvSpPr>
        <p:spPr>
          <a:xfrm>
            <a:off x="7953375" y="5086350"/>
            <a:ext cx="36671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65" b="0">
                <a:solidFill>
                  <a:srgbClr val="555757"/>
                </a:solidFill>
              </a:defRPr>
            </a:pPr>
            <a:r>
              <a:rPr sz="865" b="0">
                <a:solidFill>
                  <a:srgbClr val="555757"/>
                </a:solidFill>
              </a:rPr>
              <a:t>• </a:t>
            </a:r>
            <a:r>
              <a:rPr sz="865" b="1">
                <a:solidFill>
                  <a:srgbClr val="555757"/>
                </a:solidFill>
              </a:rPr>
              <a:t>AFD Model Wrappers：</a:t>
            </a:r>
            <a:r>
              <a:rPr sz="865" b="0">
                <a:solidFill>
                  <a:srgbClr val="555757"/>
                </a:solidFill>
              </a:rPr>
              <a:t>封装模型层，按 Attention / FFN 角色接入拆分执行路径。
• </a:t>
            </a:r>
            <a:r>
              <a:rPr sz="865" b="1">
                <a:solidFill>
                  <a:srgbClr val="555757"/>
                </a:solidFill>
              </a:rPr>
              <a:t>uBatch 管理：</a:t>
            </a:r>
            <a:r>
              <a:rPr sz="865" b="0">
                <a:solidFill>
                  <a:srgbClr val="555757"/>
                </a:solidFill>
              </a:rPr>
              <a:t>完成微批拆分、阶段衔接与执行节奏控制。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2C85EA4-F71C-4B92-B611-E2CCC4E9C22A}"/>
              </a:ext>
            </a:extLst>
          </p:cNvPr>
          <p:cNvSpPr>
            <a:spLocks noGrp="1"/>
          </p:cNvSpPr>
          <p:nvPr/>
        </p:nvSpPr>
        <p:spPr>
          <a:xfrm>
            <a:off x="609600" y="6153150"/>
            <a:ext cx="971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55757"/>
                </a:solidFill>
              </a:defRPr>
            </a:pPr>
            <a:r>
              <a:rPr sz="825" b="0">
                <a:solidFill>
                  <a:srgbClr val="555757"/>
                </a:solidFill>
              </a:rPr>
              <a:t>应用覆盖与核心能力沿用原材料；架构图更新为当前仓库版本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A4F4008-8D03-445F-AF07-1D09687866ED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75" b="0" i="1">
                <a:solidFill>
                  <a:srgbClr val="898989"/>
                </a:solidFill>
              </a:defRPr>
            </a:pPr>
            <a:r>
              <a:rPr sz="675" b="0" i="1">
                <a:solidFill>
                  <a:srgbClr val="898989"/>
                </a:solidFill>
              </a:rPr>
              <a:t>来源：原始 PPT 第 2 页；docs/assets/vllm-afd-plugin-architecture.svg</a:t>
            </a:r>
          </a:p>
        </p:txBody>
      </p:sp>
    </p:spTree>
    <p:extLst>
      <p:ext uri="{BB962C8B-B14F-4D97-AF65-F5344CB8AC3E}">
        <p14:creationId xmlns:p14="http://schemas.microsoft.com/office/powerpoint/2010/main" val="323038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5718E2B6-B812-4138-B89C-9DF44BE02CE2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>
                <a:solidFill>
                  <a:srgbClr val="898989"/>
                </a:solidFill>
              </a:defRPr>
            </a:pPr>
            <a:r>
              <a:rPr sz="825" b="1">
                <a:solidFill>
                  <a:srgbClr val="898989"/>
                </a:solidFill>
              </a:rPr>
              <a:t>RUNTIME FLOW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1391BF8-C122-42A2-AA72-525EF3930974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C00000"/>
                </a:solidFill>
              </a:defRPr>
            </a:pPr>
            <a:r>
              <a:rPr sz="2250" b="1">
                <a:solidFill>
                  <a:srgbClr val="C00000"/>
                </a:solidFill>
              </a:rPr>
              <a:t>AFD 运行架构：Attention 调度，Connector 传输，FFN 常驻计算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AD2A1B-9459-466C-A9AE-4E45B89611BA}"/>
              </a:ext>
            </a:extLst>
          </p:cNvPr>
          <p:cNvSpPr>
            <a:spLocks noGrp="1"/>
          </p:cNvSpPr>
          <p:nvPr/>
        </p:nvSpPr>
        <p:spPr>
          <a:xfrm>
            <a:off x="11430000" y="6419850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</a:defRPr>
            </a:pPr>
            <a:r>
              <a:rPr sz="825" b="0">
                <a:solidFill>
                  <a:srgbClr val="898989"/>
                </a:solidFill>
              </a:rPr>
              <a:t>6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1A1334C-95CE-48D2-900D-B78399756DA6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Attention 负责调度、KV Cache 与采样；FFN 无 Scheduler，由 Connector 双向传递激活值与计算结果。</a:t>
            </a:r>
            <a:endParaRPr sz="825" b="0">
              <a:solidFill>
                <a:srgbClr val="555757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7295B09-4B31-4F23-B2F0-AA0D1F7B8935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750" b="0" i="1">
                <a:solidFill>
                  <a:srgbClr val="898989"/>
                </a:solidFill>
              </a:defRPr>
            </a:pPr>
            <a:r>
              <a:rPr sz="750" b="0" i="1">
                <a:solidFill>
                  <a:srgbClr val="898989"/>
                </a:solidFill>
              </a:rPr>
              <a:t>来源：当前 afd-plugin 代码；vllm-afd-plugin-architecture.svg</a:t>
            </a:r>
            <a:endParaRPr sz="675" b="0" i="1">
              <a:solidFill>
                <a:srgbClr val="898989"/>
              </a:solidFill>
            </a:endParaRPr>
          </a:p>
        </p:txBody>
      </p:sp>
      <p:pic>
        <p:nvPicPr>
          <p:cNvPr id="37" name="图片 4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06034"/>
            <a:ext cx="11277600" cy="4598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268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4964DC5B-F245-4340-A7FD-FED1B2AF5744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CONNECTOR CONTRACT</a:t>
            </a:r>
            <a:endParaRPr sz="825" b="1">
              <a:solidFill>
                <a:srgbClr val="898989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60A38AA-ACB1-4F7B-93B5-234A15F9BAF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Connector Base：统一生命周期、数据面与控制面契约</a:t>
            </a:r>
            <a:endParaRPr sz="2250" b="1">
              <a:solidFill>
                <a:srgbClr val="C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17C02FB-7AA6-4B0E-9141-213B382A5578}"/>
              </a:ext>
            </a:extLst>
          </p:cNvPr>
          <p:cNvSpPr>
            <a:spLocks noGrp="1"/>
          </p:cNvSpPr>
          <p:nvPr/>
        </p:nvSpPr>
        <p:spPr>
          <a:xfrm>
            <a:off x="11430000" y="6419850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825" b="0">
              <a:solidFill>
                <a:srgbClr val="898989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591C50-997D-4269-8951-2ACC3A722108}"/>
              </a:ext>
            </a:extLst>
          </p:cNvPr>
          <p:cNvSpPr>
            <a:spLocks noGrp="1"/>
          </p:cNvSpPr>
          <p:nvPr/>
        </p:nvSpPr>
        <p:spPr>
          <a:xfrm>
            <a:off x="7953375" y="1271270"/>
            <a:ext cx="3667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B1D21"/>
                </a:solidFill>
                <a:latin typeface="微软雅黑"/>
                <a:ea typeface="微软雅黑"/>
                <a:cs typeface="微软雅黑"/>
              </a:rPr>
              <a:t>生命周期｜资源由 Connector 自主管理</a:t>
            </a:r>
            <a:endParaRPr sz="1125" b="1">
              <a:solidFill>
                <a:srgbClr val="1B1D2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04F1119-B3C1-4077-964F-CE937157E70B}"/>
              </a:ext>
            </a:extLst>
          </p:cNvPr>
          <p:cNvSpPr>
            <a:spLocks noGrp="1"/>
          </p:cNvSpPr>
          <p:nvPr/>
        </p:nvSpPr>
        <p:spPr>
          <a:xfrm>
            <a:off x="7953375" y="1480820"/>
            <a:ext cx="366712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8000"/>
              </a:lnSpc>
              <a:buNone/>
              <a:defRPr sz="975" b="0">
                <a:solidFill>
                  <a:srgbClr val="4A4A4A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• parse_extra_config → init_afd_connector → is_initialized → close</a:t>
            </a:r>
            <a:endParaRPr sz="865" b="0">
              <a:solidFill>
                <a:srgbClr val="555757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EE43608-1C61-49DD-BB43-D1E436912E9B}"/>
              </a:ext>
            </a:extLst>
          </p:cNvPr>
          <p:cNvSpPr>
            <a:spLocks noGrp="1"/>
          </p:cNvSpPr>
          <p:nvPr/>
        </p:nvSpPr>
        <p:spPr>
          <a:xfrm>
            <a:off x="7953375" y="2266950"/>
            <a:ext cx="36671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418E35A-7F19-442B-99FF-52FF17B00BB4}"/>
              </a:ext>
            </a:extLst>
          </p:cNvPr>
          <p:cNvSpPr>
            <a:spLocks noGrp="1"/>
          </p:cNvSpPr>
          <p:nvPr/>
        </p:nvSpPr>
        <p:spPr>
          <a:xfrm>
            <a:off x="7953375" y="2343150"/>
            <a:ext cx="3667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B1D21"/>
                </a:solidFill>
                <a:latin typeface="微软雅黑"/>
                <a:ea typeface="微软雅黑"/>
                <a:cs typeface="微软雅黑"/>
              </a:rPr>
              <a:t>Attention 数据面｜发起与回收</a:t>
            </a:r>
            <a:endParaRPr sz="1125" b="1">
              <a:solidFill>
                <a:srgbClr val="1B1D2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6BCDB33-35C9-43E6-8871-FE5787F8B37C}"/>
              </a:ext>
            </a:extLst>
          </p:cNvPr>
          <p:cNvSpPr>
            <a:spLocks noGrp="1"/>
          </p:cNvSpPr>
          <p:nvPr/>
        </p:nvSpPr>
        <p:spPr>
          <a:xfrm>
            <a:off x="7953375" y="2552700"/>
            <a:ext cx="3667125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8000"/>
              </a:lnSpc>
              <a:buNone/>
              <a:defRPr sz="975" b="0">
                <a:solidFill>
                  <a:srgbClr val="4A4A4A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• send_attn_output(hidden_states, context)；recv_ffn_output(ref_tensor)</a:t>
            </a:r>
            <a:endParaRPr sz="865" b="0">
              <a:solidFill>
                <a:srgbClr val="555757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77450D4-ABE4-451B-8F94-47B24FD3D359}"/>
              </a:ext>
            </a:extLst>
          </p:cNvPr>
          <p:cNvSpPr>
            <a:spLocks noGrp="1"/>
          </p:cNvSpPr>
          <p:nvPr/>
        </p:nvSpPr>
        <p:spPr>
          <a:xfrm>
            <a:off x="7953375" y="3600450"/>
            <a:ext cx="36671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A1BC7BE-2646-4909-A05A-CBF1416F51F1}"/>
              </a:ext>
            </a:extLst>
          </p:cNvPr>
          <p:cNvSpPr>
            <a:spLocks noGrp="1"/>
          </p:cNvSpPr>
          <p:nvPr/>
        </p:nvSpPr>
        <p:spPr>
          <a:xfrm>
            <a:off x="7953375" y="3676650"/>
            <a:ext cx="3667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B1D21"/>
                </a:solidFill>
                <a:latin typeface="微软雅黑"/>
                <a:ea typeface="微软雅黑"/>
                <a:cs typeface="微软雅黑"/>
              </a:rPr>
              <a:t>FFN 数据面｜接收、计算与返回</a:t>
            </a:r>
            <a:endParaRPr sz="1125" b="1">
              <a:solidFill>
                <a:srgbClr val="1B1D2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603024F-8ED4-4CD0-864A-0B055F4AFE61}"/>
              </a:ext>
            </a:extLst>
          </p:cNvPr>
          <p:cNvSpPr>
            <a:spLocks noGrp="1"/>
          </p:cNvSpPr>
          <p:nvPr/>
        </p:nvSpPr>
        <p:spPr>
          <a:xfrm>
            <a:off x="7953375" y="3886200"/>
            <a:ext cx="3667125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8000"/>
              </a:lnSpc>
              <a:buNone/>
              <a:defRPr sz="975" b="0">
                <a:solidFill>
                  <a:srgbClr val="4A4A4A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• recv_attn_output() 返回 payload；send_ffn_output(output, context)</a:t>
            </a:r>
            <a:endParaRPr sz="865" b="0">
              <a:solidFill>
                <a:srgbClr val="555757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BF5E7C7-2052-4C91-AA57-8E195CC6F668}"/>
              </a:ext>
            </a:extLst>
          </p:cNvPr>
          <p:cNvSpPr>
            <a:spLocks noGrp="1"/>
          </p:cNvSpPr>
          <p:nvPr/>
        </p:nvSpPr>
        <p:spPr>
          <a:xfrm>
            <a:off x="7953375" y="4781550"/>
            <a:ext cx="36671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8AC6C0-D320-4226-A30B-A0F35D3F5A28}"/>
              </a:ext>
            </a:extLst>
          </p:cNvPr>
          <p:cNvSpPr>
            <a:spLocks noGrp="1"/>
          </p:cNvSpPr>
          <p:nvPr/>
        </p:nvSpPr>
        <p:spPr>
          <a:xfrm>
            <a:off x="7953375" y="4857750"/>
            <a:ext cx="3667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B1D21"/>
                </a:solidFill>
                <a:latin typeface="微软雅黑"/>
                <a:ea typeface="微软雅黑"/>
                <a:cs typeface="微软雅黑"/>
              </a:rPr>
              <a:t>可选控制面｜同步 Connector 才启用</a:t>
            </a:r>
            <a:endParaRPr sz="1125" b="1">
              <a:solidFill>
                <a:srgbClr val="1B1D21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7D189D6-A93A-4391-A0E5-6ADF66907E70}"/>
              </a:ext>
            </a:extLst>
          </p:cNvPr>
          <p:cNvSpPr>
            <a:spLocks noGrp="1"/>
          </p:cNvSpPr>
          <p:nvPr/>
        </p:nvSpPr>
        <p:spPr>
          <a:xfrm>
            <a:off x="7953375" y="5086350"/>
            <a:ext cx="36671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8000"/>
              </a:lnSpc>
              <a:buNone/>
              <a:defRPr sz="975" b="0">
                <a:solidFill>
                  <a:srgbClr val="4A4A4A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• control_plane 传递 DP metadata；CAM Async 由 dispatch payload 驱动</a:t>
            </a:r>
            <a:endParaRPr sz="865" b="0">
              <a:solidFill>
                <a:srgbClr val="555757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3206F3F-3A1C-4934-B138-BA835027EFA9}"/>
              </a:ext>
            </a:extLst>
          </p:cNvPr>
          <p:cNvSpPr>
            <a:spLocks noGrp="1"/>
          </p:cNvSpPr>
          <p:nvPr/>
        </p:nvSpPr>
        <p:spPr>
          <a:xfrm>
            <a:off x="609600" y="6153150"/>
            <a:ext cx="971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55555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Base 只定义语义与时序；P2P、CAMP2P、CAM Async 负责后端实现。</a:t>
            </a:r>
            <a:endParaRPr sz="825" b="0">
              <a:solidFill>
                <a:srgbClr val="555757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F21A4C6-CD8F-40BF-BBE2-F683B5DF9E2F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750" b="0" i="1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 i="1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来源：afd_plugin/connectors/base.py；docs/design/module/connector_contracts.md</a:t>
            </a:r>
            <a:endParaRPr sz="675" b="0" i="1">
              <a:solidFill>
                <a:srgbClr val="898989"/>
              </a:solidFill>
            </a:endParaRPr>
          </a:p>
        </p:txBody>
      </p:sp>
      <p:pic>
        <p:nvPicPr>
          <p:cNvPr id="48" name="图片 4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475" y="1247775"/>
            <a:ext cx="7311701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04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A0C19508-8DDD-49A6-973C-5FAD4942B4C8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>
                <a:solidFill>
                  <a:srgbClr val="898989"/>
                </a:solidFill>
              </a:defRPr>
            </a:pPr>
            <a:r>
              <a:rPr sz="825" b="1">
                <a:solidFill>
                  <a:srgbClr val="898989"/>
                </a:solidFill>
              </a:rPr>
              <a:t>ARCHITECTURE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89B12C-0EDF-4FF2-BE22-E96D6751767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C00000"/>
                </a:solidFill>
              </a:defRPr>
            </a:pPr>
            <a:r>
              <a:rPr sz="2250" b="1">
                <a:solidFill>
                  <a:srgbClr val="C00000"/>
                </a:solidFill>
              </a:rPr>
              <a:t>CAMP2PConnector：双微批完全重叠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DF6C361-ACB1-444E-9B53-7CCB65D3C003}"/>
              </a:ext>
            </a:extLst>
          </p:cNvPr>
          <p:cNvSpPr>
            <a:spLocks noGrp="1"/>
          </p:cNvSpPr>
          <p:nvPr/>
        </p:nvSpPr>
        <p:spPr>
          <a:xfrm>
            <a:off x="11430000" y="6419850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</a:defRPr>
            </a:pPr>
            <a:r>
              <a:rPr sz="825" b="0">
                <a:solidFill>
                  <a:srgbClr val="898989"/>
                </a:solidFill>
              </a:rPr>
              <a:t>8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C067293-5790-4CF1-9559-E568FB309E26}"/>
              </a:ext>
            </a:extLst>
          </p:cNvPr>
          <p:cNvSpPr>
            <a:spLocks noGrp="1"/>
          </p:cNvSpPr>
          <p:nvPr/>
        </p:nvSpPr>
        <p:spPr>
          <a:xfrm>
            <a:off x="609600" y="6153150"/>
            <a:ext cx="971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55757"/>
                </a:solidFill>
              </a:defRPr>
            </a:pPr>
            <a:r>
              <a:rPr sz="825" b="0">
                <a:solidFill>
                  <a:srgbClr val="555757"/>
                </a:solidFill>
              </a:rPr>
              <a:t>DBO 将通信嵌入双微批流水，Attention 的执行窗口完整覆盖当前批 FFN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1A37CA8-0772-460E-B5A2-152394A35E78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75" b="0" i="1">
                <a:solidFill>
                  <a:srgbClr val="898989"/>
                </a:solidFill>
              </a:defRPr>
            </a:pPr>
            <a:r>
              <a:rPr sz="675" b="0" i="1">
                <a:solidFill>
                  <a:srgbClr val="898989"/>
                </a:solidFill>
              </a:rPr>
              <a:t>来源：afd-plugin/docs/npu/dbo.png；流水图由 ImageGen 在原图语义上定向润色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825CD9-6FD1-4275-8E3C-56D100A005EB}"/>
              </a:ext>
            </a:extLst>
          </p:cNvPr>
          <p:cNvSpPr>
            <a:spLocks noGrp="1"/>
          </p:cNvSpPr>
          <p:nvPr/>
        </p:nvSpPr>
        <p:spPr>
          <a:xfrm>
            <a:off x="609600" y="93345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 i="0">
                <a:solidFill>
                  <a:srgbClr val="555757"/>
                </a:solidFill>
              </a:defRPr>
            </a:pPr>
            <a:r>
              <a:rPr sz="1275" b="0" i="0">
                <a:solidFill>
                  <a:srgbClr val="555757"/>
                </a:solidFill>
              </a:rPr>
              <a:t>缩短 FFN 计算段后，下一批 Attention 与 FFN 同步启动，并在 FFN 结束后继续执行，完整隐藏当前批 FFN 时延。</a:t>
            </a:r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A0C97DE6-D0B0-4906-AF14-7ABA08DC5390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74295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9E0E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1" name="图片 5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503408"/>
            <a:ext cx="7200900" cy="2879634"/>
          </a:xfrm>
          <a:prstGeom prst="rect">
            <a:avLst/>
          </a:prstGeom>
        </p:spPr>
      </p:pic>
      <p:sp>
        <p:nvSpPr>
          <p:cNvPr id="34" name="圆角矩形 33">
            <a:extLst>
              <a:ext uri="{FF2B5EF4-FFF2-40B4-BE49-F238E27FC236}">
                <a16:creationId xmlns:a16="http://schemas.microsoft.com/office/drawing/2014/main" id="{BF33D1A5-3161-4916-B6E8-8833B37B7EDE}"/>
              </a:ext>
            </a:extLst>
          </p:cNvPr>
          <p:cNvSpPr>
            <a:spLocks noGrp="1"/>
          </p:cNvSpPr>
          <p:nvPr/>
        </p:nvSpPr>
        <p:spPr>
          <a:xfrm>
            <a:off x="8191500" y="1371600"/>
            <a:ext cx="3314700" cy="3143250"/>
          </a:xfrm>
          <a:prstGeom prst="roundRect">
            <a:avLst>
              <a:gd name="adj" fmla="val 2424"/>
            </a:avLst>
          </a:prstGeom>
          <a:solidFill>
            <a:srgbClr val="F5F7F8"/>
          </a:solidFill>
          <a:ln w="9525">
            <a:solidFill>
              <a:srgbClr val="D9E0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416150F-D1F3-4A52-AA79-F3352106EF45}"/>
              </a:ext>
            </a:extLst>
          </p:cNvPr>
          <p:cNvSpPr>
            <a:spLocks noGrp="1"/>
          </p:cNvSpPr>
          <p:nvPr/>
        </p:nvSpPr>
        <p:spPr>
          <a:xfrm>
            <a:off x="8343900" y="15049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 i="0">
                <a:solidFill>
                  <a:srgbClr val="C70000"/>
                </a:solidFill>
              </a:defRPr>
            </a:pPr>
            <a:r>
              <a:rPr sz="1500" b="1" i="0">
                <a:solidFill>
                  <a:srgbClr val="C70000"/>
                </a:solidFill>
              </a:rPr>
              <a:t>流水过程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35F182F-BF4F-4329-BD9E-58F7B5A8D5B3}"/>
              </a:ext>
            </a:extLst>
          </p:cNvPr>
          <p:cNvSpPr>
            <a:spLocks noGrp="1"/>
          </p:cNvSpPr>
          <p:nvPr/>
        </p:nvSpPr>
        <p:spPr>
          <a:xfrm>
            <a:off x="8343900" y="1762125"/>
            <a:ext cx="2971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0" i="0">
                <a:solidFill>
                  <a:srgbClr val="898989"/>
                </a:solidFill>
              </a:defRPr>
            </a:pPr>
            <a:r>
              <a:rPr sz="900" b="0" i="0">
                <a:solidFill>
                  <a:srgbClr val="898989"/>
                </a:solidFill>
              </a:rPr>
              <a:t>双微批持续推进，通信与两类计算交叠执行</a:t>
            </a:r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4C582FED-5D75-4AC3-BC63-9C56493DC9BD}"/>
              </a:ext>
            </a:extLst>
          </p:cNvPr>
          <p:cNvSpPr>
            <a:spLocks noGrp="1"/>
          </p:cNvSpPr>
          <p:nvPr/>
        </p:nvSpPr>
        <p:spPr>
          <a:xfrm>
            <a:off x="8343900" y="207645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70000"/>
          </a:solidFill>
          <a:ln w="9525">
            <a:solidFill>
              <a:srgbClr val="C70000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A92F19B-8905-47CF-A0E5-60C334C2EBC5}"/>
              </a:ext>
            </a:extLst>
          </p:cNvPr>
          <p:cNvSpPr>
            <a:spLocks noGrp="1"/>
          </p:cNvSpPr>
          <p:nvPr/>
        </p:nvSpPr>
        <p:spPr>
          <a:xfrm>
            <a:off x="8743950" y="205740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 i="0">
                <a:solidFill>
                  <a:srgbClr val="102A43"/>
                </a:solidFill>
              </a:defRPr>
            </a:pPr>
            <a:r>
              <a:rPr sz="1200" b="1" i="0">
                <a:solidFill>
                  <a:srgbClr val="102A43"/>
                </a:solidFill>
              </a:rPr>
              <a:t>F2A 接收与 Attention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4298064-DD86-47C2-94D0-1D24CF08D1EE}"/>
              </a:ext>
            </a:extLst>
          </p:cNvPr>
          <p:cNvSpPr>
            <a:spLocks noGrp="1"/>
          </p:cNvSpPr>
          <p:nvPr/>
        </p:nvSpPr>
        <p:spPr>
          <a:xfrm>
            <a:off x="8743950" y="2276475"/>
            <a:ext cx="2571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 i="0">
                <a:solidFill>
                  <a:srgbClr val="555757"/>
                </a:solidFill>
              </a:defRPr>
            </a:pPr>
            <a:r>
              <a:rPr sz="975" b="0" i="0">
                <a:solidFill>
                  <a:srgbClr val="555757"/>
                </a:solidFill>
              </a:rPr>
              <a:t>Attention 侧接收上一层 FFN 返回的激活，执行 uBatch1。</a:t>
            </a:r>
          </a:p>
        </p:txBody>
      </p:sp>
      <p:sp>
        <p:nvSpPr>
          <p:cNvPr id="40" name="圆角矩形 39">
            <a:extLst>
              <a:ext uri="{FF2B5EF4-FFF2-40B4-BE49-F238E27FC236}">
                <a16:creationId xmlns:a16="http://schemas.microsoft.com/office/drawing/2014/main" id="{72B54431-01A5-46B4-B84D-47E2A95C7635}"/>
              </a:ext>
            </a:extLst>
          </p:cNvPr>
          <p:cNvSpPr>
            <a:spLocks noGrp="1"/>
          </p:cNvSpPr>
          <p:nvPr/>
        </p:nvSpPr>
        <p:spPr>
          <a:xfrm>
            <a:off x="8343900" y="266700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70000"/>
          </a:solidFill>
          <a:ln w="9525">
            <a:solidFill>
              <a:srgbClr val="C70000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0BF1C6B-2AF1-4A81-BAAC-979FFE6BEA11}"/>
              </a:ext>
            </a:extLst>
          </p:cNvPr>
          <p:cNvSpPr>
            <a:spLocks noGrp="1"/>
          </p:cNvSpPr>
          <p:nvPr/>
        </p:nvSpPr>
        <p:spPr>
          <a:xfrm>
            <a:off x="8743950" y="26479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 i="0">
                <a:solidFill>
                  <a:srgbClr val="102A43"/>
                </a:solidFill>
              </a:defRPr>
            </a:pPr>
            <a:r>
              <a:rPr sz="1200" b="1" i="0">
                <a:solidFill>
                  <a:srgbClr val="102A43"/>
                </a:solidFill>
              </a:rPr>
              <a:t>A2F 发送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C44DB36-1015-4B2F-8F1F-84226CF45178}"/>
              </a:ext>
            </a:extLst>
          </p:cNvPr>
          <p:cNvSpPr>
            <a:spLocks noGrp="1"/>
          </p:cNvSpPr>
          <p:nvPr/>
        </p:nvSpPr>
        <p:spPr>
          <a:xfrm>
            <a:off x="8743950" y="2867025"/>
            <a:ext cx="2571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 i="0">
                <a:solidFill>
                  <a:srgbClr val="555757"/>
                </a:solidFill>
              </a:defRPr>
            </a:pPr>
            <a:r>
              <a:rPr sz="975" b="0" i="0">
                <a:solidFill>
                  <a:srgbClr val="555757"/>
                </a:solidFill>
              </a:rPr>
              <a:t>uBatch1 完成后立即 P2P 发往 FFN，同时启动 uBatch2。</a:t>
            </a:r>
          </a:p>
        </p:txBody>
      </p:sp>
      <p:sp>
        <p:nvSpPr>
          <p:cNvPr id="43" name="圆角矩形 42">
            <a:extLst>
              <a:ext uri="{FF2B5EF4-FFF2-40B4-BE49-F238E27FC236}">
                <a16:creationId xmlns:a16="http://schemas.microsoft.com/office/drawing/2014/main" id="{77220DF4-29C2-4236-8C78-CCFFB3230C3E}"/>
              </a:ext>
            </a:extLst>
          </p:cNvPr>
          <p:cNvSpPr>
            <a:spLocks noGrp="1"/>
          </p:cNvSpPr>
          <p:nvPr/>
        </p:nvSpPr>
        <p:spPr>
          <a:xfrm>
            <a:off x="8343900" y="325755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70000"/>
          </a:solidFill>
          <a:ln w="9525">
            <a:solidFill>
              <a:srgbClr val="C70000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1EDDF3A-3100-4929-80D3-C0D769C36216}"/>
              </a:ext>
            </a:extLst>
          </p:cNvPr>
          <p:cNvSpPr>
            <a:spLocks noGrp="1"/>
          </p:cNvSpPr>
          <p:nvPr/>
        </p:nvSpPr>
        <p:spPr>
          <a:xfrm>
            <a:off x="8743950" y="323850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 i="0">
                <a:solidFill>
                  <a:srgbClr val="102A43"/>
                </a:solidFill>
              </a:defRPr>
            </a:pPr>
            <a:r>
              <a:rPr sz="1200" b="1" i="0">
                <a:solidFill>
                  <a:srgbClr val="102A43"/>
                </a:solidFill>
              </a:rPr>
              <a:t>FFN 完整被覆盖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01C31AE-F041-475A-A70C-CB8BA852E31A}"/>
              </a:ext>
            </a:extLst>
          </p:cNvPr>
          <p:cNvSpPr>
            <a:spLocks noGrp="1"/>
          </p:cNvSpPr>
          <p:nvPr/>
        </p:nvSpPr>
        <p:spPr>
          <a:xfrm>
            <a:off x="8743950" y="3457575"/>
            <a:ext cx="2571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 i="0">
                <a:solidFill>
                  <a:srgbClr val="555757"/>
                </a:solidFill>
              </a:defRPr>
            </a:pPr>
            <a:r>
              <a:rPr sz="975" b="0" i="0">
                <a:solidFill>
                  <a:srgbClr val="555757"/>
                </a:solidFill>
              </a:rPr>
              <a:t>FFN(uBatch1) 完整落在 Attention(uBatch2) 时间窗内。</a:t>
            </a: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19CEC884-A324-479D-8A5E-8367C1444C94}"/>
              </a:ext>
            </a:extLst>
          </p:cNvPr>
          <p:cNvSpPr>
            <a:spLocks noGrp="1"/>
          </p:cNvSpPr>
          <p:nvPr/>
        </p:nvSpPr>
        <p:spPr>
          <a:xfrm>
            <a:off x="8343900" y="384810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70000"/>
          </a:solidFill>
          <a:ln w="9525">
            <a:solidFill>
              <a:srgbClr val="C70000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063FB1C-97AE-44EF-A86F-9C05BDC292C4}"/>
              </a:ext>
            </a:extLst>
          </p:cNvPr>
          <p:cNvSpPr>
            <a:spLocks noGrp="1"/>
          </p:cNvSpPr>
          <p:nvPr/>
        </p:nvSpPr>
        <p:spPr>
          <a:xfrm>
            <a:off x="8743950" y="38290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 i="0">
                <a:solidFill>
                  <a:srgbClr val="102A43"/>
                </a:solidFill>
              </a:defRPr>
            </a:pPr>
            <a:r>
              <a:rPr sz="1200" b="1" i="0">
                <a:solidFill>
                  <a:srgbClr val="102A43"/>
                </a:solidFill>
              </a:rPr>
              <a:t>F2A 返回并进入下一轮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7861988-8AF1-4357-BC70-0902F90BEEF6}"/>
              </a:ext>
            </a:extLst>
          </p:cNvPr>
          <p:cNvSpPr>
            <a:spLocks noGrp="1"/>
          </p:cNvSpPr>
          <p:nvPr/>
        </p:nvSpPr>
        <p:spPr>
          <a:xfrm>
            <a:off x="8743950" y="4048125"/>
            <a:ext cx="2571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 i="0">
                <a:solidFill>
                  <a:srgbClr val="555757"/>
                </a:solidFill>
              </a:defRPr>
            </a:pPr>
            <a:r>
              <a:rPr sz="975" b="0" i="0">
                <a:solidFill>
                  <a:srgbClr val="555757"/>
                </a:solidFill>
              </a:rPr>
              <a:t>FFN 输出发回 Attention；两侧继续处理后续微批。</a:t>
            </a:r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C1B5AA17-EC49-4661-8395-2A78F6B86A27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10896600" cy="1162050"/>
          </a:xfrm>
          <a:prstGeom prst="roundRect">
            <a:avLst>
              <a:gd name="adj" fmla="val 6557"/>
            </a:avLst>
          </a:prstGeom>
          <a:solidFill>
            <a:srgbClr val="FFF4EC"/>
          </a:solidFill>
          <a:ln w="9525">
            <a:solidFill>
              <a:srgbClr val="F1C2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DE848F1-7D1D-4C3F-BA08-11685D7363CD}"/>
              </a:ext>
            </a:extLst>
          </p:cNvPr>
          <p:cNvSpPr>
            <a:spLocks noGrp="1"/>
          </p:cNvSpPr>
          <p:nvPr/>
        </p:nvSpPr>
        <p:spPr>
          <a:xfrm>
            <a:off x="800100" y="48577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 i="0">
                <a:solidFill>
                  <a:srgbClr val="C70000"/>
                </a:solidFill>
              </a:defRPr>
            </a:pPr>
            <a:r>
              <a:rPr sz="1350" b="1" i="0">
                <a:solidFill>
                  <a:srgbClr val="C70000"/>
                </a:solidFill>
              </a:rPr>
              <a:t>关键重叠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FEABAF37-05A3-4429-B9FD-F9DFDC44EDCA}"/>
              </a:ext>
            </a:extLst>
          </p:cNvPr>
          <p:cNvSpPr>
            <a:spLocks noGrp="1"/>
          </p:cNvSpPr>
          <p:nvPr/>
        </p:nvSpPr>
        <p:spPr>
          <a:xfrm>
            <a:off x="2095500" y="4791075"/>
            <a:ext cx="4953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Attention(uBatch2) 完整覆盖 FFN(uBatch1)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1EA8CD6-83BB-4085-AFC2-301863EC35FB}"/>
              </a:ext>
            </a:extLst>
          </p:cNvPr>
          <p:cNvSpPr>
            <a:spLocks noGrp="1"/>
          </p:cNvSpPr>
          <p:nvPr/>
        </p:nvSpPr>
        <p:spPr>
          <a:xfrm>
            <a:off x="800100" y="5219700"/>
            <a:ext cx="10363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 i="0">
                <a:solidFill>
                  <a:srgbClr val="555757"/>
                </a:solidFill>
              </a:defRPr>
            </a:pPr>
            <a:r>
              <a:rPr sz="1125" b="0" i="0">
                <a:solidFill>
                  <a:srgbClr val="555757"/>
                </a:solidFill>
              </a:rPr>
              <a:t>Attention 与 FFN 同步启动并延后结束；通信、专家计算与返回阶段持续流水化，减少同步等待。</a:t>
            </a:r>
          </a:p>
        </p:txBody>
      </p:sp>
    </p:spTree>
    <p:extLst>
      <p:ext uri="{BB962C8B-B14F-4D97-AF65-F5344CB8AC3E}">
        <p14:creationId xmlns:p14="http://schemas.microsoft.com/office/powerpoint/2010/main" val="2031854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5074E78A-1687-4B83-9D8E-08FD5FEC9E92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 i="0">
                <a:solidFill>
                  <a:srgbClr val="898989"/>
                </a:solidFill>
              </a:defRPr>
            </a:pPr>
            <a:r>
              <a:rPr sz="825" b="1" i="0">
                <a:solidFill>
                  <a:srgbClr val="898989"/>
                </a:solidFill>
              </a:rPr>
              <a:t>ARCHITECTURE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E5A3CC2-6A16-42F4-83D1-9099695313A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 i="0">
                <a:solidFill>
                  <a:srgbClr val="C70000"/>
                </a:solidFill>
              </a:defRPr>
            </a:pPr>
            <a:r>
              <a:rPr sz="2250" b="1" i="0">
                <a:solidFill>
                  <a:srgbClr val="C70000"/>
                </a:solidFill>
              </a:rPr>
              <a:t>Attention–FFN Prefill 分离异步方案</a:t>
            </a:r>
          </a:p>
        </p:txBody>
      </p:sp>
      <p:sp>
        <p:nvSpPr>
          <p:cNvPr id="3" name="圆角矩形 2">
            <a:extLst>
              <a:ext uri="{FF2B5EF4-FFF2-40B4-BE49-F238E27FC236}">
                <a16:creationId xmlns:a16="http://schemas.microsoft.com/office/drawing/2014/main" id="{2B6ED840-E41A-4856-A17B-E0ADB8A07981}"/>
              </a:ext>
            </a:extLst>
          </p:cNvPr>
          <p:cNvSpPr>
            <a:spLocks noGrp="1"/>
          </p:cNvSpPr>
          <p:nvPr/>
        </p:nvSpPr>
        <p:spPr>
          <a:xfrm>
            <a:off x="609600" y="971550"/>
            <a:ext cx="10896600" cy="1581150"/>
          </a:xfrm>
          <a:prstGeom prst="roundRect">
            <a:avLst>
              <a:gd name="adj" fmla="val 4819"/>
            </a:avLst>
          </a:prstGeom>
          <a:solidFill>
            <a:srgbClr val="F5F7F8"/>
          </a:solidFill>
          <a:ln w="9525">
            <a:solidFill>
              <a:srgbClr val="D9E0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0EA369E-208D-4F8B-8EC0-98CB0F95735F}"/>
              </a:ext>
            </a:extLst>
          </p:cNvPr>
          <p:cNvSpPr>
            <a:spLocks noGrp="1"/>
          </p:cNvSpPr>
          <p:nvPr/>
        </p:nvSpPr>
        <p:spPr>
          <a:xfrm>
            <a:off x="781050" y="10477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 i="0">
                <a:solidFill>
                  <a:srgbClr val="C70000"/>
                </a:solidFill>
              </a:defRPr>
            </a:pPr>
            <a:r>
              <a:rPr sz="1425" b="1" i="0">
                <a:solidFill>
                  <a:srgbClr val="C70000"/>
                </a:solidFill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5C1574-190D-4D5D-BEEB-97C4BFF29B41}"/>
              </a:ext>
            </a:extLst>
          </p:cNvPr>
          <p:cNvSpPr>
            <a:spLocks noGrp="1"/>
          </p:cNvSpPr>
          <p:nvPr/>
        </p:nvSpPr>
        <p:spPr>
          <a:xfrm>
            <a:off x="1276350" y="1047750"/>
            <a:ext cx="9886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 i="0">
                <a:solidFill>
                  <a:srgbClr val="1D1D1A"/>
                </a:solidFill>
              </a:defRPr>
            </a:pPr>
            <a:r>
              <a:rPr sz="1350" b="1" i="0">
                <a:solidFill>
                  <a:srgbClr val="1D1D1A"/>
                </a:solidFill>
              </a:rPr>
              <a:t>同步方案：AF不分离，Attn DP2CP16/DP4CP8、FFN EP32</a:t>
            </a:r>
          </a:p>
        </p:txBody>
      </p:sp>
      <p:pic>
        <p:nvPicPr>
          <p:cNvPr id="38" name="图片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595" y="1352550"/>
            <a:ext cx="5902960" cy="1066800"/>
          </a:xfrm>
          <a:prstGeom prst="rect">
            <a:avLst/>
          </a:prstGeom>
        </p:spPr>
      </p:pic>
      <p:pic>
        <p:nvPicPr>
          <p:cNvPr id="39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725" y="1181100"/>
            <a:ext cx="2819400" cy="1295400"/>
          </a:xfrm>
          <a:prstGeom prst="rect">
            <a:avLst/>
          </a:prstGeom>
        </p:spPr>
      </p:pic>
      <p:sp>
        <p:nvSpPr>
          <p:cNvPr id="8" name="圆角矩形 7">
            <a:extLst>
              <a:ext uri="{FF2B5EF4-FFF2-40B4-BE49-F238E27FC236}">
                <a16:creationId xmlns:a16="http://schemas.microsoft.com/office/drawing/2014/main" id="{747B213D-70B3-4D38-AA1A-C852A338E93C}"/>
              </a:ext>
            </a:extLst>
          </p:cNvPr>
          <p:cNvSpPr>
            <a:spLocks noGrp="1"/>
          </p:cNvSpPr>
          <p:nvPr/>
        </p:nvSpPr>
        <p:spPr>
          <a:xfrm>
            <a:off x="609600" y="2686050"/>
            <a:ext cx="10896600" cy="1657350"/>
          </a:xfrm>
          <a:prstGeom prst="roundRect">
            <a:avLst>
              <a:gd name="adj" fmla="val 4598"/>
            </a:avLst>
          </a:prstGeom>
          <a:solidFill>
            <a:srgbClr val="EAF4F8"/>
          </a:solidFill>
          <a:ln w="9525">
            <a:solidFill>
              <a:srgbClr val="B8CE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DFB840A-75F0-4C1B-8171-D53045C7C791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 i="0">
                <a:solidFill>
                  <a:srgbClr val="156082"/>
                </a:solidFill>
              </a:defRPr>
            </a:pPr>
            <a:r>
              <a:rPr sz="1425" b="1" i="0">
                <a:solidFill>
                  <a:srgbClr val="156082"/>
                </a:solidFill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726A1ED-6FE7-44D8-9BFE-202B05F3CA85}"/>
              </a:ext>
            </a:extLst>
          </p:cNvPr>
          <p:cNvSpPr>
            <a:spLocks noGrp="1"/>
          </p:cNvSpPr>
          <p:nvPr/>
        </p:nvSpPr>
        <p:spPr>
          <a:xfrm>
            <a:off x="1276350" y="2762250"/>
            <a:ext cx="9886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 i="0">
                <a:solidFill>
                  <a:srgbClr val="1D1D1A"/>
                </a:solidFill>
              </a:defRPr>
            </a:pPr>
            <a:r>
              <a:rPr sz="1350" b="1" i="0">
                <a:solidFill>
                  <a:srgbClr val="1D1D1A"/>
                </a:solidFill>
              </a:rPr>
              <a:t>AFD异步方案：AF分离，Attn DP3CP8、FFN EP8</a:t>
            </a:r>
          </a:p>
        </p:txBody>
      </p:sp>
      <p:pic>
        <p:nvPicPr>
          <p:cNvPr id="43" name="图片 3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980" y="3086100"/>
            <a:ext cx="6542690" cy="1143000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AB0C30B5-0C0F-4211-9008-ED7B03207193}"/>
              </a:ext>
            </a:extLst>
          </p:cNvPr>
          <p:cNvSpPr>
            <a:spLocks noGrp="1"/>
          </p:cNvSpPr>
          <p:nvPr/>
        </p:nvSpPr>
        <p:spPr>
          <a:xfrm>
            <a:off x="8648700" y="317182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 i="0">
                <a:solidFill>
                  <a:srgbClr val="156082"/>
                </a:solidFill>
              </a:defRPr>
            </a:pPr>
            <a:r>
              <a:rPr sz="1275" b="1" i="0">
                <a:solidFill>
                  <a:srgbClr val="156082"/>
                </a:solidFill>
              </a:rPr>
              <a:t>Attention 与 FFN 独立推进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09E182E-5798-4C94-AC9C-6E05BCBD9AC8}"/>
              </a:ext>
            </a:extLst>
          </p:cNvPr>
          <p:cNvSpPr>
            <a:spLocks noGrp="1"/>
          </p:cNvSpPr>
          <p:nvPr/>
        </p:nvSpPr>
        <p:spPr>
          <a:xfrm>
            <a:off x="8648700" y="3495675"/>
            <a:ext cx="2476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A2F send / F2A recv 穿插在请求流水中，EP 侧连续处理各请求的专家计算。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73E400-8571-4B6E-A2AC-070B43A82B07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 i="0">
                <a:solidFill>
                  <a:srgbClr val="C70000"/>
                </a:solidFill>
              </a:defRPr>
            </a:pPr>
            <a:r>
              <a:rPr sz="1425" b="1" i="0">
                <a:solidFill>
                  <a:srgbClr val="C70000"/>
                </a:solidFill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201FC62-3178-4835-BD19-ADC7981CD2AD}"/>
              </a:ext>
            </a:extLst>
          </p:cNvPr>
          <p:cNvSpPr>
            <a:spLocks noGrp="1"/>
          </p:cNvSpPr>
          <p:nvPr/>
        </p:nvSpPr>
        <p:spPr>
          <a:xfrm>
            <a:off x="1276350" y="4495800"/>
            <a:ext cx="9886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 i="0">
                <a:solidFill>
                  <a:srgbClr val="1D1D1A"/>
                </a:solidFill>
              </a:defRPr>
            </a:pPr>
            <a:r>
              <a:rPr sz="1350" b="1" i="0">
                <a:solidFill>
                  <a:srgbClr val="1D1D1A"/>
                </a:solidFill>
              </a:rPr>
              <a:t>异步通信算子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9F94148-9A3E-4F37-9996-80D432C5920F}"/>
              </a:ext>
            </a:extLst>
          </p:cNvPr>
          <p:cNvSpPr>
            <a:spLocks noGrp="1"/>
          </p:cNvSpPr>
          <p:nvPr/>
        </p:nvSpPr>
        <p:spPr>
          <a:xfrm>
            <a:off x="609600" y="4791075"/>
            <a:ext cx="10896600" cy="9525"/>
          </a:xfrm>
          <a:prstGeom prst="rect">
            <a:avLst/>
          </a:prstGeom>
          <a:solidFill>
            <a:srgbClr val="C7000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199DA38-DEF7-42F3-AFFD-2629F4C775DB}"/>
              </a:ext>
            </a:extLst>
          </p:cNvPr>
          <p:cNvSpPr>
            <a:spLocks noGrp="1"/>
          </p:cNvSpPr>
          <p:nvPr/>
        </p:nvSpPr>
        <p:spPr>
          <a:xfrm>
            <a:off x="6076950" y="4876800"/>
            <a:ext cx="9525" cy="1066800"/>
          </a:xfrm>
          <a:prstGeom prst="rect">
            <a:avLst/>
          </a:prstGeom>
          <a:solidFill>
            <a:srgbClr val="D9E0E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2762B81-D194-40D1-8125-044CC1E30C5D}"/>
              </a:ext>
            </a:extLst>
          </p:cNvPr>
          <p:cNvSpPr>
            <a:spLocks noGrp="1"/>
          </p:cNvSpPr>
          <p:nvPr/>
        </p:nvSpPr>
        <p:spPr>
          <a:xfrm>
            <a:off x="762000" y="4876800"/>
            <a:ext cx="1162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 i="0">
                <a:solidFill>
                  <a:srgbClr val="156082"/>
                </a:solidFill>
              </a:defRPr>
            </a:pPr>
            <a:r>
              <a:rPr sz="1050" b="1" i="0">
                <a:solidFill>
                  <a:srgbClr val="156082"/>
                </a:solidFill>
              </a:rPr>
              <a:t>dispatch_send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388C2A2-4787-4CCA-BB47-0CA48C33464B}"/>
              </a:ext>
            </a:extLst>
          </p:cNvPr>
          <p:cNvSpPr>
            <a:spLocks noGrp="1"/>
          </p:cNvSpPr>
          <p:nvPr/>
        </p:nvSpPr>
        <p:spPr>
          <a:xfrm>
            <a:off x="1943100" y="4876800"/>
            <a:ext cx="4048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40" b="0" i="0">
                <a:solidFill>
                  <a:srgbClr val="555757"/>
                </a:solidFill>
              </a:defRPr>
            </a:pPr>
            <a:r>
              <a:rPr sz="940" b="0" i="0">
                <a:solidFill>
                  <a:srgbClr val="555757"/>
                </a:solidFill>
              </a:rPr>
              <a:t>Attention卡根据路由表将每个token按top-k选择分发到对应MoE Expert卡的共享内存中，同时均匀分配token给各卡的共享专家。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8C34B2-532E-4975-A18E-58041B286182}"/>
              </a:ext>
            </a:extLst>
          </p:cNvPr>
          <p:cNvSpPr>
            <a:spLocks noGrp="1"/>
          </p:cNvSpPr>
          <p:nvPr/>
        </p:nvSpPr>
        <p:spPr>
          <a:xfrm>
            <a:off x="6248400" y="4876800"/>
            <a:ext cx="1162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 i="0">
                <a:solidFill>
                  <a:srgbClr val="2D9D8F"/>
                </a:solidFill>
              </a:defRPr>
            </a:pPr>
            <a:r>
              <a:rPr sz="1050" b="1" i="0">
                <a:solidFill>
                  <a:srgbClr val="2D9D8F"/>
                </a:solidFill>
              </a:rPr>
              <a:t>dispatch_recv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6AF22AE-F7F5-4875-B115-0918191813B6}"/>
              </a:ext>
            </a:extLst>
          </p:cNvPr>
          <p:cNvSpPr>
            <a:spLocks noGrp="1"/>
          </p:cNvSpPr>
          <p:nvPr/>
        </p:nvSpPr>
        <p:spPr>
          <a:xfrm>
            <a:off x="7429500" y="4876800"/>
            <a:ext cx="4048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40" b="0" i="0">
                <a:solidFill>
                  <a:srgbClr val="555757"/>
                </a:solidFill>
              </a:defRPr>
            </a:pPr>
            <a:r>
              <a:rPr sz="940" b="0" i="0">
                <a:solidFill>
                  <a:srgbClr val="555757"/>
                </a:solidFill>
              </a:rPr>
              <a:t>MoEExpert卡轮询各Attention卡的共享内存，等待数据就绪后将token按专家维度重排收集到本地buffer，输出每个专家收到的token及元信息供后续计算使用。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D7B0051-F733-419A-9330-970A817049EE}"/>
              </a:ext>
            </a:extLst>
          </p:cNvPr>
          <p:cNvSpPr>
            <a:spLocks noGrp="1"/>
          </p:cNvSpPr>
          <p:nvPr/>
        </p:nvSpPr>
        <p:spPr>
          <a:xfrm>
            <a:off x="762000" y="5448300"/>
            <a:ext cx="1162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 i="0">
                <a:solidFill>
                  <a:srgbClr val="E97132"/>
                </a:solidFill>
              </a:defRPr>
            </a:pPr>
            <a:r>
              <a:rPr sz="1050" b="1" i="0">
                <a:solidFill>
                  <a:srgbClr val="E97132"/>
                </a:solidFill>
              </a:rPr>
              <a:t>combine_send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A679A01-9470-4B9A-AB7B-D0E9F5650C3E}"/>
              </a:ext>
            </a:extLst>
          </p:cNvPr>
          <p:cNvSpPr>
            <a:spLocks noGrp="1"/>
          </p:cNvSpPr>
          <p:nvPr/>
        </p:nvSpPr>
        <p:spPr>
          <a:xfrm>
            <a:off x="1943100" y="5448300"/>
            <a:ext cx="4048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40" b="0" i="0">
                <a:solidFill>
                  <a:srgbClr val="555757"/>
                </a:solidFill>
              </a:defRPr>
            </a:pPr>
            <a:r>
              <a:rPr sz="940" b="0" i="0">
                <a:solidFill>
                  <a:srgbClr val="555757"/>
                </a:solidFill>
              </a:rPr>
              <a:t>MoEExpert卡完成本地专家计算后，根据dispatch_recv产出的元信息将路由专家和共享专家的计算结果按原路写回对应Attention卡的共享内存。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8A6A4EC-355C-41D9-94A7-32D0C1F714A0}"/>
              </a:ext>
            </a:extLst>
          </p:cNvPr>
          <p:cNvSpPr>
            <a:spLocks noGrp="1"/>
          </p:cNvSpPr>
          <p:nvPr/>
        </p:nvSpPr>
        <p:spPr>
          <a:xfrm>
            <a:off x="6248400" y="5448300"/>
            <a:ext cx="1162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 i="0">
                <a:solidFill>
                  <a:srgbClr val="4F8F13"/>
                </a:solidFill>
              </a:defRPr>
            </a:pPr>
            <a:r>
              <a:rPr sz="1050" b="1" i="0">
                <a:solidFill>
                  <a:srgbClr val="4F8F13"/>
                </a:solidFill>
              </a:rPr>
              <a:t>combine_recv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6041144-19ED-4779-9900-C8FAF520E702}"/>
              </a:ext>
            </a:extLst>
          </p:cNvPr>
          <p:cNvSpPr>
            <a:spLocks noGrp="1"/>
          </p:cNvSpPr>
          <p:nvPr/>
        </p:nvSpPr>
        <p:spPr>
          <a:xfrm>
            <a:off x="7429500" y="5448300"/>
            <a:ext cx="4048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40" b="0" i="0">
                <a:solidFill>
                  <a:srgbClr val="555757"/>
                </a:solidFill>
              </a:defRPr>
            </a:pPr>
            <a:r>
              <a:rPr sz="940" b="0" i="0">
                <a:solidFill>
                  <a:srgbClr val="555757"/>
                </a:solidFill>
              </a:rPr>
              <a:t>Attention卡等待所有MoE Expert卡回传完成，遍历路由表从共享内存中读出每个token的top-k专家输出与共享专家输出，按门控分数加权累加得到最终token输出。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2486C60-D219-46FD-B811-69E545588418}"/>
              </a:ext>
            </a:extLst>
          </p:cNvPr>
          <p:cNvSpPr>
            <a:spLocks noGrp="1"/>
          </p:cNvSpPr>
          <p:nvPr/>
        </p:nvSpPr>
        <p:spPr>
          <a:xfrm>
            <a:off x="609600" y="6153150"/>
            <a:ext cx="971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 i="0">
                <a:solidFill>
                  <a:srgbClr val="555757"/>
                </a:solidFill>
              </a:defRPr>
            </a:pPr>
            <a:r>
              <a:rPr sz="825" b="0" i="0">
                <a:solidFill>
                  <a:srgbClr val="555757"/>
                </a:solidFill>
              </a:rPr>
              <a:t>同步与异步方案对比；四个通信算子说明保持原材料内容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7E29B07-D151-4C09-8F23-B2D5D133F138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75" b="0" i="1">
                <a:solidFill>
                  <a:srgbClr val="898989"/>
                </a:solidFill>
              </a:defRPr>
            </a:pPr>
            <a:r>
              <a:rPr sz="675" b="0" i="1">
                <a:solidFill>
                  <a:srgbClr val="898989"/>
                </a:solidFill>
              </a:rPr>
              <a:t>来源：AFD-Plugin(2).pptx 第 6 页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772EFCD-AE15-45B5-ACB7-2B52CDEDD069}"/>
              </a:ext>
            </a:extLst>
          </p:cNvPr>
          <p:cNvSpPr>
            <a:spLocks noGrp="1"/>
          </p:cNvSpPr>
          <p:nvPr/>
        </p:nvSpPr>
        <p:spPr>
          <a:xfrm>
            <a:off x="11430000" y="6419850"/>
            <a:ext cx="228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 i="0">
                <a:solidFill>
                  <a:srgbClr val="898989"/>
                </a:solidFill>
              </a:defRPr>
            </a:pPr>
            <a:r>
              <a:rPr sz="825" b="0" i="0">
                <a:solidFill>
                  <a:srgbClr val="898989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75148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E688D239-8BB5-48B0-B6A2-ACBBC1C04D01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 i="0">
                <a:solidFill>
                  <a:srgbClr val="898989"/>
                </a:solidFill>
              </a:defRPr>
            </a:pPr>
            <a:r>
              <a:rPr sz="825" b="1" i="0">
                <a:solidFill>
                  <a:srgbClr val="898989"/>
                </a:solidFill>
              </a:rPr>
              <a:t>USAGE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7CC9BB0-5B63-47EE-8214-654F3C0247C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 i="0">
                <a:solidFill>
                  <a:srgbClr val="C70000"/>
                </a:solidFill>
              </a:defRPr>
            </a:pPr>
            <a:r>
              <a:rPr sz="2250" b="1" i="0">
                <a:solidFill>
                  <a:srgbClr val="C70000"/>
                </a:solidFill>
              </a:rPr>
              <a:t>Usage：分别启动 Attention 与 FFN 实例</a:t>
            </a:r>
          </a:p>
        </p:txBody>
      </p:sp>
      <p:sp>
        <p:nvSpPr>
          <p:cNvPr id="3" name="圆角矩形 2">
            <a:extLst>
              <a:ext uri="{FF2B5EF4-FFF2-40B4-BE49-F238E27FC236}">
                <a16:creationId xmlns:a16="http://schemas.microsoft.com/office/drawing/2014/main" id="{A37D4797-C355-4FEC-9329-0756F07ED886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896600" cy="2266950"/>
          </a:xfrm>
          <a:prstGeom prst="roundRect">
            <a:avLst>
              <a:gd name="adj" fmla="val 4819"/>
            </a:avLst>
          </a:prstGeom>
          <a:noFill/>
          <a:ln w="9525">
            <a:solidFill>
              <a:srgbClr val="D9E0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948FDF-E75A-45BC-9BF7-F7DC6657E74F}"/>
              </a:ext>
            </a:extLst>
          </p:cNvPr>
          <p:cNvSpPr>
            <a:spLocks noGrp="1"/>
          </p:cNvSpPr>
          <p:nvPr/>
        </p:nvSpPr>
        <p:spPr>
          <a:xfrm>
            <a:off x="781050" y="11049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 i="0">
                <a:solidFill>
                  <a:srgbClr val="C70000"/>
                </a:solidFill>
              </a:defRPr>
            </a:pPr>
            <a:r>
              <a:rPr sz="1425" b="1" i="0">
                <a:solidFill>
                  <a:srgbClr val="C70000"/>
                </a:solidFill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D277C55-6F19-4A3E-A40D-521AEDEAEAA1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86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 i="0">
                <a:solidFill>
                  <a:srgbClr val="1D1D1A"/>
                </a:solidFill>
              </a:defRPr>
            </a:pPr>
            <a:r>
              <a:rPr sz="1350" b="1" i="0">
                <a:solidFill>
                  <a:srgbClr val="1D1D1A"/>
                </a:solidFill>
              </a:rPr>
              <a:t>GPU Attention-side shape</a:t>
            </a:r>
          </a:p>
        </p:txBody>
      </p:sp>
      <p:sp>
        <p:nvSpPr>
          <p:cNvPr id="30" name="图片 33">
            <a:extLst>
              <a:ext uri="{FF2B5EF4-FFF2-40B4-BE49-F238E27FC236}">
                <a16:creationId xmlns:a16="http://schemas.microsoft.com/office/drawing/2014/main" id="{714B9CED-9356-47AD-9343-9EE9368FF4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</p:spPr>
        <p:txBody>
          <a:bodyPr/>
          <a:lstStyle/>
          <a:p>
            <a:endParaRPr/>
          </a:p>
        </p:txBody>
      </p:sp>
      <p:pic>
        <p:nvPicPr>
          <p:cNvPr id="42" name="图片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sp>
        <p:nvSpPr>
          <p:cNvPr id="31" name="图片 34">
            <a:extLst>
              <a:ext uri="{FF2B5EF4-FFF2-40B4-BE49-F238E27FC236}">
                <a16:creationId xmlns:a16="http://schemas.microsoft.com/office/drawing/2014/main" id="{7ADF0851-01FC-47B8-908C-1F77F4D54B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</p:spPr>
        <p:txBody>
          <a:bodyPr/>
          <a:lstStyle/>
          <a:p>
            <a:endParaRPr/>
          </a:p>
        </p:txBody>
      </p:sp>
      <p:pic>
        <p:nvPicPr>
          <p:cNvPr id="44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sp>
        <p:nvSpPr>
          <p:cNvPr id="8" name="圆角矩形 7">
            <a:extLst>
              <a:ext uri="{FF2B5EF4-FFF2-40B4-BE49-F238E27FC236}">
                <a16:creationId xmlns:a16="http://schemas.microsoft.com/office/drawing/2014/main" id="{03513DDC-1F60-44FA-A9D9-A216372BDEB8}"/>
              </a:ext>
            </a:extLst>
          </p:cNvPr>
          <p:cNvSpPr>
            <a:spLocks noGrp="1"/>
          </p:cNvSpPr>
          <p:nvPr/>
        </p:nvSpPr>
        <p:spPr>
          <a:xfrm>
            <a:off x="609600" y="3429000"/>
            <a:ext cx="10896600" cy="2362200"/>
          </a:xfrm>
          <a:prstGeom prst="roundRect">
            <a:avLst>
              <a:gd name="adj" fmla="val 4598"/>
            </a:avLst>
          </a:prstGeom>
          <a:noFill/>
          <a:ln w="9525">
            <a:solidFill>
              <a:srgbClr val="B8CE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4EE8CAC-BBD2-4C22-A045-93A8F5001C77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 i="0">
                <a:solidFill>
                  <a:srgbClr val="156082"/>
                </a:solidFill>
              </a:defRPr>
            </a:pPr>
            <a:r>
              <a:rPr sz="1425" b="1" i="0">
                <a:solidFill>
                  <a:srgbClr val="156082"/>
                </a:solidFill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4F58F30-0F8D-439D-BC68-330995C6CEA6}"/>
              </a:ext>
            </a:extLst>
          </p:cNvPr>
          <p:cNvSpPr>
            <a:spLocks noGrp="1"/>
          </p:cNvSpPr>
          <p:nvPr/>
        </p:nvSpPr>
        <p:spPr>
          <a:xfrm>
            <a:off x="1276350" y="3505200"/>
            <a:ext cx="9886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 i="0">
                <a:solidFill>
                  <a:srgbClr val="1D1D1A"/>
                </a:solidFill>
              </a:defRPr>
            </a:pPr>
            <a:r>
              <a:rPr sz="1350" b="1" i="0">
                <a:solidFill>
                  <a:srgbClr val="1D1D1A"/>
                </a:solidFill>
              </a:rPr>
              <a:t>GPU FFN-side shape</a:t>
            </a:r>
          </a:p>
        </p:txBody>
      </p:sp>
      <p:sp>
        <p:nvSpPr>
          <p:cNvPr id="32" name="图片 38">
            <a:extLst>
              <a:ext uri="{FF2B5EF4-FFF2-40B4-BE49-F238E27FC236}">
                <a16:creationId xmlns:a16="http://schemas.microsoft.com/office/drawing/2014/main" id="{0784CF31-CCF8-4A14-9BF5-496F0F8988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</p:spPr>
        <p:txBody>
          <a:bodyPr/>
          <a:lstStyle/>
          <a:p>
            <a:endParaRPr/>
          </a:p>
        </p:txBody>
      </p:sp>
      <p:pic>
        <p:nvPicPr>
          <p:cNvPr id="49" name="图片 3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1A0E77C6-7DB6-4187-904E-40A5EA009246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102870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15" b="1" i="0">
                <a:solidFill>
                  <a:srgbClr val="202124"/>
                </a:solidFill>
              </a:defRPr>
            </a:pPr>
            <a:r>
              <a:rPr sz="1015" b="1" i="0">
                <a:solidFill>
                  <a:srgbClr val="202124"/>
                </a:solidFill>
              </a:rPr>
              <a:t>vllm serve /path/to/DeepSeek-V2-Lite \</a:t>
            </a:r>
            <a:endParaRPr sz="1275" b="1" i="0">
              <a:solidFill>
                <a:srgbClr val="156082"/>
              </a:solidFill>
            </a:endParaRPr>
          </a:p>
          <a:p>
            <a:pPr algn="l">
              <a:buNone/>
              <a:defRPr sz="1015" b="1" i="0">
                <a:solidFill>
                  <a:srgbClr val="202124"/>
                </a:solidFill>
              </a:defRPr>
            </a:pPr>
            <a:r>
              <a:rPr sz="1015" b="1" i="0">
                <a:solidFill>
                  <a:srgbClr val="202124"/>
                </a:solidFill>
              </a:rPr>
              <a:t>  --served-model-name deepseek-v2-lite-afd-attention \</a:t>
            </a:r>
            <a:endParaRPr sz="1275" b="1" i="0">
              <a:solidFill>
                <a:srgbClr val="156082"/>
              </a:solidFill>
            </a:endParaRPr>
          </a:p>
          <a:p>
            <a:pPr algn="l">
              <a:buNone/>
              <a:defRPr sz="1015" b="1" i="0">
                <a:solidFill>
                  <a:srgbClr val="202124"/>
                </a:solidFill>
              </a:defRPr>
            </a:pPr>
            <a:r>
              <a:rPr sz="1015" b="1" i="0">
                <a:solidFill>
                  <a:srgbClr val="202124"/>
                </a:solidFill>
              </a:rPr>
              <a:t>  --data-parallel-size 1 \</a:t>
            </a:r>
            <a:endParaRPr sz="1275" b="1" i="0">
              <a:solidFill>
                <a:srgbClr val="156082"/>
              </a:solidFill>
            </a:endParaRPr>
          </a:p>
          <a:p>
            <a:pPr algn="l">
              <a:buNone/>
              <a:defRPr sz="1015" b="1" i="0">
                <a:solidFill>
                  <a:srgbClr val="202124"/>
                </a:solidFill>
              </a:defRPr>
            </a:pPr>
            <a:r>
              <a:rPr sz="1015" b="1" i="0">
                <a:solidFill>
                  <a:srgbClr val="202124"/>
                </a:solidFill>
              </a:rPr>
              <a:t>  --tensor-parallel-size 1 \</a:t>
            </a:r>
            <a:endParaRPr sz="1275" b="1" i="0">
              <a:solidFill>
                <a:srgbClr val="156082"/>
              </a:solidFill>
            </a:endParaRPr>
          </a:p>
          <a:p>
            <a:pPr algn="l">
              <a:buNone/>
              <a:defRPr sz="1015" b="1" i="0">
                <a:solidFill>
                  <a:srgbClr val="202124"/>
                </a:solidFill>
              </a:defRPr>
            </a:pPr>
            <a:r>
              <a:rPr sz="1015" b="1" i="0">
                <a:solidFill>
                  <a:srgbClr val="202124"/>
                </a:solidFill>
              </a:rPr>
              <a:t>  --enable-expert-parallel \</a:t>
            </a:r>
            <a:endParaRPr sz="1275" b="1" i="0">
              <a:solidFill>
                <a:srgbClr val="156082"/>
              </a:solidFill>
            </a:endParaRPr>
          </a:p>
          <a:p>
            <a:pPr algn="l">
              <a:buNone/>
              <a:defRPr sz="1015" b="1" i="0">
                <a:solidFill>
                  <a:srgbClr val="202124"/>
                </a:solidFill>
              </a:defRPr>
            </a:pPr>
            <a:r>
              <a:rPr sz="1015" b="1" i="0">
                <a:solidFill>
                  <a:srgbClr val="202124"/>
                </a:solidFill>
              </a:rPr>
              <a:t>  --enforce-eager \</a:t>
            </a:r>
            <a:endParaRPr sz="1275" b="1" i="0">
              <a:solidFill>
                <a:srgbClr val="156082"/>
              </a:solidFill>
            </a:endParaRPr>
          </a:p>
          <a:p>
            <a:pPr algn="l">
              <a:buNone/>
              <a:defRPr sz="1015" b="1" i="0">
                <a:solidFill>
                  <a:srgbClr val="202124"/>
                </a:solidFill>
              </a:defRPr>
            </a:pPr>
            <a:r>
              <a:rPr sz="1015" b="1" i="0">
                <a:solidFill>
                  <a:srgbClr val="202124"/>
                </a:solidFill>
              </a:rPr>
              <a:t>  --host 127.0.0.1 \</a:t>
            </a:r>
            <a:endParaRPr sz="1275" b="1" i="0">
              <a:solidFill>
                <a:srgbClr val="156082"/>
              </a:solidFill>
            </a:endParaRPr>
          </a:p>
          <a:p>
            <a:pPr algn="l">
              <a:buNone/>
              <a:defRPr sz="1015" b="1" i="0">
                <a:solidFill>
                  <a:srgbClr val="202124"/>
                </a:solidFill>
              </a:defRPr>
            </a:pPr>
            <a:r>
              <a:rPr sz="1015" b="1" i="0">
                <a:solidFill>
                  <a:srgbClr val="202124"/>
                </a:solidFill>
              </a:rPr>
              <a:t>  --port 18000 \</a:t>
            </a:r>
            <a:endParaRPr sz="1275" b="1" i="0">
              <a:solidFill>
                <a:srgbClr val="156082"/>
              </a:solidFill>
            </a:endParaRPr>
          </a:p>
          <a:p>
            <a:pPr algn="l">
              <a:buNone/>
              <a:defRPr sz="1015" b="1" i="0">
                <a:solidFill>
                  <a:srgbClr val="202124"/>
                </a:solidFill>
              </a:defRPr>
            </a:pPr>
            <a:r>
              <a:rPr sz="1015" b="1" i="0">
                <a:solidFill>
                  <a:srgbClr val="202124"/>
                </a:solidFill>
              </a:rPr>
              <a:t>  --additional-config '{"afd":{"role":"attention","connector":"P2pNcclAFDConnector","host":"127.0.0.1","port":6239,"num_attention_ranks":1,"num_ffn_ranks":1}}'</a:t>
            </a:r>
            <a:endParaRPr sz="1275" b="1" i="0">
              <a:solidFill>
                <a:srgbClr val="15608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EB78762-B934-4454-A284-4967E35F865F}"/>
              </a:ext>
            </a:extLst>
          </p:cNvPr>
          <p:cNvSpPr>
            <a:spLocks noGrp="1"/>
          </p:cNvSpPr>
          <p:nvPr/>
        </p:nvSpPr>
        <p:spPr>
          <a:xfrm>
            <a:off x="876300" y="3829050"/>
            <a:ext cx="10287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15" b="0" i="0">
                <a:solidFill>
                  <a:srgbClr val="202124"/>
                </a:solidFill>
              </a:defRPr>
            </a:pPr>
            <a:r>
              <a:rPr sz="1015" b="0" i="0">
                <a:solidFill>
                  <a:srgbClr val="202124"/>
                </a:solidFill>
              </a:rPr>
              <a:t>vllm serve /path/to/DeepSeek-V2-Lite \</a:t>
            </a:r>
            <a:endParaRPr sz="1050" b="0" i="0">
              <a:solidFill>
                <a:srgbClr val="555757"/>
              </a:solidFill>
            </a:endParaRPr>
          </a:p>
          <a:p>
            <a:pPr algn="l">
              <a:buNone/>
              <a:defRPr sz="1015" b="0" i="0">
                <a:solidFill>
                  <a:srgbClr val="202124"/>
                </a:solidFill>
              </a:defRPr>
            </a:pPr>
            <a:r>
              <a:rPr sz="1015" b="0" i="0">
                <a:solidFill>
                  <a:srgbClr val="202124"/>
                </a:solidFill>
              </a:rPr>
              <a:t>  --served-model-name deepseek-v2-lite-afd-ffn \</a:t>
            </a:r>
            <a:endParaRPr sz="1050" b="0" i="0">
              <a:solidFill>
                <a:srgbClr val="555757"/>
              </a:solidFill>
            </a:endParaRPr>
          </a:p>
          <a:p>
            <a:pPr algn="l">
              <a:buNone/>
              <a:defRPr sz="1015" b="0" i="0">
                <a:solidFill>
                  <a:srgbClr val="202124"/>
                </a:solidFill>
              </a:defRPr>
            </a:pPr>
            <a:r>
              <a:rPr sz="1015" b="0" i="0">
                <a:solidFill>
                  <a:srgbClr val="202124"/>
                </a:solidFill>
              </a:rPr>
              <a:t>  --data-parallel-size 1 \</a:t>
            </a:r>
            <a:endParaRPr sz="1050" b="0" i="0">
              <a:solidFill>
                <a:srgbClr val="555757"/>
              </a:solidFill>
            </a:endParaRPr>
          </a:p>
          <a:p>
            <a:pPr algn="l">
              <a:buNone/>
              <a:defRPr sz="1015" b="0" i="0">
                <a:solidFill>
                  <a:srgbClr val="202124"/>
                </a:solidFill>
              </a:defRPr>
            </a:pPr>
            <a:r>
              <a:rPr sz="1015" b="0" i="0">
                <a:solidFill>
                  <a:srgbClr val="202124"/>
                </a:solidFill>
              </a:rPr>
              <a:t>  --tensor-parallel-size 1 \</a:t>
            </a:r>
            <a:endParaRPr sz="1050" b="0" i="0">
              <a:solidFill>
                <a:srgbClr val="555757"/>
              </a:solidFill>
            </a:endParaRPr>
          </a:p>
          <a:p>
            <a:pPr algn="l">
              <a:buNone/>
              <a:defRPr sz="1015" b="0" i="0">
                <a:solidFill>
                  <a:srgbClr val="202124"/>
                </a:solidFill>
              </a:defRPr>
            </a:pPr>
            <a:r>
              <a:rPr sz="1015" b="0" i="0">
                <a:solidFill>
                  <a:srgbClr val="202124"/>
                </a:solidFill>
              </a:rPr>
              <a:t>  --enable-expert-parallel \</a:t>
            </a:r>
            <a:endParaRPr sz="1050" b="0" i="0">
              <a:solidFill>
                <a:srgbClr val="555757"/>
              </a:solidFill>
            </a:endParaRPr>
          </a:p>
          <a:p>
            <a:pPr algn="l">
              <a:buNone/>
              <a:defRPr sz="1015" b="0" i="0">
                <a:solidFill>
                  <a:srgbClr val="202124"/>
                </a:solidFill>
              </a:defRPr>
            </a:pPr>
            <a:r>
              <a:rPr sz="1015" b="0" i="0">
                <a:solidFill>
                  <a:srgbClr val="202124"/>
                </a:solidFill>
              </a:rPr>
              <a:t>  --enforce-eager \</a:t>
            </a:r>
            <a:endParaRPr sz="1050" b="0" i="0">
              <a:solidFill>
                <a:srgbClr val="555757"/>
              </a:solidFill>
            </a:endParaRPr>
          </a:p>
          <a:p>
            <a:pPr algn="l">
              <a:buNone/>
              <a:defRPr sz="1015" b="0" i="0">
                <a:solidFill>
                  <a:srgbClr val="202124"/>
                </a:solidFill>
              </a:defRPr>
            </a:pPr>
            <a:r>
              <a:rPr sz="1015" b="0" i="0">
                <a:solidFill>
                  <a:srgbClr val="202124"/>
                </a:solidFill>
              </a:rPr>
              <a:t>  --host 127.0.0.1 \</a:t>
            </a:r>
            <a:endParaRPr sz="1050" b="0" i="0">
              <a:solidFill>
                <a:srgbClr val="555757"/>
              </a:solidFill>
            </a:endParaRPr>
          </a:p>
          <a:p>
            <a:pPr algn="l">
              <a:buNone/>
              <a:defRPr sz="1015" b="0" i="0">
                <a:solidFill>
                  <a:srgbClr val="202124"/>
                </a:solidFill>
              </a:defRPr>
            </a:pPr>
            <a:r>
              <a:rPr sz="1015" b="0" i="0">
                <a:solidFill>
                  <a:srgbClr val="202124"/>
                </a:solidFill>
              </a:rPr>
              <a:t>  --port 18001 \</a:t>
            </a:r>
            <a:endParaRPr sz="1050" b="0" i="0">
              <a:solidFill>
                <a:srgbClr val="555757"/>
              </a:solidFill>
            </a:endParaRPr>
          </a:p>
          <a:p>
            <a:pPr algn="l">
              <a:buNone/>
              <a:defRPr sz="1015" b="0" i="0">
                <a:solidFill>
                  <a:srgbClr val="202124"/>
                </a:solidFill>
              </a:defRPr>
            </a:pPr>
            <a:r>
              <a:rPr sz="1015" b="0" i="0">
                <a:solidFill>
                  <a:srgbClr val="202124"/>
                </a:solidFill>
              </a:rPr>
              <a:t>  --additional-config '{"afd":{"role":"ffn","connector":"P2pNcclAFDConnector","host":"127.0.0.1","port":6239,"num_attention_ranks":1,"num_ffn_ranks":1}}'</a:t>
            </a:r>
            <a:endParaRPr sz="1050" b="0" i="0">
              <a:solidFill>
                <a:srgbClr val="555757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17149DB-3A40-4B1B-A4BA-E00BD2378E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 i="0">
                <a:solidFill>
                  <a:srgbClr val="C70000"/>
                </a:solidFill>
              </a:defRPr>
            </a:pPr>
            <a:endParaRPr sz="1425" b="1" i="0">
              <a:solidFill>
                <a:srgbClr val="C70000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8696484-C114-40A4-99AA-82C1A5EABD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 i="0">
                <a:solidFill>
                  <a:srgbClr val="1D1D1A"/>
                </a:solidFill>
              </a:defRPr>
            </a:pPr>
            <a:endParaRPr sz="1350" b="1" i="0">
              <a:solidFill>
                <a:srgbClr val="1D1D1A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5D5617B-A7F0-4386-ADFB-96326E7A6C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C7000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2054216-3894-474D-A6A2-296BDFD788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D9E0E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4BB5C40-F0B4-4F69-AC8B-B48DF3F7D3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 i="0">
                <a:solidFill>
                  <a:srgbClr val="156082"/>
                </a:solidFill>
              </a:defRPr>
            </a:pPr>
            <a:endParaRPr sz="1050" b="1" i="0">
              <a:solidFill>
                <a:srgbClr val="156082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A0CC696-FB2D-4D7C-BCA5-19AE0EF756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40" b="0" i="0">
                <a:solidFill>
                  <a:srgbClr val="555757"/>
                </a:solidFill>
              </a:defRPr>
            </a:pPr>
            <a:endParaRPr sz="940" b="0" i="0">
              <a:solidFill>
                <a:srgbClr val="555757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5D951BD-A5E0-4014-86FC-590A3D82E5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 i="0">
                <a:solidFill>
                  <a:srgbClr val="2D9D8F"/>
                </a:solidFill>
              </a:defRPr>
            </a:pPr>
            <a:endParaRPr sz="1050" b="1" i="0">
              <a:solidFill>
                <a:srgbClr val="2D9D8F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AB8918D-69EE-4301-AF96-9987965443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40" b="0" i="0">
                <a:solidFill>
                  <a:srgbClr val="555757"/>
                </a:solidFill>
              </a:defRPr>
            </a:pPr>
            <a:endParaRPr sz="940" b="0" i="0">
              <a:solidFill>
                <a:srgbClr val="555757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856088B-10FB-4711-B0B9-24DD53FFA9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 i="0">
                <a:solidFill>
                  <a:srgbClr val="E97132"/>
                </a:solidFill>
              </a:defRPr>
            </a:pPr>
            <a:endParaRPr sz="1050" b="1" i="0">
              <a:solidFill>
                <a:srgbClr val="E97132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B26A1DA-B8FD-4FDD-8571-D4CD06C3BD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40" b="0" i="0">
                <a:solidFill>
                  <a:srgbClr val="555757"/>
                </a:solidFill>
              </a:defRPr>
            </a:pPr>
            <a:endParaRPr sz="940" b="0" i="0">
              <a:solidFill>
                <a:srgbClr val="555757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1B7005A-E779-4171-868D-18B5C5389A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 i="0">
                <a:solidFill>
                  <a:srgbClr val="4F8F13"/>
                </a:solidFill>
              </a:defRPr>
            </a:pPr>
            <a:endParaRPr sz="1050" b="1" i="0">
              <a:solidFill>
                <a:srgbClr val="4F8F13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E6EC407-4756-4217-B1A2-B4FB1E825E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40" b="0" i="0">
                <a:solidFill>
                  <a:srgbClr val="555757"/>
                </a:solidFill>
              </a:defRPr>
            </a:pPr>
            <a:endParaRPr sz="940" b="0" i="0">
              <a:solidFill>
                <a:srgbClr val="555757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2CB570C-C35F-47AB-9CE5-AF0F371AE4AC}"/>
              </a:ext>
            </a:extLst>
          </p:cNvPr>
          <p:cNvSpPr>
            <a:spLocks noGrp="1"/>
          </p:cNvSpPr>
          <p:nvPr/>
        </p:nvSpPr>
        <p:spPr>
          <a:xfrm>
            <a:off x="609600" y="6153150"/>
            <a:ext cx="971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 i="0">
                <a:solidFill>
                  <a:srgbClr val="555757"/>
                </a:solidFill>
              </a:defRPr>
            </a:pPr>
            <a:r>
              <a:rPr sz="825" b="0" i="0">
                <a:solidFill>
                  <a:srgbClr val="555757"/>
                </a:solidFill>
              </a:rPr>
              <a:t>同一组 host / port 与 rank 数配置必须在两侧保持一致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68EAB4B-7CFD-4CA1-B27B-A86C22523607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75" b="0" i="1">
                <a:solidFill>
                  <a:srgbClr val="898989"/>
                </a:solidFill>
              </a:defRPr>
            </a:pPr>
            <a:r>
              <a:rPr sz="675" b="0" i="1">
                <a:solidFill>
                  <a:srgbClr val="898989"/>
                </a:solidFill>
              </a:rPr>
              <a:t>来源：AFD Plugin README · GPU P2P serving example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C014B7F-CB3B-41C6-AB18-C50D1E220E97}"/>
              </a:ext>
            </a:extLst>
          </p:cNvPr>
          <p:cNvSpPr>
            <a:spLocks noGrp="1"/>
          </p:cNvSpPr>
          <p:nvPr/>
        </p:nvSpPr>
        <p:spPr>
          <a:xfrm>
            <a:off x="11315700" y="64198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 i="0">
                <a:solidFill>
                  <a:srgbClr val="898989"/>
                </a:solidFill>
              </a:defRPr>
            </a:pPr>
            <a:r>
              <a:rPr sz="825" b="0" i="0">
                <a:solidFill>
                  <a:srgbClr val="898989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052887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D5B2A7CD-E992-4F20-99FF-F07BEBC14799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>
                <a:solidFill>
                  <a:srgbClr val="898989"/>
                </a:solidFill>
              </a:defRPr>
            </a:pPr>
            <a:r>
              <a:rPr sz="825" b="1">
                <a:solidFill>
                  <a:srgbClr val="898989"/>
                </a:solidFill>
              </a:rPr>
              <a:t>SYNC DECODE RESULTS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91CC185-98F5-4AF1-B97B-0B04AB762F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C00000"/>
                </a:solidFill>
              </a:defRPr>
            </a:pPr>
            <a:r>
              <a:rPr sz="2250" b="1">
                <a:solidFill>
                  <a:srgbClr val="C00000"/>
                </a:solidFill>
              </a:rPr>
              <a:t>64A16F 提升 9%–11%，但 A:F 配比决定收益方向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F7417A-B0BB-49B1-B20E-49301CB95C52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F601FE5-83EA-41ED-B1DA-0B8275325046}"/>
              </a:ext>
            </a:extLst>
          </p:cNvPr>
          <p:cNvSpPr>
            <a:spLocks noGrp="1"/>
          </p:cNvSpPr>
          <p:nvPr/>
        </p:nvSpPr>
        <p:spPr>
          <a:xfrm>
            <a:off x="11315700" y="64198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</a:defRPr>
            </a:pPr>
            <a:r>
              <a:rPr sz="825" b="0">
                <a:solidFill>
                  <a:srgbClr val="898989"/>
                </a:solidFill>
              </a:rPr>
              <a:t>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431CB1-C53B-41E0-9569-BB0DD079743D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10972800" cy="438150"/>
          </a:xfrm>
          <a:prstGeom prst="rect">
            <a:avLst/>
          </a:prstGeom>
          <a:solidFill>
            <a:srgbClr val="FFF5DF"/>
          </a:solidFill>
          <a:ln w="9525">
            <a:solidFill>
              <a:srgbClr val="ED6D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D47678-0D86-4E24-AE9F-029466E9AAA9}"/>
              </a:ext>
            </a:extLst>
          </p:cNvPr>
          <p:cNvSpPr>
            <a:spLocks noGrp="1"/>
          </p:cNvSpPr>
          <p:nvPr/>
        </p:nvSpPr>
        <p:spPr>
          <a:xfrm>
            <a:off x="781050" y="1085850"/>
            <a:ext cx="10629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40" b="0">
                <a:solidFill>
                  <a:srgbClr val="555757"/>
                </a:solidFill>
              </a:defRPr>
            </a:pPr>
            <a:r>
              <a:rPr sz="940" b="0">
                <a:solidFill>
                  <a:srgbClr val="555757"/>
                </a:solidFill>
              </a:rPr>
              <a:t>测试口径：版本 v0.19.1rc1；DeepSeek-V3.2 W8A8、Ascend 910C，输出长度 512–1,536 tokens，吞吐按物理 die 归一化。结果使用 forced expert balancing，仅用于受控性能对比，不代表精度或生产 serving。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E3B13F-FEF5-4CF9-B7DC-80DBEE46610E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533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2046A0"/>
                </a:solidFill>
              </a:defRPr>
            </a:pPr>
            <a:r>
              <a:rPr sz="1125" b="1">
                <a:solidFill>
                  <a:srgbClr val="2046A0"/>
                </a:solidFill>
              </a:rPr>
              <a:t>16K input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17898B2-E789-47F7-BA0A-6EA1B4316026}"/>
              </a:ext>
            </a:extLst>
          </p:cNvPr>
          <p:cNvSpPr>
            <a:spLocks noGrp="1"/>
          </p:cNvSpPr>
          <p:nvPr/>
        </p:nvSpPr>
        <p:spPr>
          <a:xfrm>
            <a:off x="6191250" y="1504950"/>
            <a:ext cx="533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56870C"/>
                </a:solidFill>
              </a:defRPr>
            </a:pPr>
            <a:r>
              <a:rPr sz="1125" b="1">
                <a:solidFill>
                  <a:srgbClr val="56870C"/>
                </a:solidFill>
              </a:rPr>
              <a:t>32K input</a:t>
            </a:r>
          </a:p>
        </p:txBody>
      </p:sp>
      <p:pic>
        <p:nvPicPr>
          <p:cNvPr id="28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300" y="1752600"/>
            <a:ext cx="4462226" cy="2266950"/>
          </a:xfrm>
          <a:prstGeom prst="rect">
            <a:avLst/>
          </a:prstGeom>
        </p:spPr>
      </p:pic>
      <p:pic>
        <p:nvPicPr>
          <p:cNvPr id="29" name="图片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75" y="1752600"/>
            <a:ext cx="4462226" cy="2266950"/>
          </a:xfrm>
          <a:prstGeom prst="rect">
            <a:avLst/>
          </a:prstGeom>
        </p:spPr>
      </p:pic>
      <p:graphicFrame>
        <p:nvGraphicFramePr>
          <p:cNvPr id="30" name="表格 25"/>
          <p:cNvGraphicFramePr/>
          <p:nvPr/>
        </p:nvGraphicFramePr>
        <p:xfrm>
          <a:off x="609600" y="4114800"/>
          <a:ext cx="10972800" cy="12573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</a:rPr>
                        <a:t>Input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</a:rPr>
                        <a:t>EP64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</a:rPr>
                        <a:t>48A16F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</a:rPr>
                        <a:t>Δ vs EP64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</a:rPr>
                        <a:t>64A16F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</a:rPr>
                        <a:t>Δ vs EP64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B1D21"/>
                          </a:solidFill>
                        </a:rPr>
                        <a:t>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B1D21"/>
                          </a:solidFill>
                        </a:rPr>
                        <a:t>232.6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B1D21"/>
                          </a:solidFill>
                        </a:rPr>
                        <a:t>220.3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555757"/>
                          </a:solidFill>
                        </a:rPr>
                        <a:t>−5.3%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B1D21"/>
                          </a:solidFill>
                        </a:rPr>
                        <a:t>258.9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C00000"/>
                          </a:solidFill>
                        </a:rPr>
                        <a:t>+11.3%</a:t>
                      </a:r>
                    </a:p>
                  </a:txBody>
                  <a:tcPr>
                    <a:solidFill>
                      <a:srgbClr val="FC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B1D21"/>
                          </a:solidFill>
                        </a:rPr>
                        <a:t>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B1D21"/>
                          </a:solidFill>
                        </a:rPr>
                        <a:t>168.2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B1D21"/>
                          </a:solidFill>
                        </a:rPr>
                        <a:t>151.4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555757"/>
                          </a:solidFill>
                        </a:rPr>
                        <a:t>−10.0%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B1D21"/>
                          </a:solidFill>
                        </a:rPr>
                        <a:t>183.3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50" b="1">
                          <a:solidFill>
                            <a:srgbClr val="C00000"/>
                          </a:solidFill>
                        </a:rPr>
                        <a:t>+9.0%</a:t>
                      </a:r>
                    </a:p>
                  </a:txBody>
                  <a:tcPr>
                    <a:solidFill>
                      <a:srgbClr val="FC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矩形 11">
            <a:extLst>
              <a:ext uri="{FF2B5EF4-FFF2-40B4-BE49-F238E27FC236}">
                <a16:creationId xmlns:a16="http://schemas.microsoft.com/office/drawing/2014/main" id="{2179D058-A8EB-4E03-9878-4CA240EE0B5E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10972800" cy="4381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D53DAE1-C564-474F-9914-3102AB37C33D}"/>
              </a:ext>
            </a:extLst>
          </p:cNvPr>
          <p:cNvSpPr>
            <a:spLocks noGrp="1"/>
          </p:cNvSpPr>
          <p:nvPr/>
        </p:nvSpPr>
        <p:spPr>
          <a:xfrm>
            <a:off x="781050" y="5591175"/>
            <a:ext cx="10629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解耦提供了资源配比的调参空间，但不保证任意 A:F 比例都更快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452AE5D-15ED-4263-96F5-48B6DE81A63F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55757"/>
                </a:solidFill>
              </a:defRPr>
            </a:pPr>
            <a:r>
              <a:rPr sz="1400">
                <a:solidFill>
                  <a:srgbClr val="555757"/>
                </a:solidFill>
              </a:rPr>
              <a:t>测试设置：版本 v0.19.1rc1；开启专家强制均衡（forced expert balancing）</a:t>
            </a:r>
            <a:r>
              <a:rPr sz="1400"/>
              <a:t>单位：output tokens/s/die</a:t>
            </a:r>
            <a:endParaRPr sz="1400" b="0" i="1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2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45BAECB-36E2-4C7C-AF6F-C534BF3D608A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>
                <a:solidFill>
                  <a:srgbClr val="898989"/>
                </a:solidFill>
              </a:defRPr>
            </a:pPr>
            <a:r>
              <a:rPr sz="825" b="1">
                <a:solidFill>
                  <a:srgbClr val="898989"/>
                </a:solidFill>
              </a:rPr>
              <a:t>ASYNC PREFILL RESULTS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90D8AD-A579-4A5B-848C-0873817283B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C00000"/>
                </a:solidFill>
              </a:defRPr>
            </a:pPr>
            <a:r>
              <a:rPr sz="2250" b="1">
                <a:solidFill>
                  <a:srgbClr val="C00000"/>
                </a:solidFill>
              </a:rPr>
              <a:t>异步 AFD：P50 TTFT 降低 60%+，有效吞吐最高提升 2.2×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67333BD-8172-44FE-9F57-BA44581F7E2A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B854717-A3BD-472E-8F57-B5B166ED8BB1}"/>
              </a:ext>
            </a:extLst>
          </p:cNvPr>
          <p:cNvSpPr>
            <a:spLocks noGrp="1"/>
          </p:cNvSpPr>
          <p:nvPr/>
        </p:nvSpPr>
        <p:spPr>
          <a:xfrm>
            <a:off x="11315700" y="64198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</a:defRPr>
            </a:pPr>
            <a:r>
              <a:rPr sz="825" b="0">
                <a:solidFill>
                  <a:srgbClr val="898989"/>
                </a:solidFill>
              </a:rPr>
              <a:t>12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3E707C5-0D8E-417F-AA93-F248ED8241F5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972800" cy="400050"/>
          </a:xfrm>
          <a:prstGeom prst="rect">
            <a:avLst/>
          </a:prstGeom>
          <a:solidFill>
            <a:srgbClr val="F7F7F7"/>
          </a:solidFill>
          <a:ln w="9525">
            <a:solidFill>
              <a:srgbClr val="DDDD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E9AE975-ED5C-476D-BC7B-344B434710E7}"/>
              </a:ext>
            </a:extLst>
          </p:cNvPr>
          <p:cNvSpPr>
            <a:spLocks noGrp="1"/>
          </p:cNvSpPr>
          <p:nvPr/>
        </p:nvSpPr>
        <p:spPr>
          <a:xfrm>
            <a:off x="800100" y="1095375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2046A0"/>
                </a:solidFill>
              </a:defRPr>
            </a:pPr>
            <a:r>
              <a:rPr sz="1050" b="1">
                <a:solidFill>
                  <a:srgbClr val="2046A0"/>
                </a:solidFill>
              </a:rPr>
              <a:t>模型：DeepSeek-V3.2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3C7308-3E86-466C-B1EB-607F30C18DD5}"/>
              </a:ext>
            </a:extLst>
          </p:cNvPr>
          <p:cNvSpPr>
            <a:spLocks noGrp="1"/>
          </p:cNvSpPr>
          <p:nvPr/>
        </p:nvSpPr>
        <p:spPr>
          <a:xfrm>
            <a:off x="3638550" y="109537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56870C"/>
                </a:solidFill>
              </a:defRPr>
            </a:pPr>
            <a:r>
              <a:rPr sz="1050" b="1">
                <a:solidFill>
                  <a:srgbClr val="56870C"/>
                </a:solidFill>
              </a:rPr>
              <a:t>对比：DP4PCP8  vs.  AFD（DP3PCP3 + EP8）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E3CD98-1273-46FE-BB28-8CC47FA6348B}"/>
              </a:ext>
            </a:extLst>
          </p:cNvPr>
          <p:cNvSpPr>
            <a:spLocks noGrp="1"/>
          </p:cNvSpPr>
          <p:nvPr/>
        </p:nvSpPr>
        <p:spPr>
          <a:xfrm>
            <a:off x="8782050" y="1095375"/>
            <a:ext cx="2609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ED6D00"/>
                </a:solidFill>
              </a:defRPr>
            </a:pPr>
            <a:r>
              <a:rPr sz="1050" b="1">
                <a:solidFill>
                  <a:srgbClr val="ED6D00"/>
                </a:solidFill>
              </a:rPr>
              <a:t>硬件：Ascend 910C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CF051F-47E1-4D33-AFF1-379F7118CDA0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533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B1D21"/>
                </a:solidFill>
              </a:defRPr>
            </a:pPr>
            <a:r>
              <a:rPr sz="1200" b="1">
                <a:solidFill>
                  <a:srgbClr val="1B1D21"/>
                </a:solidFill>
              </a:rPr>
              <a:t>AFD 在各分位 TTFT 上均优于 DP4PCP8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C0E8DD-11A6-4A36-9972-B18C55DE9641}"/>
              </a:ext>
            </a:extLst>
          </p:cNvPr>
          <p:cNvSpPr>
            <a:spLocks noGrp="1"/>
          </p:cNvSpPr>
          <p:nvPr/>
        </p:nvSpPr>
        <p:spPr>
          <a:xfrm>
            <a:off x="6248400" y="1581150"/>
            <a:ext cx="533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B1D21"/>
                </a:solidFill>
              </a:defRPr>
            </a:pPr>
            <a:r>
              <a:rPr sz="1200" b="1">
                <a:solidFill>
                  <a:srgbClr val="1B1D21"/>
                </a:solidFill>
              </a:rPr>
              <a:t>SLO 越严格，AFD 的有效吞吐优势越明显</a:t>
            </a:r>
          </a:p>
        </p:txBody>
      </p:sp>
      <p:pic>
        <p:nvPicPr>
          <p:cNvPr id="36" name="图片 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90235"/>
            <a:ext cx="5334000" cy="2582230"/>
          </a:xfrm>
          <a:prstGeom prst="rect">
            <a:avLst/>
          </a:prstGeom>
        </p:spPr>
      </p:pic>
      <p:pic>
        <p:nvPicPr>
          <p:cNvPr id="37" name="图片 3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5153" y="1885950"/>
            <a:ext cx="5060494" cy="259080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C4CA0941-01DC-4D07-A83E-64EAB7462099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5334000" cy="723900"/>
          </a:xfrm>
          <a:prstGeom prst="rect">
            <a:avLst/>
          </a:prstGeom>
          <a:solidFill>
            <a:srgbClr val="E9F1FB"/>
          </a:solidFill>
          <a:ln w="9525">
            <a:solidFill>
              <a:srgbClr val="2046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72D518-5977-4CE0-BD6A-1419256FA85D}"/>
              </a:ext>
            </a:extLst>
          </p:cNvPr>
          <p:cNvSpPr>
            <a:spLocks noGrp="1"/>
          </p:cNvSpPr>
          <p:nvPr/>
        </p:nvSpPr>
        <p:spPr>
          <a:xfrm>
            <a:off x="781050" y="4772025"/>
            <a:ext cx="781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2046A0"/>
                </a:solidFill>
              </a:defRPr>
            </a:pPr>
            <a:r>
              <a:rPr sz="1125" b="1">
                <a:solidFill>
                  <a:srgbClr val="2046A0"/>
                </a:solidFill>
              </a:rPr>
              <a:t>TTFT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28C33C6-C679-41CD-83ED-6F5A84DD1779}"/>
              </a:ext>
            </a:extLst>
          </p:cNvPr>
          <p:cNvSpPr>
            <a:spLocks noGrp="1"/>
          </p:cNvSpPr>
          <p:nvPr/>
        </p:nvSpPr>
        <p:spPr>
          <a:xfrm>
            <a:off x="1543050" y="4752975"/>
            <a:ext cx="42291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1B1D21"/>
                </a:solidFill>
              </a:defRPr>
            </a:pPr>
            <a:r>
              <a:rPr sz="1050" b="0">
                <a:solidFill>
                  <a:srgbClr val="1B1D21"/>
                </a:solidFill>
              </a:rPr>
              <a:t>中负载（RQS 6–10）：P50 TTFT 降低 60%–70%；高负载（&gt;14）：仍降低 25%。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F36CFCC-2F5B-4E73-A9DC-B0ECD36F8104}"/>
              </a:ext>
            </a:extLst>
          </p:cNvPr>
          <p:cNvSpPr>
            <a:spLocks noGrp="1"/>
          </p:cNvSpPr>
          <p:nvPr/>
        </p:nvSpPr>
        <p:spPr>
          <a:xfrm>
            <a:off x="6248400" y="4667250"/>
            <a:ext cx="5334000" cy="723900"/>
          </a:xfrm>
          <a:prstGeom prst="rect">
            <a:avLst/>
          </a:prstGeom>
          <a:solidFill>
            <a:srgbClr val="EDF6E7"/>
          </a:solidFill>
          <a:ln w="9525">
            <a:solidFill>
              <a:srgbClr val="56870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87C24BE-48AB-4B9D-A603-4A566C0F1F7A}"/>
              </a:ext>
            </a:extLst>
          </p:cNvPr>
          <p:cNvSpPr>
            <a:spLocks noGrp="1"/>
          </p:cNvSpPr>
          <p:nvPr/>
        </p:nvSpPr>
        <p:spPr>
          <a:xfrm>
            <a:off x="6419850" y="4772025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56870C"/>
                </a:solidFill>
              </a:defRPr>
            </a:pPr>
            <a:r>
              <a:rPr sz="1125" b="1">
                <a:solidFill>
                  <a:srgbClr val="56870C"/>
                </a:solidFill>
              </a:rPr>
              <a:t>GOODPUT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F555D14-BAD8-49FC-9486-4C22C0877248}"/>
              </a:ext>
            </a:extLst>
          </p:cNvPr>
          <p:cNvSpPr>
            <a:spLocks noGrp="1"/>
          </p:cNvSpPr>
          <p:nvPr/>
        </p:nvSpPr>
        <p:spPr>
          <a:xfrm>
            <a:off x="7410450" y="4752975"/>
            <a:ext cx="400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1B1D21"/>
                </a:solidFill>
              </a:defRPr>
            </a:pPr>
            <a:r>
              <a:rPr sz="1050" b="0">
                <a:solidFill>
                  <a:srgbClr val="1B1D21"/>
                </a:solidFill>
              </a:rPr>
              <a:t>TTFT SLO 2s：0.223 vs. 0.095 req/s/die；SLO 5s：0.272 vs. 0.218 req/s/die。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7FF2733-C8AC-4334-8113-7C12DBA90A9F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10972800" cy="4381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83618B7-53B5-485D-985F-8EE7A7A94CAB}"/>
              </a:ext>
            </a:extLst>
          </p:cNvPr>
          <p:cNvSpPr>
            <a:spLocks noGrp="1"/>
          </p:cNvSpPr>
          <p:nvPr/>
        </p:nvSpPr>
        <p:spPr>
          <a:xfrm>
            <a:off x="781050" y="5591175"/>
            <a:ext cx="10629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异步 AFD 同时改善尾延迟与 SLO 有效吞吐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5D0FC68-D9D8-4C5B-BFF8-935DB62ECFE9}"/>
              </a:ext>
            </a:extLst>
          </p:cNvPr>
          <p:cNvSpPr>
            <a:spLocks noGrp="1"/>
          </p:cNvSpPr>
          <p:nvPr/>
        </p:nvSpPr>
        <p:spPr>
          <a:xfrm>
            <a:off x="609600" y="6029325"/>
            <a:ext cx="97155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55757"/>
                </a:solidFill>
              </a:defRPr>
            </a:pPr>
            <a:r>
              <a:rPr sz="1400" b="0">
                <a:solidFill>
                  <a:srgbClr val="555757"/>
                </a:solidFill>
              </a:rPr>
              <a:t>测试设置：版本 v0.19.1rc1；使用减层模型，并开启专家强制均衡（forced expert balancing）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7AB3D83-FBF3-4A27-9765-7756E401B66E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75" b="0" i="1">
                <a:solidFill>
                  <a:srgbClr val="898989"/>
                </a:solidFill>
              </a:defRPr>
            </a:pPr>
            <a:r>
              <a:rPr sz="675" b="0" i="1">
                <a:solidFill>
                  <a:srgbClr val="898989"/>
                </a:solidFill>
              </a:rPr>
              <a:t>来源：原始 PPT 第 4 页；DeepSeek-V3.2 / Ascend 910C</a:t>
            </a:r>
          </a:p>
        </p:txBody>
      </p:sp>
    </p:spTree>
    <p:extLst>
      <p:ext uri="{BB962C8B-B14F-4D97-AF65-F5344CB8AC3E}">
        <p14:creationId xmlns:p14="http://schemas.microsoft.com/office/powerpoint/2010/main" val="1867301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DCE0EEB4-1481-4739-9D8E-02A12A49E8DF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 i="0">
                <a:solidFill>
                  <a:srgbClr val="898989"/>
                </a:solidFill>
              </a:defRPr>
            </a:pPr>
            <a:r>
              <a:rPr sz="825" b="1" i="0">
                <a:solidFill>
                  <a:srgbClr val="898989"/>
                </a:solidFill>
              </a:rPr>
              <a:t>NEXT STEPS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2214852-6536-4933-A38B-A18A9129B0D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 i="0">
                <a:solidFill>
                  <a:srgbClr val="C70000"/>
                </a:solidFill>
              </a:defRPr>
            </a:pPr>
            <a:r>
              <a:rPr sz="2250" b="1" i="0">
                <a:solidFill>
                  <a:srgbClr val="C70000"/>
                </a:solidFill>
              </a:rPr>
              <a:t>下一步：从实验性插件走向社区化与规模化验证</a:t>
            </a:r>
          </a:p>
        </p:txBody>
      </p:sp>
      <p:sp>
        <p:nvSpPr>
          <p:cNvPr id="3" name="圆角矩形 2">
            <a:extLst>
              <a:ext uri="{FF2B5EF4-FFF2-40B4-BE49-F238E27FC236}">
                <a16:creationId xmlns:a16="http://schemas.microsoft.com/office/drawing/2014/main" id="{23F5DE56-A390-4328-A83D-9D052773F0E7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896600" cy="819150"/>
          </a:xfrm>
          <a:prstGeom prst="roundRect">
            <a:avLst>
              <a:gd name="adj" fmla="val 9302"/>
            </a:avLst>
          </a:prstGeom>
          <a:solidFill>
            <a:srgbClr val="FFF4EC"/>
          </a:solidFill>
          <a:ln w="9525">
            <a:solidFill>
              <a:srgbClr val="F1C2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CCD060-4D4E-4996-8321-6F9F87B8E656}"/>
              </a:ext>
            </a:extLst>
          </p:cNvPr>
          <p:cNvSpPr>
            <a:spLocks noGrp="1"/>
          </p:cNvSpPr>
          <p:nvPr/>
        </p:nvSpPr>
        <p:spPr>
          <a:xfrm>
            <a:off x="819150" y="11620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 i="0">
                <a:solidFill>
                  <a:srgbClr val="C70000"/>
                </a:solidFill>
              </a:defRPr>
            </a:pPr>
            <a:r>
              <a:rPr sz="1350" b="1" i="0">
                <a:solidFill>
                  <a:srgbClr val="C70000"/>
                </a:solidFill>
              </a:rPr>
              <a:t>当前边界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CE9D6D-0895-45B8-BB9F-62FD1CC5F01B}"/>
              </a:ext>
            </a:extLst>
          </p:cNvPr>
          <p:cNvSpPr>
            <a:spLocks noGrp="1"/>
          </p:cNvSpPr>
          <p:nvPr/>
        </p:nvSpPr>
        <p:spPr>
          <a:xfrm>
            <a:off x="2038350" y="1133475"/>
            <a:ext cx="9182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vLLM 版本精确绑定 · Model Runner v1 · Decode-only Graph · DBO 固定 2 uBatch · 硬件门控 E2E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222423-D378-41BD-BF69-70FD5E0066CB}"/>
              </a:ext>
            </a:extLst>
          </p:cNvPr>
          <p:cNvSpPr>
            <a:spLocks noGrp="1"/>
          </p:cNvSpPr>
          <p:nvPr/>
        </p:nvSpPr>
        <p:spPr>
          <a:xfrm>
            <a:off x="819150" y="1466850"/>
            <a:ext cx="1040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社区发布前置：推进 PR #263 评审与站点构建，并确认 vllm-project/afd-plugin、README、Recipe 和 Issues 入口可公开访问。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F2A78E4-ECC4-464B-9703-6B79C47B2865}"/>
              </a:ext>
            </a:extLst>
          </p:cNvPr>
          <p:cNvSpPr>
            <a:spLocks noGrp="1"/>
          </p:cNvSpPr>
          <p:nvPr/>
        </p:nvSpPr>
        <p:spPr>
          <a:xfrm>
            <a:off x="1409700" y="2314575"/>
            <a:ext cx="8610600" cy="38100"/>
          </a:xfrm>
          <a:prstGeom prst="rect">
            <a:avLst/>
          </a:prstGeom>
          <a:solidFill>
            <a:srgbClr val="D9E0E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CC6854B-FB42-4144-B92C-45DDB9267490}"/>
              </a:ext>
            </a:extLst>
          </p:cNvPr>
          <p:cNvSpPr>
            <a:spLocks noGrp="1"/>
          </p:cNvSpPr>
          <p:nvPr/>
        </p:nvSpPr>
        <p:spPr>
          <a:xfrm>
            <a:off x="1152525" y="2085975"/>
            <a:ext cx="552450" cy="495300"/>
          </a:xfrm>
          <a:prstGeom prst="roundRect">
            <a:avLst>
              <a:gd name="adj" fmla="val 50000"/>
            </a:avLst>
          </a:prstGeom>
          <a:solidFill>
            <a:srgbClr val="C70000"/>
          </a:solidFill>
          <a:ln w="9525">
            <a:solidFill>
              <a:srgbClr val="C70000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3316F8E-9752-4497-9708-B39DB4A485F2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 i="0">
                <a:solidFill>
                  <a:srgbClr val="C70000"/>
                </a:solidFill>
              </a:defRPr>
            </a:pPr>
            <a:r>
              <a:rPr sz="1500" b="1" i="0">
                <a:solidFill>
                  <a:srgbClr val="C70000"/>
                </a:solidFill>
              </a:rPr>
              <a:t>社区发布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4ED320-CDF2-4DC1-95E6-F20D51B1F8B7}"/>
              </a:ext>
            </a:extLst>
          </p:cNvPr>
          <p:cNvSpPr>
            <a:spLocks noGrp="1"/>
          </p:cNvSpPr>
          <p:nvPr/>
        </p:nvSpPr>
        <p:spPr>
          <a:xfrm>
            <a:off x="685800" y="3105150"/>
            <a:ext cx="24003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① 合并 PR #263，完成站点 CI 构建与发布</a:t>
            </a:r>
          </a:p>
          <a:p>
            <a:endParaRPr sz="1050"/>
          </a:p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② 确认 canonical repo、README、Recipe 与 Issues 入口可访问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34AAE3AB-4C7A-4B9D-8977-953B2867C809}"/>
              </a:ext>
            </a:extLst>
          </p:cNvPr>
          <p:cNvSpPr>
            <a:spLocks noGrp="1"/>
          </p:cNvSpPr>
          <p:nvPr/>
        </p:nvSpPr>
        <p:spPr>
          <a:xfrm>
            <a:off x="4010025" y="2085975"/>
            <a:ext cx="552450" cy="495300"/>
          </a:xfrm>
          <a:prstGeom prst="roundRect">
            <a:avLst>
              <a:gd name="adj" fmla="val 50000"/>
            </a:avLst>
          </a:prstGeom>
          <a:solidFill>
            <a:srgbClr val="156082"/>
          </a:solidFill>
          <a:ln w="9525">
            <a:solidFill>
              <a:srgbClr val="156082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906C6F-FE27-419C-8A3D-00A6F2D9DD69}"/>
              </a:ext>
            </a:extLst>
          </p:cNvPr>
          <p:cNvSpPr>
            <a:spLocks noGrp="1"/>
          </p:cNvSpPr>
          <p:nvPr/>
        </p:nvSpPr>
        <p:spPr>
          <a:xfrm>
            <a:off x="3086100" y="27241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 i="0">
                <a:solidFill>
                  <a:srgbClr val="156082"/>
                </a:solidFill>
              </a:defRPr>
            </a:pPr>
            <a:r>
              <a:rPr sz="1500" b="1" i="0">
                <a:solidFill>
                  <a:srgbClr val="156082"/>
                </a:solidFill>
              </a:rPr>
              <a:t>兼容与执行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6DD58DB-DF10-4985-8B93-D721D7F1C9B8}"/>
              </a:ext>
            </a:extLst>
          </p:cNvPr>
          <p:cNvSpPr>
            <a:spLocks noGrp="1"/>
          </p:cNvSpPr>
          <p:nvPr/>
        </p:nvSpPr>
        <p:spPr>
          <a:xfrm>
            <a:off x="3086100" y="3105150"/>
            <a:ext cx="24003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① 跟进新版 vLLM，评估 Model Runner v2，收敛兼容 Patch</a:t>
            </a:r>
          </a:p>
          <a:p>
            <a:endParaRPr sz="1050"/>
          </a:p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② 扩展 Graph、uBatch、异步 Stage 与 Rank Topology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904A408E-8D65-43BB-9147-E3FF558FB6F8}"/>
              </a:ext>
            </a:extLst>
          </p:cNvPr>
          <p:cNvSpPr>
            <a:spLocks noGrp="1"/>
          </p:cNvSpPr>
          <p:nvPr/>
        </p:nvSpPr>
        <p:spPr>
          <a:xfrm>
            <a:off x="6867525" y="2085975"/>
            <a:ext cx="552450" cy="495300"/>
          </a:xfrm>
          <a:prstGeom prst="roundRect">
            <a:avLst>
              <a:gd name="adj" fmla="val 50000"/>
            </a:avLst>
          </a:prstGeom>
          <a:solidFill>
            <a:srgbClr val="4F8F13"/>
          </a:solidFill>
          <a:ln w="9525">
            <a:solidFill>
              <a:srgbClr val="4F8F13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41B8B58-25C7-4DAE-A8D9-A59AD9ACB3C4}"/>
              </a:ext>
            </a:extLst>
          </p:cNvPr>
          <p:cNvSpPr>
            <a:spLocks noGrp="1"/>
          </p:cNvSpPr>
          <p:nvPr/>
        </p:nvSpPr>
        <p:spPr>
          <a:xfrm>
            <a:off x="5943600" y="27241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 i="0">
                <a:solidFill>
                  <a:srgbClr val="4F8F13"/>
                </a:solidFill>
              </a:defRPr>
            </a:pPr>
            <a:r>
              <a:rPr sz="1500" b="1" i="0">
                <a:solidFill>
                  <a:srgbClr val="4F8F13"/>
                </a:solidFill>
              </a:rPr>
              <a:t>验证与覆盖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08C2A3D-144F-4039-93E4-854A93FF921E}"/>
              </a:ext>
            </a:extLst>
          </p:cNvPr>
          <p:cNvSpPr>
            <a:spLocks noGrp="1"/>
          </p:cNvSpPr>
          <p:nvPr/>
        </p:nvSpPr>
        <p:spPr>
          <a:xfrm>
            <a:off x="5943600" y="3105150"/>
            <a:ext cx="24003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① 增加 DeepSeek V4 与 Kimi K3 支持，覆盖准确性、TTFT/ITL、吞吐、稳定性与多节点验证</a:t>
            </a:r>
          </a:p>
          <a:p>
            <a:endParaRPr sz="1050"/>
          </a:p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② 扩展 MoE 模型与 Connector，并同步发布 Recipe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1BE987AC-BC42-4567-99BE-2A3423294003}"/>
              </a:ext>
            </a:extLst>
          </p:cNvPr>
          <p:cNvSpPr>
            <a:spLocks noGrp="1"/>
          </p:cNvSpPr>
          <p:nvPr/>
        </p:nvSpPr>
        <p:spPr>
          <a:xfrm>
            <a:off x="9725025" y="2085975"/>
            <a:ext cx="552450" cy="495300"/>
          </a:xfrm>
          <a:prstGeom prst="roundRect">
            <a:avLst>
              <a:gd name="adj" fmla="val 50000"/>
            </a:avLst>
          </a:prstGeom>
          <a:solidFill>
            <a:srgbClr val="7652C9"/>
          </a:solidFill>
          <a:ln w="9525">
            <a:solidFill>
              <a:srgbClr val="7652C9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5B908B0-FBED-4523-95C3-CE41AC60F041}"/>
              </a:ext>
            </a:extLst>
          </p:cNvPr>
          <p:cNvSpPr>
            <a:spLocks noGrp="1"/>
          </p:cNvSpPr>
          <p:nvPr/>
        </p:nvSpPr>
        <p:spPr>
          <a:xfrm>
            <a:off x="8801100" y="27241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 i="0">
                <a:solidFill>
                  <a:srgbClr val="7652C9"/>
                </a:solidFill>
              </a:defRPr>
            </a:pPr>
            <a:r>
              <a:rPr sz="1500" b="1" i="0">
                <a:solidFill>
                  <a:srgbClr val="7652C9"/>
                </a:solidFill>
              </a:rPr>
              <a:t>新场景探索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2095D99-0C15-40EB-872C-B44E36DF4AE3}"/>
              </a:ext>
            </a:extLst>
          </p:cNvPr>
          <p:cNvSpPr>
            <a:spLocks noGrp="1"/>
          </p:cNvSpPr>
          <p:nvPr/>
        </p:nvSpPr>
        <p:spPr>
          <a:xfrm>
            <a:off x="8801100" y="3105150"/>
            <a:ext cx="24003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① 对接 vLLM-Omni 与多模态流水：AR / DiT 等阶段</a:t>
            </a:r>
          </a:p>
          <a:p>
            <a:endParaRPr sz="1050"/>
          </a:p>
          <a:p>
            <a:pPr algn="l">
              <a:buNone/>
              <a:defRPr sz="1050" b="0" i="0">
                <a:solidFill>
                  <a:srgbClr val="555757"/>
                </a:solidFill>
              </a:defRPr>
            </a:pPr>
            <a:r>
              <a:rPr sz="1050" b="0" i="0">
                <a:solidFill>
                  <a:srgbClr val="555757"/>
                </a:solidFill>
              </a:rPr>
              <a:t>② 异构硬件与互联：优化调度、放置与通信计算重叠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17170941-6317-48BE-8FAF-4EBA421BC9F4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10896600" cy="781050"/>
          </a:xfrm>
          <a:prstGeom prst="roundRect">
            <a:avLst>
              <a:gd name="adj" fmla="val 9756"/>
            </a:avLst>
          </a:prstGeom>
          <a:solidFill>
            <a:srgbClr val="C70000"/>
          </a:solidFill>
          <a:ln w="9525">
            <a:solidFill>
              <a:srgbClr val="C7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C9CBA4D-4D6F-4D71-9F51-66F1E344587F}"/>
              </a:ext>
            </a:extLst>
          </p:cNvPr>
          <p:cNvSpPr>
            <a:spLocks noGrp="1"/>
          </p:cNvSpPr>
          <p:nvPr/>
        </p:nvSpPr>
        <p:spPr>
          <a:xfrm>
            <a:off x="933450" y="5353050"/>
            <a:ext cx="10248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目标：让 AFD 从“可运行的外部插件”演进为可复现、可扩展、可与上游协同的 MoE Serving 能力。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27F2315-5677-4BBA-BB98-5509B6DB1E13}"/>
              </a:ext>
            </a:extLst>
          </p:cNvPr>
          <p:cNvSpPr>
            <a:spLocks noGrp="1"/>
          </p:cNvSpPr>
          <p:nvPr/>
        </p:nvSpPr>
        <p:spPr>
          <a:xfrm>
            <a:off x="609600" y="6153150"/>
            <a:ext cx="971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 i="0">
                <a:solidFill>
                  <a:srgbClr val="555757"/>
                </a:solidFill>
              </a:defRPr>
            </a:pPr>
            <a:r>
              <a:rPr sz="825" b="0" i="0">
                <a:solidFill>
                  <a:srgbClr val="555757"/>
                </a:solidFill>
              </a:rPr>
              <a:t>路线图基于 PR #263 的 Current Scope and Roadmap；阶段顺序按社区发布与工程依赖整理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5C691B8-B6B8-4476-AA75-06E16453C072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75" b="0" i="1">
                <a:solidFill>
                  <a:srgbClr val="898989"/>
                </a:solidFill>
              </a:defRPr>
            </a:pPr>
            <a:r>
              <a:rPr sz="675" b="0" i="1">
                <a:solidFill>
                  <a:srgbClr val="898989"/>
                </a:solidFill>
              </a:rPr>
              <a:t>来源：github.com/vllm-project/vllm-project.github.io/pull/263（2026-07-23 访问）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A57FBA4-C272-4A3A-B7D6-157340848923}"/>
              </a:ext>
            </a:extLst>
          </p:cNvPr>
          <p:cNvSpPr>
            <a:spLocks noGrp="1"/>
          </p:cNvSpPr>
          <p:nvPr/>
        </p:nvSpPr>
        <p:spPr>
          <a:xfrm>
            <a:off x="11315700" y="64198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 i="0">
                <a:solidFill>
                  <a:srgbClr val="898989"/>
                </a:solidFill>
              </a:defRPr>
            </a:pPr>
            <a:r>
              <a:rPr sz="825" b="0" i="0">
                <a:solidFill>
                  <a:srgbClr val="898989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43122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2E1E0EA-B891-4BD7-92BD-8EFD78134163}"/>
              </a:ext>
            </a:extLst>
          </p:cNvPr>
          <p:cNvSpPr>
            <a:spLocks noGrp="1"/>
          </p:cNvSpPr>
          <p:nvPr/>
        </p:nvSpPr>
        <p:spPr>
          <a:xfrm>
            <a:off x="713232" y="408051"/>
            <a:ext cx="10744200" cy="4457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AFD Plugin Community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2E7D70-F677-4773-A765-79769700966D}"/>
              </a:ext>
            </a:extLst>
          </p:cNvPr>
          <p:cNvSpPr>
            <a:spLocks noGrp="1"/>
          </p:cNvSpPr>
          <p:nvPr/>
        </p:nvSpPr>
        <p:spPr>
          <a:xfrm>
            <a:off x="612648" y="914400"/>
            <a:ext cx="1444752" cy="228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867D17-E04B-41C8-AE0D-F4CF75FB0954}"/>
              </a:ext>
            </a:extLst>
          </p:cNvPr>
          <p:cNvSpPr>
            <a:spLocks noGrp="1"/>
          </p:cNvSpPr>
          <p:nvPr/>
        </p:nvSpPr>
        <p:spPr>
          <a:xfrm>
            <a:off x="713232" y="1481328"/>
            <a:ext cx="340156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3766DB-A7F8-45F3-A588-A88AFD2F4504}"/>
              </a:ext>
            </a:extLst>
          </p:cNvPr>
          <p:cNvSpPr>
            <a:spLocks noGrp="1"/>
          </p:cNvSpPr>
          <p:nvPr/>
        </p:nvSpPr>
        <p:spPr>
          <a:xfrm>
            <a:off x="713232" y="1481328"/>
            <a:ext cx="3401568" cy="50292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06EE29-E1B6-40A5-B16D-C2CED81143D0}"/>
              </a:ext>
            </a:extLst>
          </p:cNvPr>
          <p:cNvSpPr>
            <a:spLocks noGrp="1"/>
          </p:cNvSpPr>
          <p:nvPr/>
        </p:nvSpPr>
        <p:spPr>
          <a:xfrm>
            <a:off x="914400" y="1691640"/>
            <a:ext cx="420624" cy="274320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E92A26-E6B5-428D-BDFB-9C902948CFFB}"/>
              </a:ext>
            </a:extLst>
          </p:cNvPr>
          <p:cNvSpPr>
            <a:spLocks noGrp="1"/>
          </p:cNvSpPr>
          <p:nvPr/>
        </p:nvSpPr>
        <p:spPr>
          <a:xfrm>
            <a:off x="1444752" y="1636776"/>
            <a:ext cx="24597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8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项目首页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DFD272-570C-4D53-8886-BA04FEB96B71}"/>
              </a:ext>
            </a:extLst>
          </p:cNvPr>
          <p:cNvSpPr>
            <a:spLocks noGrp="1"/>
          </p:cNvSpPr>
          <p:nvPr/>
        </p:nvSpPr>
        <p:spPr>
          <a:xfrm>
            <a:off x="1444752" y="1920240"/>
            <a:ext cx="245973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50" b="0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Code · Docs · Issues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70CB6CA-2CAE-43FC-966D-587C90D21CAE}"/>
              </a:ext>
            </a:extLst>
          </p:cNvPr>
          <p:cNvSpPr>
            <a:spLocks noGrp="1"/>
          </p:cNvSpPr>
          <p:nvPr/>
        </p:nvSpPr>
        <p:spPr>
          <a:xfrm>
            <a:off x="1307592" y="2304288"/>
            <a:ext cx="2212848" cy="2212848"/>
          </a:xfrm>
          <a:prstGeom prst="rect">
            <a:avLst/>
          </a:prstGeom>
          <a:solidFill>
            <a:srgbClr val="F7F7F7"/>
          </a:solidFill>
          <a:ln w="889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47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395728"/>
            <a:ext cx="2029968" cy="202996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25BFB2B-AFB3-41B8-9337-58FBA885161F}"/>
              </a:ext>
            </a:extLst>
          </p:cNvPr>
          <p:cNvSpPr>
            <a:spLocks noGrp="1"/>
          </p:cNvSpPr>
          <p:nvPr/>
        </p:nvSpPr>
        <p:spPr>
          <a:xfrm>
            <a:off x="941832" y="4645152"/>
            <a:ext cx="2944368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1020" b="1">
                <a:solidFill>
                  <a:srgbClr val="24292E"/>
                </a:solidFill>
                <a:latin typeface="Arial"/>
                <a:ea typeface="Arial"/>
                <a:cs typeface="Arial"/>
                <a:hlinkClick r:id="rId4"/>
              </a:rPr>
              <a:t>github.com/vllm-project/
afd-plugin</a:t>
            </a:r>
            <a:endParaRPr sz="1020" b="1">
              <a:solidFill>
                <a:srgbClr val="24292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5E8423-A366-4BDD-A5A5-8A9100268918}"/>
              </a:ext>
            </a:extLst>
          </p:cNvPr>
          <p:cNvSpPr>
            <a:spLocks noGrp="1"/>
          </p:cNvSpPr>
          <p:nvPr/>
        </p:nvSpPr>
        <p:spPr>
          <a:xfrm>
            <a:off x="1024128" y="5157216"/>
            <a:ext cx="277977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1030" b="0">
                <a:solidFill>
                  <a:srgbClr val="555757"/>
                </a:solidFill>
                <a:latin typeface="微软雅黑"/>
                <a:ea typeface="微软雅黑"/>
                <a:cs typeface="微软雅黑"/>
              </a:rPr>
              <a:t>查看代码、架构文档与最新进展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D17A0D-2CCB-4F83-85B0-7E89A83330FC}"/>
              </a:ext>
            </a:extLst>
          </p:cNvPr>
          <p:cNvSpPr>
            <a:spLocks noGrp="1"/>
          </p:cNvSpPr>
          <p:nvPr/>
        </p:nvSpPr>
        <p:spPr>
          <a:xfrm>
            <a:off x="4398264" y="1481328"/>
            <a:ext cx="340156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86AF4-E13A-46D2-B70B-DD1B685A67E4}"/>
              </a:ext>
            </a:extLst>
          </p:cNvPr>
          <p:cNvSpPr>
            <a:spLocks noGrp="1"/>
          </p:cNvSpPr>
          <p:nvPr/>
        </p:nvSpPr>
        <p:spPr>
          <a:xfrm>
            <a:off x="4398264" y="1481328"/>
            <a:ext cx="3401568" cy="50292"/>
          </a:xfrm>
          <a:prstGeom prst="rect">
            <a:avLst/>
          </a:prstGeom>
          <a:solidFill>
            <a:srgbClr val="C40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9EFBE1-A640-44CC-A73E-70C71A0E999D}"/>
              </a:ext>
            </a:extLst>
          </p:cNvPr>
          <p:cNvSpPr>
            <a:spLocks noGrp="1"/>
          </p:cNvSpPr>
          <p:nvPr/>
        </p:nvSpPr>
        <p:spPr>
          <a:xfrm>
            <a:off x="4599431" y="1691640"/>
            <a:ext cx="420624" cy="274320"/>
          </a:xfrm>
          <a:prstGeom prst="rect">
            <a:avLst/>
          </a:prstGeom>
          <a:solidFill>
            <a:srgbClr val="C40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27DF27-B45F-4EF9-BA50-AD79F4ED891D}"/>
              </a:ext>
            </a:extLst>
          </p:cNvPr>
          <p:cNvSpPr>
            <a:spLocks noGrp="1"/>
          </p:cNvSpPr>
          <p:nvPr/>
        </p:nvSpPr>
        <p:spPr>
          <a:xfrm>
            <a:off x="5129783" y="1636776"/>
            <a:ext cx="24597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8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Developer Slack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7F0C92-7124-4E71-B67F-E169DB414890}"/>
              </a:ext>
            </a:extLst>
          </p:cNvPr>
          <p:cNvSpPr>
            <a:spLocks noGrp="1"/>
          </p:cNvSpPr>
          <p:nvPr/>
        </p:nvSpPr>
        <p:spPr>
          <a:xfrm>
            <a:off x="5129783" y="1920240"/>
            <a:ext cx="245973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50" b="0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Discussion · Collaboration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8A8EDE-A6BA-4162-B028-5EBC803D5899}"/>
              </a:ext>
            </a:extLst>
          </p:cNvPr>
          <p:cNvSpPr>
            <a:spLocks noGrp="1"/>
          </p:cNvSpPr>
          <p:nvPr/>
        </p:nvSpPr>
        <p:spPr>
          <a:xfrm>
            <a:off x="4992624" y="2304288"/>
            <a:ext cx="2212848" cy="2212848"/>
          </a:xfrm>
          <a:prstGeom prst="rect">
            <a:avLst/>
          </a:prstGeom>
          <a:solidFill>
            <a:srgbClr val="F7F7F7"/>
          </a:solidFill>
          <a:ln w="889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56" name="Pictur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4064" y="2395728"/>
            <a:ext cx="2029968" cy="20299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E6CF261-099D-4DE7-A2A9-D1FC597741A3}"/>
              </a:ext>
            </a:extLst>
          </p:cNvPr>
          <p:cNvSpPr>
            <a:spLocks noGrp="1"/>
          </p:cNvSpPr>
          <p:nvPr/>
        </p:nvSpPr>
        <p:spPr>
          <a:xfrm>
            <a:off x="4626864" y="4645152"/>
            <a:ext cx="2944368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1020" b="1">
                <a:solidFill>
                  <a:srgbClr val="C40054"/>
                </a:solidFill>
                <a:latin typeface="Arial"/>
                <a:ea typeface="Arial"/>
                <a:cs typeface="Arial"/>
                <a:hlinkClick r:id="rId6"/>
              </a:rPr>
              <a:t>vllm-dev.slack.com/archives/
C0B4C1D84GG</a:t>
            </a:r>
            <a:endParaRPr sz="1020" b="1">
              <a:solidFill>
                <a:srgbClr val="C4005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127ABB-2630-4995-9824-1B29D2B4AA7C}"/>
              </a:ext>
            </a:extLst>
          </p:cNvPr>
          <p:cNvSpPr>
            <a:spLocks noGrp="1"/>
          </p:cNvSpPr>
          <p:nvPr/>
        </p:nvSpPr>
        <p:spPr>
          <a:xfrm>
            <a:off x="4709159" y="5157216"/>
            <a:ext cx="277977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1030" b="0">
                <a:solidFill>
                  <a:srgbClr val="555757"/>
                </a:solidFill>
                <a:latin typeface="微软雅黑"/>
                <a:ea typeface="微软雅黑"/>
                <a:cs typeface="微软雅黑"/>
              </a:rPr>
              <a:t>加入 vLLM Developer Slack 后访问频道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4B239D-000E-49C2-B23B-95FD53034BED}"/>
              </a:ext>
            </a:extLst>
          </p:cNvPr>
          <p:cNvSpPr>
            <a:spLocks noGrp="1"/>
          </p:cNvSpPr>
          <p:nvPr/>
        </p:nvSpPr>
        <p:spPr>
          <a:xfrm>
            <a:off x="8083296" y="1481328"/>
            <a:ext cx="340156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7CE834-BC40-42C7-8E2E-FD447B134F8C}"/>
              </a:ext>
            </a:extLst>
          </p:cNvPr>
          <p:cNvSpPr>
            <a:spLocks noGrp="1"/>
          </p:cNvSpPr>
          <p:nvPr/>
        </p:nvSpPr>
        <p:spPr>
          <a:xfrm>
            <a:off x="8083296" y="1481328"/>
            <a:ext cx="3401568" cy="50292"/>
          </a:xfrm>
          <a:prstGeom prst="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43346B-E249-4F5F-812E-B647784EFD26}"/>
              </a:ext>
            </a:extLst>
          </p:cNvPr>
          <p:cNvSpPr>
            <a:spLocks noGrp="1"/>
          </p:cNvSpPr>
          <p:nvPr/>
        </p:nvSpPr>
        <p:spPr>
          <a:xfrm>
            <a:off x="8284464" y="1691640"/>
            <a:ext cx="420624" cy="274320"/>
          </a:xfrm>
          <a:prstGeom prst="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B3AFC6-9DFB-4131-92E8-7CF21DDC36AB}"/>
              </a:ext>
            </a:extLst>
          </p:cNvPr>
          <p:cNvSpPr>
            <a:spLocks noGrp="1"/>
          </p:cNvSpPr>
          <p:nvPr/>
        </p:nvSpPr>
        <p:spPr>
          <a:xfrm>
            <a:off x="8814816" y="1636776"/>
            <a:ext cx="24597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8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WeChat 社群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DED873-3B05-4A18-AEC5-86122EFB2BAC}"/>
              </a:ext>
            </a:extLst>
          </p:cNvPr>
          <p:cNvSpPr>
            <a:spLocks noGrp="1"/>
          </p:cNvSpPr>
          <p:nvPr/>
        </p:nvSpPr>
        <p:spPr>
          <a:xfrm>
            <a:off x="8814816" y="1920240"/>
            <a:ext cx="245973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50" b="0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Chinese Developer Community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68C1F69-7D9F-417A-838C-8419406DD315}"/>
              </a:ext>
            </a:extLst>
          </p:cNvPr>
          <p:cNvSpPr>
            <a:spLocks noGrp="1"/>
          </p:cNvSpPr>
          <p:nvPr/>
        </p:nvSpPr>
        <p:spPr>
          <a:xfrm>
            <a:off x="8677656" y="2304288"/>
            <a:ext cx="2212848" cy="2212848"/>
          </a:xfrm>
          <a:prstGeom prst="rect">
            <a:avLst/>
          </a:prstGeom>
          <a:solidFill>
            <a:srgbClr val="F7F7F7"/>
          </a:solidFill>
          <a:ln w="889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65" name="Picture 2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9096" y="2395728"/>
            <a:ext cx="2029968" cy="2029968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78C1DE00-1D2D-40B4-B88F-685F198D2F1E}"/>
              </a:ext>
            </a:extLst>
          </p:cNvPr>
          <p:cNvSpPr>
            <a:spLocks noGrp="1"/>
          </p:cNvSpPr>
          <p:nvPr/>
        </p:nvSpPr>
        <p:spPr>
          <a:xfrm>
            <a:off x="8311896" y="4645152"/>
            <a:ext cx="2944368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1020" b="1">
                <a:solidFill>
                  <a:srgbClr val="2DA44E"/>
                </a:solidFill>
                <a:latin typeface="微软雅黑"/>
                <a:ea typeface="微软雅黑"/>
                <a:cs typeface="微软雅黑"/>
              </a:rPr>
              <a:t>afd-plugin 开发者交流群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41DB92-DCB4-4274-94F6-26753BBAD29B}"/>
              </a:ext>
            </a:extLst>
          </p:cNvPr>
          <p:cNvSpPr>
            <a:spLocks noGrp="1"/>
          </p:cNvSpPr>
          <p:nvPr/>
        </p:nvSpPr>
        <p:spPr>
          <a:xfrm>
            <a:off x="8394192" y="5157216"/>
            <a:ext cx="277977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buNone/>
            </a:pPr>
            <a:r>
              <a:rPr sz="1030" b="0">
                <a:solidFill>
                  <a:srgbClr val="555757"/>
                </a:solidFill>
                <a:latin typeface="微软雅黑"/>
                <a:ea typeface="微软雅黑"/>
                <a:cs typeface="微软雅黑"/>
              </a:rPr>
              <a:t>二维码取自项目仓库，请以最新版本为准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B65995-8E9D-4413-95AC-256D073CED96}"/>
              </a:ext>
            </a:extLst>
          </p:cNvPr>
          <p:cNvSpPr>
            <a:spLocks noGrp="1"/>
          </p:cNvSpPr>
          <p:nvPr/>
        </p:nvSpPr>
        <p:spPr>
          <a:xfrm>
            <a:off x="11384280" y="655624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850" b="0">
                <a:solidFill>
                  <a:srgbClr val="89898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416983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5515A431-100B-4916-B306-12E7D7996690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1">
                <a:solidFill>
                  <a:srgbClr val="898989"/>
                </a:solidFill>
              </a:defRPr>
            </a:pPr>
            <a:r>
              <a:rPr sz="825" b="1">
                <a:solidFill>
                  <a:srgbClr val="898989"/>
                </a:solidFill>
              </a:rPr>
              <a:t>COMMUNITY UPDATE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324FBE-E2FA-46A4-8730-266CD5F163A4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C00000"/>
                </a:solidFill>
              </a:defRPr>
            </a:pPr>
            <a:r>
              <a:rPr sz="2250" b="1">
                <a:solidFill>
                  <a:srgbClr val="C00000"/>
                </a:solidFill>
              </a:rPr>
              <a:t>社区进展：底座升级完成，模型与工程体系同步推进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1EDDC2F-84C3-4DEC-BBEE-AF8B8C579083}"/>
              </a:ext>
            </a:extLst>
          </p:cNvPr>
          <p:cNvSpPr>
            <a:spLocks noGrp="1"/>
          </p:cNvSpPr>
          <p:nvPr/>
        </p:nvSpPr>
        <p:spPr>
          <a:xfrm>
            <a:off x="11315700" y="64198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898989"/>
                </a:solidFill>
              </a:defRPr>
            </a:pPr>
            <a:r>
              <a:rPr sz="825" b="0">
                <a:solidFill>
                  <a:srgbClr val="898989"/>
                </a:solidFill>
              </a:rPr>
              <a:t>14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4532802-3DB7-43A2-B035-C5AA4FA378D1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</a:defRPr>
            </a:pPr>
            <a:r>
              <a:rPr sz="1125" b="1">
                <a:solidFill>
                  <a:srgbClr val="1B1D21"/>
                </a:solidFill>
              </a:rPr>
              <a:t>模型适配｜Qwen3 与 DeepSeek V4 进入实现评审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34A4311-C49C-45F0-A1C4-124FA2C0F3A1}"/>
              </a:ext>
            </a:extLst>
          </p:cNvPr>
          <p:cNvSpPr>
            <a:spLocks noGrp="1"/>
          </p:cNvSpPr>
          <p:nvPr/>
        </p:nvSpPr>
        <p:spPr>
          <a:xfrm>
            <a:off x="3143250" y="1257300"/>
            <a:ext cx="8477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65" b="0">
                <a:solidFill>
                  <a:srgbClr val="555757"/>
                </a:solidFill>
              </a:defRPr>
            </a:pPr>
            <a:r>
              <a:rPr sz="865" b="0">
                <a:solidFill>
                  <a:srgbClr val="555757"/>
                </a:solidFill>
              </a:rPr>
              <a:t>• Qwen3 MoE GPU：PR #216 开放，已提交 30B / 235B GPU 验证证据；Qwen3.5 / 3.6 由 #179 与 PR #181 推进。</a:t>
            </a:r>
            <a:br/>
            <a:r>
              <a:rPr sz="865" b="0">
                <a:solidFill>
                  <a:srgbClr val="555757"/>
                </a:solidFill>
              </a:rPr>
              <a:t>• DeepSeek V4：GPU PR #191 开放；NPU 拆分为 CAMAsync #227 与 CAMP2p #228，仍待实现与硬件验收。</a:t>
            </a:r>
            <a:br/>
            <a:endParaRPr sz="865" b="0">
              <a:solidFill>
                <a:srgbClr val="555757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8161CB-95C6-43AE-A16F-33B348F52A1C}"/>
              </a:ext>
            </a:extLst>
          </p:cNvPr>
          <p:cNvSpPr>
            <a:spLocks noGrp="1"/>
          </p:cNvSpPr>
          <p:nvPr/>
        </p:nvSpPr>
        <p:spPr>
          <a:xfrm>
            <a:off x="609600" y="2152650"/>
            <a:ext cx="11010900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A91808C-896B-442F-A101-6DDBF13219DF}"/>
              </a:ext>
            </a:extLst>
          </p:cNvPr>
          <p:cNvSpPr>
            <a:spLocks noGrp="1"/>
          </p:cNvSpPr>
          <p:nvPr/>
        </p:nvSpPr>
        <p:spPr>
          <a:xfrm>
            <a:off x="609600" y="24193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</a:defRPr>
            </a:pPr>
            <a:r>
              <a:rPr sz="1125" b="1">
                <a:solidFill>
                  <a:srgbClr val="1B1D21"/>
                </a:solidFill>
              </a:rPr>
              <a:t>运行时升级｜GPU / NPU 已切换至 vLLM 0.26.0 基线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EC408BC-855A-4072-824D-7A942EBBE7D4}"/>
              </a:ext>
            </a:extLst>
          </p:cNvPr>
          <p:cNvSpPr>
            <a:spLocks noGrp="1"/>
          </p:cNvSpPr>
          <p:nvPr/>
        </p:nvSpPr>
        <p:spPr>
          <a:xfrm>
            <a:off x="3143250" y="2381250"/>
            <a:ext cx="8477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65" b="0">
                <a:solidFill>
                  <a:srgbClr val="555757"/>
                </a:solidFill>
              </a:defRPr>
            </a:pPr>
            <a:r>
              <a:rPr sz="865" b="0">
                <a:solidFill>
                  <a:srgbClr val="555757"/>
                </a:solidFill>
              </a:rPr>
              <a:t>• PR #186 已合并，GPU #167 与 NPU #168 已关闭；后续模型适配统一以精确 vLLM 0.26.0 为基线。</a:t>
            </a:r>
            <a:br/>
            <a:r>
              <a:rPr sz="865" b="0">
                <a:solidFill>
                  <a:srgbClr val="555757"/>
                </a:solidFill>
              </a:rPr>
              <a:t>• NPU 支持仍要求锁定 vLLM-Ascend、镜像及 CANN / torch-npu 等完整软件栈，不从 GPU 结果推导。</a:t>
            </a:r>
            <a:br/>
            <a:br/>
            <a:endParaRPr sz="865" b="0">
              <a:solidFill>
                <a:srgbClr val="555757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F6A333D-64B5-401F-B1DB-5C1456F84188}"/>
              </a:ext>
            </a:extLst>
          </p:cNvPr>
          <p:cNvSpPr>
            <a:spLocks noGrp="1"/>
          </p:cNvSpPr>
          <p:nvPr/>
        </p:nvSpPr>
        <p:spPr>
          <a:xfrm>
            <a:off x="609600" y="3276600"/>
            <a:ext cx="11010900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360504-727B-42CB-8883-9C2C883F38F7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</a:defRPr>
            </a:pPr>
            <a:r>
              <a:rPr sz="1125" b="1">
                <a:solidFill>
                  <a:srgbClr val="1B1D21"/>
                </a:solidFill>
              </a:rPr>
              <a:t>CI 与 E2E｜统一场景、准确性门槛与清理检查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BE87757-2604-4533-A9D9-14C29D2E9647}"/>
              </a:ext>
            </a:extLst>
          </p:cNvPr>
          <p:cNvSpPr>
            <a:spLocks noGrp="1"/>
          </p:cNvSpPr>
          <p:nvPr/>
        </p:nvSpPr>
        <p:spPr>
          <a:xfrm>
            <a:off x="3143250" y="3505200"/>
            <a:ext cx="8477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65" b="0">
                <a:solidFill>
                  <a:srgbClr val="555757"/>
                </a:solidFill>
              </a:defRPr>
            </a:pPr>
            <a:r>
              <a:rPr sz="865" b="0">
                <a:solidFill>
                  <a:srgbClr val="555757"/>
                </a:solidFill>
              </a:rPr>
              <a:t>• E2E 重构 PR #222 聚焦 baseline-graph、AFD eager、AFD graph、AFD graph + DBO 四个固定场景。</a:t>
            </a:r>
            <a:br/>
            <a:r>
              <a:rPr sz="865" b="0">
                <a:solidFill>
                  <a:srgbClr val="555757"/>
                </a:solidFill>
              </a:rPr>
              <a:t>• PR 门禁采用 GSM8K-7，周度运行完整 GSM8K；GPU / NPU 共用配置并强化失败判定、进程与设备资源清理。</a:t>
            </a:r>
            <a:br/>
            <a:br/>
            <a:endParaRPr sz="865" b="0">
              <a:solidFill>
                <a:srgbClr val="555757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5269BC7-6952-4BD7-94AD-F0DBF08D2379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11010900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54AAFF5-C06B-4F85-AC0E-A5F79317C226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1B1D21"/>
                </a:solidFill>
              </a:defRPr>
            </a:pPr>
            <a:r>
              <a:rPr sz="1125" b="1">
                <a:solidFill>
                  <a:srgbClr val="1B1D21"/>
                </a:solidFill>
              </a:rPr>
              <a:t>工程 Skills｜模型适配完成，版本升级流程建设中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8E6F01F-5424-4C49-B2A0-4D4C1CBEB26D}"/>
              </a:ext>
            </a:extLst>
          </p:cNvPr>
          <p:cNvSpPr>
            <a:spLocks noGrp="1"/>
          </p:cNvSpPr>
          <p:nvPr/>
        </p:nvSpPr>
        <p:spPr>
          <a:xfrm>
            <a:off x="3143250" y="4629150"/>
            <a:ext cx="8477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65" b="0">
                <a:solidFill>
                  <a:srgbClr val="555757"/>
                </a:solidFill>
              </a:defRPr>
            </a:pPr>
            <a:r>
              <a:rPr sz="865" b="0">
                <a:solidFill>
                  <a:srgbClr val="555757"/>
                </a:solidFill>
              </a:rPr>
              <a:t>• 模型适配 Skill：PR #205 已合并，覆盖可行性、最小实现、GPU / NPU 独立验证和证据报告。</a:t>
            </a:r>
            <a:br/>
            <a:r>
              <a:rPr sz="865" b="0">
                <a:solidFill>
                  <a:srgbClr val="555757"/>
                </a:solidFill>
              </a:rPr>
              <a:t>• GPU 升级 Skill #224 与 NPU 升级 Skill #202 进行中，目标是固化版本审计、Patch 处置和 E2E 交接流程。</a:t>
            </a:r>
            <a:br/>
            <a:endParaRPr sz="865" b="0">
              <a:solidFill>
                <a:srgbClr val="555757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1C577FD-BE37-48A4-8347-CBC76B607FA2}"/>
              </a:ext>
            </a:extLst>
          </p:cNvPr>
          <p:cNvSpPr>
            <a:spLocks noGrp="1"/>
          </p:cNvSpPr>
          <p:nvPr/>
        </p:nvSpPr>
        <p:spPr>
          <a:xfrm>
            <a:off x="609600" y="6153150"/>
            <a:ext cx="971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55757"/>
                </a:solidFill>
              </a:defRPr>
            </a:pPr>
            <a:r>
              <a:rPr sz="825" b="0">
                <a:solidFill>
                  <a:srgbClr val="555757"/>
                </a:solidFill>
              </a:rPr>
              <a:t>状态口径：仅合并事项标为完成；Open PR / Issue 不等于正式支持或生产就绪。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CF0B159-5F76-4E0D-ACFB-1D328D3DB75B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75" b="0" i="1">
                <a:solidFill>
                  <a:srgbClr val="898989"/>
                </a:solidFill>
              </a:defRPr>
            </a:pPr>
            <a:r>
              <a:rPr sz="675" b="0" i="1">
                <a:solidFill>
                  <a:srgbClr val="898989"/>
                </a:solidFill>
              </a:rPr>
              <a:t>来源：vllm-project/afd-plugin #167 #168 #179 #186 #191 #202 #205 #216 #222 #224 #227 #228（2026-08-12）</a:t>
            </a:r>
          </a:p>
        </p:txBody>
      </p:sp>
    </p:spTree>
    <p:extLst>
      <p:ext uri="{BB962C8B-B14F-4D97-AF65-F5344CB8AC3E}">
        <p14:creationId xmlns:p14="http://schemas.microsoft.com/office/powerpoint/2010/main" val="1569646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ection-16">
            <a:extLst>
              <a:ext uri="{FF2B5EF4-FFF2-40B4-BE49-F238E27FC236}">
                <a16:creationId xmlns:a16="http://schemas.microsoft.com/office/drawing/2014/main" id="{DA31E253-A51D-4B2E-9985-962E68FA11D7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ASYNC PREFILL DATASET</a:t>
            </a:r>
          </a:p>
        </p:txBody>
      </p:sp>
      <p:sp>
        <p:nvSpPr>
          <p:cNvPr id="2" name="title-16">
            <a:extLst>
              <a:ext uri="{FF2B5EF4-FFF2-40B4-BE49-F238E27FC236}">
                <a16:creationId xmlns:a16="http://schemas.microsoft.com/office/drawing/2014/main" id="{858BD78B-0930-49D5-B84F-8EF17F755CF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压测数据集的输入长度分布</a:t>
            </a:r>
          </a:p>
        </p:txBody>
      </p:sp>
      <p:sp>
        <p:nvSpPr>
          <p:cNvPr id="3" name="title-rule-16">
            <a:extLst>
              <a:ext uri="{FF2B5EF4-FFF2-40B4-BE49-F238E27FC236}">
                <a16:creationId xmlns:a16="http://schemas.microsoft.com/office/drawing/2014/main" id="{42F69DA8-6EB7-49E8-88CB-21A58787FBA2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4" name="metadata-bg-16">
            <a:extLst>
              <a:ext uri="{FF2B5EF4-FFF2-40B4-BE49-F238E27FC236}">
                <a16:creationId xmlns:a16="http://schemas.microsoft.com/office/drawing/2014/main" id="{91BF09F0-ED18-46B2-88BC-E43E26AA5E43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972800" cy="40005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model-16">
            <a:extLst>
              <a:ext uri="{FF2B5EF4-FFF2-40B4-BE49-F238E27FC236}">
                <a16:creationId xmlns:a16="http://schemas.microsoft.com/office/drawing/2014/main" id="{7ECFF061-DC67-44DE-8ADE-B3FACB4750F7}"/>
              </a:ext>
            </a:extLst>
          </p:cNvPr>
          <p:cNvSpPr>
            <a:spLocks noGrp="1"/>
          </p:cNvSpPr>
          <p:nvPr/>
        </p:nvSpPr>
        <p:spPr>
          <a:xfrm>
            <a:off x="800100" y="10953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模型：dsv4-flash</a:t>
            </a:r>
          </a:p>
        </p:txBody>
      </p:sp>
      <p:sp>
        <p:nvSpPr>
          <p:cNvPr id="6" name="dataset-16">
            <a:extLst>
              <a:ext uri="{FF2B5EF4-FFF2-40B4-BE49-F238E27FC236}">
                <a16:creationId xmlns:a16="http://schemas.microsoft.com/office/drawing/2014/main" id="{D1EBB5AB-211B-4FB8-9B34-0EDD1E6F99AE}"/>
              </a:ext>
            </a:extLst>
          </p:cNvPr>
          <p:cNvSpPr>
            <a:spLocks noGrp="1"/>
          </p:cNvSpPr>
          <p:nvPr/>
        </p:nvSpPr>
        <p:spPr>
          <a:xfrm>
            <a:off x="3048000" y="109537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4F8A1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4F8A10"/>
                </a:solidFill>
                <a:latin typeface="微软雅黑"/>
                <a:ea typeface="微软雅黑"/>
                <a:cs typeface="微软雅黑"/>
              </a:rPr>
              <a:t>数据集：Mooncake trace-derived WildChat workload</a:t>
            </a:r>
          </a:p>
        </p:txBody>
      </p:sp>
      <p:sp>
        <p:nvSpPr>
          <p:cNvPr id="7" name="requests-16">
            <a:extLst>
              <a:ext uri="{FF2B5EF4-FFF2-40B4-BE49-F238E27FC236}">
                <a16:creationId xmlns:a16="http://schemas.microsoft.com/office/drawing/2014/main" id="{B759F4D5-092B-42DE-8175-BE7D8D3797A7}"/>
              </a:ext>
            </a:extLst>
          </p:cNvPr>
          <p:cNvSpPr>
            <a:spLocks noGrp="1"/>
          </p:cNvSpPr>
          <p:nvPr/>
        </p:nvSpPr>
        <p:spPr>
          <a:xfrm>
            <a:off x="9334500" y="1095375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rPr>
              <a:t>正式请求：1,536</a:t>
            </a:r>
          </a:p>
        </p:txBody>
      </p:sp>
      <p:sp>
        <p:nvSpPr>
          <p:cNvPr id="8" name="chart-heading-16">
            <a:extLst>
              <a:ext uri="{FF2B5EF4-FFF2-40B4-BE49-F238E27FC236}">
                <a16:creationId xmlns:a16="http://schemas.microsoft.com/office/drawing/2014/main" id="{00DCA99F-B851-4478-95B4-FF1DDD7DB22F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695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输入 token 长度区间占比</a:t>
            </a:r>
          </a:p>
        </p:txBody>
      </p:sp>
      <p:sp>
        <p:nvSpPr>
          <p:cNvPr id="9" name="table-heading-16">
            <a:extLst>
              <a:ext uri="{FF2B5EF4-FFF2-40B4-BE49-F238E27FC236}">
                <a16:creationId xmlns:a16="http://schemas.microsoft.com/office/drawing/2014/main" id="{46383D16-6774-4D7B-98E0-9F1124545D07}"/>
              </a:ext>
            </a:extLst>
          </p:cNvPr>
          <p:cNvSpPr>
            <a:spLocks noGrp="1"/>
          </p:cNvSpPr>
          <p:nvPr/>
        </p:nvSpPr>
        <p:spPr>
          <a:xfrm>
            <a:off x="8001000" y="1504950"/>
            <a:ext cx="3581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关键统计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="609600" y="1809750"/>
          <a:ext cx="6953250" cy="3524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dataset-table-16"/>
          <p:cNvGraphicFramePr/>
          <p:nvPr/>
        </p:nvGraphicFramePr>
        <p:xfrm>
          <a:off x="8001000" y="1809750"/>
          <a:ext cx="3581400" cy="3524250"/>
        </p:xfrm>
        <a:graphic>
          <a:graphicData uri="http://schemas.openxmlformats.org/drawingml/2006/table">
            <a:tbl>
              <a:tblPr firstRow="1" bandRow="1"/>
              <a:tblGrid>
                <a:gridCol w="1619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统计项</a:t>
                      </a:r>
                    </a:p>
                  </a:txBody>
                  <a:tcPr marL="38100" marR="38100" marT="19050" marB="19050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数值</a:t>
                      </a:r>
                    </a:p>
                  </a:txBody>
                  <a:tcPr marL="38100" marR="38100" marT="19050" marB="19050">
                    <a:solidFill>
                      <a:srgbClr val="222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42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正式请求</a:t>
                      </a:r>
                    </a:p>
                  </a:txBody>
                  <a:tcPr marL="76200" marR="38100" marT="19050" marB="1905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34CA5"/>
                          </a:solidFill>
                          <a:latin typeface="Calibri"/>
                          <a:ea typeface="Calibri"/>
                          <a:cs typeface="Calibri"/>
                        </a:rPr>
                        <a:t>1,536</a:t>
                      </a:r>
                    </a:p>
                  </a:txBody>
                  <a:tcPr marL="38100" marR="38100" marT="19050" marB="190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42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Formal windows</a:t>
                      </a:r>
                    </a:p>
                  </a:txBody>
                  <a:tcPr marL="76200" marR="38100" marT="19050" marB="1905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34CA5"/>
                          </a:solidFill>
                          <a:latin typeface="Calibri"/>
                          <a:ea typeface="Calibri"/>
                          <a:cs typeface="Calibri"/>
                        </a:rPr>
                        <a:t>3 × 512</a:t>
                      </a:r>
                    </a:p>
                  </a:txBody>
                  <a:tcPr marL="38100" marR="38100" marT="19050" marB="190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42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平均输入长度</a:t>
                      </a:r>
                    </a:p>
                  </a:txBody>
                  <a:tcPr marL="76200" marR="38100" marT="19050" marB="1905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34CA5"/>
                          </a:solidFill>
                          <a:latin typeface="Calibri"/>
                          <a:ea typeface="Calibri"/>
                          <a:cs typeface="Calibri"/>
                        </a:rPr>
                        <a:t>10,288 tokens</a:t>
                      </a:r>
                    </a:p>
                  </a:txBody>
                  <a:tcPr marL="38100" marR="38100" marT="19050" marB="190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42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76200" marR="38100" marT="19050" marB="1905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34CA5"/>
                          </a:solidFill>
                          <a:latin typeface="Calibri"/>
                          <a:ea typeface="Calibri"/>
                          <a:cs typeface="Calibri"/>
                        </a:rPr>
                        <a:t>6,369 tokens</a:t>
                      </a:r>
                    </a:p>
                  </a:txBody>
                  <a:tcPr marL="38100" marR="38100" marT="19050" marB="190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42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P75</a:t>
                      </a:r>
                    </a:p>
                  </a:txBody>
                  <a:tcPr marL="76200" marR="38100" marT="19050" marB="1905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34CA5"/>
                          </a:solidFill>
                          <a:latin typeface="Calibri"/>
                          <a:ea typeface="Calibri"/>
                          <a:cs typeface="Calibri"/>
                        </a:rPr>
                        <a:t>14,379 tokens</a:t>
                      </a:r>
                    </a:p>
                  </a:txBody>
                  <a:tcPr marL="38100" marR="38100" marT="19050" marB="190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42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76200" marR="38100" marT="19050" marB="1905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34CA5"/>
                          </a:solidFill>
                          <a:latin typeface="Calibri"/>
                          <a:ea typeface="Calibri"/>
                          <a:cs typeface="Calibri"/>
                        </a:rPr>
                        <a:t>24,794 tokens</a:t>
                      </a:r>
                    </a:p>
                  </a:txBody>
                  <a:tcPr marL="38100" marR="38100" marT="19050" marB="1905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42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76200" marR="38100" marT="19050" marB="1905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34CA5"/>
                          </a:solidFill>
                          <a:latin typeface="Calibri"/>
                          <a:ea typeface="Calibri"/>
                          <a:cs typeface="Calibri"/>
                        </a:rPr>
                        <a:t>32,213 tokens</a:t>
                      </a:r>
                    </a:p>
                  </a:txBody>
                  <a:tcPr marL="38100" marR="38100" marT="19050" marB="1905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42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76200" marR="38100" marT="19050" marB="1905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34CA5"/>
                          </a:solidFill>
                          <a:latin typeface="Calibri"/>
                          <a:ea typeface="Calibri"/>
                          <a:cs typeface="Calibri"/>
                        </a:rPr>
                        <a:t>54,280 tokens</a:t>
                      </a:r>
                    </a:p>
                  </a:txBody>
                  <a:tcPr marL="38100" marR="38100" marT="19050" marB="1905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42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最小 / 最大</a:t>
                      </a:r>
                    </a:p>
                  </a:txBody>
                  <a:tcPr marL="76200" marR="38100" marT="19050" marB="1905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34CA5"/>
                          </a:solidFill>
                          <a:latin typeface="Calibri"/>
                          <a:ea typeface="Calibri"/>
                          <a:cs typeface="Calibri"/>
                        </a:rPr>
                        <a:t>891 / 63,778 tokens</a:t>
                      </a:r>
                    </a:p>
                  </a:txBody>
                  <a:tcPr marL="38100" marR="38100" marT="19050" marB="1905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2" name="conclusion-bg-16">
            <a:extLst>
              <a:ext uri="{FF2B5EF4-FFF2-40B4-BE49-F238E27FC236}">
                <a16:creationId xmlns:a16="http://schemas.microsoft.com/office/drawing/2014/main" id="{2AD8A2D0-20BE-4AB8-B0FF-8A254D4080AD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10972800" cy="457200"/>
          </a:xfrm>
          <a:prstGeom prst="rect">
            <a:avLst/>
          </a:prstGeom>
          <a:solidFill>
            <a:srgbClr val="EDF3FC"/>
          </a:solidFill>
          <a:ln w="12383">
            <a:solidFill>
              <a:srgbClr val="4472C4"/>
            </a:solidFill>
            <a:prstDash val="solid"/>
          </a:ln>
        </p:spPr>
      </p:sp>
      <p:sp>
        <p:nvSpPr>
          <p:cNvPr id="13" name="conclusion-label-16">
            <a:extLst>
              <a:ext uri="{FF2B5EF4-FFF2-40B4-BE49-F238E27FC236}">
                <a16:creationId xmlns:a16="http://schemas.microsoft.com/office/drawing/2014/main" id="{D038599E-0D23-4F63-97BF-00C08A6090F0}"/>
              </a:ext>
            </a:extLst>
          </p:cNvPr>
          <p:cNvSpPr>
            <a:spLocks noGrp="1"/>
          </p:cNvSpPr>
          <p:nvPr/>
        </p:nvSpPr>
        <p:spPr>
          <a:xfrm>
            <a:off x="819150" y="5581650"/>
            <a:ext cx="714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14" name="conclusion-16">
            <a:extLst>
              <a:ext uri="{FF2B5EF4-FFF2-40B4-BE49-F238E27FC236}">
                <a16:creationId xmlns:a16="http://schemas.microsoft.com/office/drawing/2014/main" id="{74F0B4A1-B735-4E24-A7FE-8C892610D223}"/>
              </a:ext>
            </a:extLst>
          </p:cNvPr>
          <p:cNvSpPr>
            <a:spLocks noGrp="1"/>
          </p:cNvSpPr>
          <p:nvPr/>
        </p:nvSpPr>
        <p:spPr>
          <a:xfrm>
            <a:off x="1524000" y="5543550"/>
            <a:ext cx="984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65% 的请求不少于 4K tokens，43% 不少于 8K；P99 为 54.3K，覆盖明显的长输入尾部。</a:t>
            </a:r>
          </a:p>
        </p:txBody>
      </p:sp>
      <p:sp>
        <p:nvSpPr>
          <p:cNvPr id="15" name="settings-16">
            <a:extLst>
              <a:ext uri="{FF2B5EF4-FFF2-40B4-BE49-F238E27FC236}">
                <a16:creationId xmlns:a16="http://schemas.microsoft.com/office/drawing/2014/main" id="{98AACA3E-4561-453D-8800-DA25E9D2436D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构成：3 个 formal window，每组 512 请求；每个请求输出长度固定为 1 token</a:t>
            </a:r>
          </a:p>
        </p:txBody>
      </p:sp>
      <p:sp>
        <p:nvSpPr>
          <p:cNvPr id="16" name="source-16">
            <a:extLst>
              <a:ext uri="{FF2B5EF4-FFF2-40B4-BE49-F238E27FC236}">
                <a16:creationId xmlns:a16="http://schemas.microsoft.com/office/drawing/2014/main" id="{7D8F242E-900A-4404-8A0D-3C6688E34549}"/>
              </a:ext>
            </a:extLst>
          </p:cNvPr>
          <p:cNvSpPr>
            <a:spLocks noGrp="1"/>
          </p:cNvSpPr>
          <p:nvPr/>
        </p:nvSpPr>
        <p:spPr>
          <a:xfrm>
            <a:off x="609600" y="626745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75" b="0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675" b="0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来源：formal_0_1_2_vllm_bench.jsonl；输入长度与 Mooncake 参考序列一致</a:t>
            </a:r>
          </a:p>
        </p:txBody>
      </p:sp>
      <p:sp>
        <p:nvSpPr>
          <p:cNvPr id="17" name="page-16">
            <a:extLst>
              <a:ext uri="{FF2B5EF4-FFF2-40B4-BE49-F238E27FC236}">
                <a16:creationId xmlns:a16="http://schemas.microsoft.com/office/drawing/2014/main" id="{5A7A2153-FA39-459B-9838-B5577703B4B2}"/>
              </a:ext>
            </a:extLst>
          </p:cNvPr>
          <p:cNvSpPr>
            <a:spLocks noGrp="1"/>
          </p:cNvSpPr>
          <p:nvPr/>
        </p:nvSpPr>
        <p:spPr>
          <a:xfrm>
            <a:off x="11315700" y="655320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600" b="0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600" b="0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8742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20">
            <a:extLst>
              <a:ext uri="{FF2B5EF4-FFF2-40B4-BE49-F238E27FC236}">
                <a16:creationId xmlns:a16="http://schemas.microsoft.com/office/drawing/2014/main" id="{FFA14405-D340-43A6-BB8C-531C9456EC62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1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ASYNC PREFILL RESULTS</a:t>
            </a:r>
          </a:p>
        </p:txBody>
      </p:sp>
      <p:sp>
        <p:nvSpPr>
          <p:cNvPr id="2" name="title-20">
            <a:extLst>
              <a:ext uri="{FF2B5EF4-FFF2-40B4-BE49-F238E27FC236}">
                <a16:creationId xmlns:a16="http://schemas.microsoft.com/office/drawing/2014/main" id="{033281CE-65BB-46AA-BF34-CA688B40CD1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buNone/>
              <a:defRPr sz="217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AFD DP4TP2 与 EP16 DP4TP4 / DP8TP2：TTFT 对比（4K）</a:t>
            </a:r>
          </a:p>
        </p:txBody>
      </p:sp>
      <p:sp>
        <p:nvSpPr>
          <p:cNvPr id="3" name="title-rule-20">
            <a:extLst>
              <a:ext uri="{FF2B5EF4-FFF2-40B4-BE49-F238E27FC236}">
                <a16:creationId xmlns:a16="http://schemas.microsoft.com/office/drawing/2014/main" id="{C0B8B2A2-12A0-4BAE-A30A-983EDD0E9F07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4" name="metadata-bg-20">
            <a:extLst>
              <a:ext uri="{FF2B5EF4-FFF2-40B4-BE49-F238E27FC236}">
                <a16:creationId xmlns:a16="http://schemas.microsoft.com/office/drawing/2014/main" id="{BFABE51B-0ED6-4B8E-8024-31EA6D0F554F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972800" cy="40005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model-20">
            <a:extLst>
              <a:ext uri="{FF2B5EF4-FFF2-40B4-BE49-F238E27FC236}">
                <a16:creationId xmlns:a16="http://schemas.microsoft.com/office/drawing/2014/main" id="{E7259284-C338-474A-A375-3E38E771E4F7}"/>
              </a:ext>
            </a:extLst>
          </p:cNvPr>
          <p:cNvSpPr>
            <a:spLocks noGrp="1"/>
          </p:cNvSpPr>
          <p:nvPr/>
        </p:nvSpPr>
        <p:spPr>
          <a:xfrm>
            <a:off x="800100" y="10953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模型：dsv4-flash</a:t>
            </a:r>
          </a:p>
        </p:txBody>
      </p:sp>
      <p:sp>
        <p:nvSpPr>
          <p:cNvPr id="6" name="comparison-20">
            <a:extLst>
              <a:ext uri="{FF2B5EF4-FFF2-40B4-BE49-F238E27FC236}">
                <a16:creationId xmlns:a16="http://schemas.microsoft.com/office/drawing/2014/main" id="{894CD9BA-1AF3-4D4D-A71A-99DFC06BA609}"/>
              </a:ext>
            </a:extLst>
          </p:cNvPr>
          <p:cNvSpPr>
            <a:spLocks noGrp="1"/>
          </p:cNvSpPr>
          <p:nvPr/>
        </p:nvSpPr>
        <p:spPr>
          <a:xfrm>
            <a:off x="3476625" y="1095375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buNone/>
              <a:defRPr sz="1125" b="0">
                <a:solidFill>
                  <a:srgbClr val="528A0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8A00"/>
                </a:solidFill>
                <a:latin typeface="微软雅黑"/>
                <a:ea typeface="微软雅黑"/>
                <a:cs typeface="微软雅黑"/>
              </a:rPr>
              <a:t>AFD DP4TP2 + EP8（64K）对比 EP16 两种布局（4K）</a:t>
            </a:r>
          </a:p>
        </p:txBody>
      </p:sp>
      <p:sp>
        <p:nvSpPr>
          <p:cNvPr id="7" name="hardware-20">
            <a:extLst>
              <a:ext uri="{FF2B5EF4-FFF2-40B4-BE49-F238E27FC236}">
                <a16:creationId xmlns:a16="http://schemas.microsoft.com/office/drawing/2014/main" id="{7359AA34-39A4-4107-A104-738C82D3698C}"/>
              </a:ext>
            </a:extLst>
          </p:cNvPr>
          <p:cNvSpPr>
            <a:spLocks noGrp="1"/>
          </p:cNvSpPr>
          <p:nvPr/>
        </p:nvSpPr>
        <p:spPr>
          <a:xfrm>
            <a:off x="9144000" y="1095375"/>
            <a:ext cx="2247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rPr>
              <a:t>硬件：Ascend 910C</a:t>
            </a:r>
          </a:p>
        </p:txBody>
      </p:sp>
      <p:sp>
        <p:nvSpPr>
          <p:cNvPr id="8" name="chart-heading-20">
            <a:extLst>
              <a:ext uri="{FF2B5EF4-FFF2-40B4-BE49-F238E27FC236}">
                <a16:creationId xmlns:a16="http://schemas.microsoft.com/office/drawing/2014/main" id="{011BB592-15CF-45FD-81D3-0AB4CCAEA58E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619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buNone/>
              <a:def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不同 RPS 下的 TTFT 分位点（秒）</a:t>
            </a:r>
          </a:p>
        </p:txBody>
      </p:sp>
      <p:sp>
        <p:nvSpPr>
          <p:cNvPr id="9" name="table-heading-20">
            <a:extLst>
              <a:ext uri="{FF2B5EF4-FFF2-40B4-BE49-F238E27FC236}">
                <a16:creationId xmlns:a16="http://schemas.microsoft.com/office/drawing/2014/main" id="{E16DD1E4-A415-4929-B3A7-7DD05FFC9ECB}"/>
              </a:ext>
            </a:extLst>
          </p:cNvPr>
          <p:cNvSpPr>
            <a:spLocks noGrp="1"/>
          </p:cNvSpPr>
          <p:nvPr/>
        </p:nvSpPr>
        <p:spPr>
          <a:xfrm>
            <a:off x="7029450" y="1466850"/>
            <a:ext cx="4552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buNone/>
              <a:def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TTFT 明细（秒）</a:t>
            </a:r>
          </a:p>
        </p:txBody>
      </p:sp>
      <p:sp>
        <p:nvSpPr>
          <p:cNvPr id="18" name="conclusion-20">
            <a:extLst>
              <a:ext uri="{FF2B5EF4-FFF2-40B4-BE49-F238E27FC236}">
                <a16:creationId xmlns:a16="http://schemas.microsoft.com/office/drawing/2014/main" id="{80EC9D6B-7066-4080-9BA4-85E6F97102F6}"/>
              </a:ext>
            </a:extLst>
          </p:cNvPr>
          <p:cNvSpPr>
            <a:spLocks noGrp="1"/>
          </p:cNvSpPr>
          <p:nvPr/>
        </p:nvSpPr>
        <p:spPr>
          <a:xfrm>
            <a:off x="609600" y="5514975"/>
            <a:ext cx="6191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AFD P99（RPS 2/3/4）：6.98 / 11.06 / 20.28 秒</a:t>
            </a:r>
          </a:p>
          <a:p>
            <a:pPr>
              <a:buNone/>
              <a:def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RPS=4：P99 最低为 DP8TP2（12.99 秒）</a:t>
            </a:r>
          </a:p>
        </p:txBody>
      </p:sp>
      <p:sp>
        <p:nvSpPr>
          <p:cNvPr id="19" name="settings-20">
            <a:extLst>
              <a:ext uri="{FF2B5EF4-FFF2-40B4-BE49-F238E27FC236}">
                <a16:creationId xmlns:a16="http://schemas.microsoft.com/office/drawing/2014/main" id="{6755B7FD-834F-43CF-9C6E-976949210F69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10972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buNone/>
              <a:defRPr sz="8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AFD MBT=64K（本次），EP16 两种布局均为 MBT=4K。各取三轮分位数均值，红色粗体为同 RPS / 分位最小值。</a:t>
            </a:r>
          </a:p>
        </p:txBody>
      </p:sp>
      <p:sp>
        <p:nvSpPr>
          <p:cNvPr id="20" name="source-20">
            <a:extLst>
              <a:ext uri="{FF2B5EF4-FFF2-40B4-BE49-F238E27FC236}">
                <a16:creationId xmlns:a16="http://schemas.microsoft.com/office/drawing/2014/main" id="{54D028FA-4095-44C8-8A59-4E8096C692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10972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buNone/>
              <a:defRPr sz="825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来源：AFD 为本次 20260908-rps234 批次，EP16 沿用上一版 2026-09-07/08 批次。跨批次、MBT 与节点比较。</a:t>
            </a:r>
          </a:p>
        </p:txBody>
      </p:sp>
      <p:sp>
        <p:nvSpPr>
          <p:cNvPr id="21" name="page-20">
            <a:extLst>
              <a:ext uri="{FF2B5EF4-FFF2-40B4-BE49-F238E27FC236}">
                <a16:creationId xmlns:a16="http://schemas.microsoft.com/office/drawing/2014/main" id="{E2D9AA41-FC52-4DC4-9DA0-2E2FA83D21A1}"/>
              </a:ext>
            </a:extLst>
          </p:cNvPr>
          <p:cNvSpPr>
            <a:spLocks noGrp="1"/>
          </p:cNvSpPr>
          <p:nvPr/>
        </p:nvSpPr>
        <p:spPr>
          <a:xfrm>
            <a:off x="11315700" y="655320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buNone/>
              <a:def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="609600" y="1790700"/>
          <a:ext cx="1981200" cy="1685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6" name="Chart"/>
          <p:cNvGraphicFramePr/>
          <p:nvPr/>
        </p:nvGraphicFramePr>
        <p:xfrm>
          <a:off x="2705100" y="1790700"/>
          <a:ext cx="1981200" cy="1685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7" name="Chart"/>
          <p:cNvGraphicFramePr/>
          <p:nvPr/>
        </p:nvGraphicFramePr>
        <p:xfrm>
          <a:off x="4800600" y="1790700"/>
          <a:ext cx="1981200" cy="1685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8" name="Chart"/>
          <p:cNvGraphicFramePr/>
          <p:nvPr/>
        </p:nvGraphicFramePr>
        <p:xfrm>
          <a:off x="933450" y="3629025"/>
          <a:ext cx="2686050" cy="1666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9" name="Chart"/>
          <p:cNvGraphicFramePr/>
          <p:nvPr/>
        </p:nvGraphicFramePr>
        <p:xfrm>
          <a:off x="3790950" y="3629025"/>
          <a:ext cx="2686050" cy="1666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8" name="矩形 27">
            <a:extLst>
              <a:ext uri="{FF2B5EF4-FFF2-40B4-BE49-F238E27FC236}">
                <a16:creationId xmlns:a16="http://schemas.microsoft.com/office/drawing/2014/main" id="{6035971B-4367-4700-8CEA-A063A9F6DE78}"/>
              </a:ext>
            </a:extLst>
          </p:cNvPr>
          <p:cNvSpPr>
            <a:spLocks noGrp="1"/>
          </p:cNvSpPr>
          <p:nvPr/>
        </p:nvSpPr>
        <p:spPr>
          <a:xfrm>
            <a:off x="838200" y="5286375"/>
            <a:ext cx="180975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75" b="1">
                <a:solidFill>
                  <a:srgbClr val="F2A3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2A300"/>
                </a:solidFill>
                <a:latin typeface="微软雅黑"/>
                <a:ea typeface="微软雅黑"/>
                <a:cs typeface="微软雅黑"/>
              </a:rPr>
              <a:t>AFD 64K（本次）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7B74729-CB86-4506-B84A-4B687DFD5215}"/>
              </a:ext>
            </a:extLst>
          </p:cNvPr>
          <p:cNvSpPr>
            <a:spLocks noGrp="1"/>
          </p:cNvSpPr>
          <p:nvPr/>
        </p:nvSpPr>
        <p:spPr>
          <a:xfrm>
            <a:off x="2809875" y="5286375"/>
            <a:ext cx="1762125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75" b="1">
                <a:solidFill>
                  <a:srgbClr val="548235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548235"/>
                </a:solidFill>
                <a:latin typeface="微软雅黑"/>
                <a:ea typeface="微软雅黑"/>
                <a:cs typeface="微软雅黑"/>
              </a:rPr>
              <a:t>EP16 DP4TP4 4K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829BBF7-97DD-4EE9-9765-54BF5B272A81}"/>
              </a:ext>
            </a:extLst>
          </p:cNvPr>
          <p:cNvSpPr>
            <a:spLocks noGrp="1"/>
          </p:cNvSpPr>
          <p:nvPr/>
        </p:nvSpPr>
        <p:spPr>
          <a:xfrm>
            <a:off x="4667250" y="5286375"/>
            <a:ext cx="1762125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75" b="1">
                <a:solidFill>
                  <a:srgbClr val="4472C4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EP16 DP8TP2 4K</a:t>
            </a:r>
          </a:p>
        </p:txBody>
      </p:sp>
      <p:graphicFrame>
        <p:nvGraphicFramePr>
          <p:cNvPr id="53" name="表格 52"/>
          <p:cNvGraphicFramePr/>
          <p:nvPr/>
        </p:nvGraphicFramePr>
        <p:xfrm>
          <a:off x="7029450" y="1724025"/>
          <a:ext cx="4552950" cy="4133850"/>
        </p:xfrm>
        <a:graphic>
          <a:graphicData uri="http://schemas.openxmlformats.org/drawingml/2006/table">
            <a:tbl>
              <a:tblPr/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分位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F2A3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AFD</a:t>
                      </a:r>
                    </a:p>
                    <a:p>
                      <a:pPr algn="ctr"/>
                      <a:r>
                        <a:rPr sz="1163" b="1">
                          <a:solidFill>
                            <a:srgbClr val="F2A3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64K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54823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DP4TP4</a:t>
                      </a:r>
                    </a:p>
                    <a:p>
                      <a:pPr algn="ctr"/>
                      <a:r>
                        <a:rPr sz="1163" b="1">
                          <a:solidFill>
                            <a:srgbClr val="54823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4K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4472C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DP8TP2</a:t>
                      </a:r>
                    </a:p>
                    <a:p>
                      <a:pPr algn="ctr"/>
                      <a:r>
                        <a:rPr sz="1163" b="1">
                          <a:solidFill>
                            <a:srgbClr val="4472C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4K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rowSpan="5"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0.65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1.23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1.82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1.98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3.44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4.63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5.12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4.80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6.01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6.48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6.98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8.30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10.24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 rowSpan="5"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1.02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1.84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1.60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1.97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3.19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2.53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6.58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7.62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6.21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8.42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9.20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8.02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11.06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12.91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11.16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7650">
                <a:tc rowSpan="5"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4.81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22.17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2.17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8.41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30.07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3.49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14.76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47.34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8.14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16.80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51.25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20.28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56.95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12.99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2740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20">
            <a:extLst>
              <a:ext uri="{FF2B5EF4-FFF2-40B4-BE49-F238E27FC236}">
                <a16:creationId xmlns:a16="http://schemas.microsoft.com/office/drawing/2014/main" id="{FFA14405-D340-43A6-BB8C-531C9456EC62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1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ASYNC PREFILL RESULTS</a:t>
            </a:r>
          </a:p>
        </p:txBody>
      </p:sp>
      <p:sp>
        <p:nvSpPr>
          <p:cNvPr id="2" name="title-20">
            <a:extLst>
              <a:ext uri="{FF2B5EF4-FFF2-40B4-BE49-F238E27FC236}">
                <a16:creationId xmlns:a16="http://schemas.microsoft.com/office/drawing/2014/main" id="{033281CE-65BB-46AA-BF34-CA688B40CD1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buNone/>
              <a:defRPr sz="217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AFD DP4TP2 与 EP16 DP4TP4 / DP8TP2：TTFT 对比（8K）</a:t>
            </a:r>
          </a:p>
        </p:txBody>
      </p:sp>
      <p:sp>
        <p:nvSpPr>
          <p:cNvPr id="3" name="title-rule-20">
            <a:extLst>
              <a:ext uri="{FF2B5EF4-FFF2-40B4-BE49-F238E27FC236}">
                <a16:creationId xmlns:a16="http://schemas.microsoft.com/office/drawing/2014/main" id="{C0B8B2A2-12A0-4BAE-A30A-983EDD0E9F07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4" name="metadata-bg-20">
            <a:extLst>
              <a:ext uri="{FF2B5EF4-FFF2-40B4-BE49-F238E27FC236}">
                <a16:creationId xmlns:a16="http://schemas.microsoft.com/office/drawing/2014/main" id="{BFABE51B-0ED6-4B8E-8024-31EA6D0F554F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972800" cy="40005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model-20">
            <a:extLst>
              <a:ext uri="{FF2B5EF4-FFF2-40B4-BE49-F238E27FC236}">
                <a16:creationId xmlns:a16="http://schemas.microsoft.com/office/drawing/2014/main" id="{E7259284-C338-474A-A375-3E38E771E4F7}"/>
              </a:ext>
            </a:extLst>
          </p:cNvPr>
          <p:cNvSpPr>
            <a:spLocks noGrp="1"/>
          </p:cNvSpPr>
          <p:nvPr/>
        </p:nvSpPr>
        <p:spPr>
          <a:xfrm>
            <a:off x="800100" y="10953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模型：dsv4-flash</a:t>
            </a:r>
          </a:p>
        </p:txBody>
      </p:sp>
      <p:sp>
        <p:nvSpPr>
          <p:cNvPr id="6" name="comparison-20">
            <a:extLst>
              <a:ext uri="{FF2B5EF4-FFF2-40B4-BE49-F238E27FC236}">
                <a16:creationId xmlns:a16="http://schemas.microsoft.com/office/drawing/2014/main" id="{894CD9BA-1AF3-4D4D-A71A-99DFC06BA609}"/>
              </a:ext>
            </a:extLst>
          </p:cNvPr>
          <p:cNvSpPr>
            <a:spLocks noGrp="1"/>
          </p:cNvSpPr>
          <p:nvPr/>
        </p:nvSpPr>
        <p:spPr>
          <a:xfrm>
            <a:off x="3476625" y="1095375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buNone/>
              <a:defRPr sz="1125" b="0">
                <a:solidFill>
                  <a:srgbClr val="528A0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8A00"/>
                </a:solidFill>
                <a:latin typeface="微软雅黑"/>
                <a:ea typeface="微软雅黑"/>
                <a:cs typeface="微软雅黑"/>
              </a:rPr>
              <a:t>AFD DP4TP2 + EP8（64K）对比 EP16 两种布局（8K）</a:t>
            </a:r>
          </a:p>
        </p:txBody>
      </p:sp>
      <p:sp>
        <p:nvSpPr>
          <p:cNvPr id="7" name="hardware-20">
            <a:extLst>
              <a:ext uri="{FF2B5EF4-FFF2-40B4-BE49-F238E27FC236}">
                <a16:creationId xmlns:a16="http://schemas.microsoft.com/office/drawing/2014/main" id="{7359AA34-39A4-4107-A104-738C82D3698C}"/>
              </a:ext>
            </a:extLst>
          </p:cNvPr>
          <p:cNvSpPr>
            <a:spLocks noGrp="1"/>
          </p:cNvSpPr>
          <p:nvPr/>
        </p:nvSpPr>
        <p:spPr>
          <a:xfrm>
            <a:off x="9144000" y="1095375"/>
            <a:ext cx="2247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rPr>
              <a:t>硬件：Ascend 910C</a:t>
            </a:r>
          </a:p>
        </p:txBody>
      </p:sp>
      <p:sp>
        <p:nvSpPr>
          <p:cNvPr id="8" name="chart-heading-20">
            <a:extLst>
              <a:ext uri="{FF2B5EF4-FFF2-40B4-BE49-F238E27FC236}">
                <a16:creationId xmlns:a16="http://schemas.microsoft.com/office/drawing/2014/main" id="{011BB592-15CF-45FD-81D3-0AB4CCAEA58E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619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buNone/>
              <a:def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不同 RPS 下的 TTFT 分位点（秒）</a:t>
            </a:r>
          </a:p>
        </p:txBody>
      </p:sp>
      <p:sp>
        <p:nvSpPr>
          <p:cNvPr id="9" name="table-heading-20">
            <a:extLst>
              <a:ext uri="{FF2B5EF4-FFF2-40B4-BE49-F238E27FC236}">
                <a16:creationId xmlns:a16="http://schemas.microsoft.com/office/drawing/2014/main" id="{E16DD1E4-A415-4929-B3A7-7DD05FFC9ECB}"/>
              </a:ext>
            </a:extLst>
          </p:cNvPr>
          <p:cNvSpPr>
            <a:spLocks noGrp="1"/>
          </p:cNvSpPr>
          <p:nvPr/>
        </p:nvSpPr>
        <p:spPr>
          <a:xfrm>
            <a:off x="7029450" y="1466850"/>
            <a:ext cx="4552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buNone/>
              <a:def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TTFT 明细（秒）</a:t>
            </a:r>
          </a:p>
        </p:txBody>
      </p:sp>
      <p:sp>
        <p:nvSpPr>
          <p:cNvPr id="18" name="conclusion-20">
            <a:extLst>
              <a:ext uri="{FF2B5EF4-FFF2-40B4-BE49-F238E27FC236}">
                <a16:creationId xmlns:a16="http://schemas.microsoft.com/office/drawing/2014/main" id="{80EC9D6B-7066-4080-9BA4-85E6F97102F6}"/>
              </a:ext>
            </a:extLst>
          </p:cNvPr>
          <p:cNvSpPr>
            <a:spLocks noGrp="1"/>
          </p:cNvSpPr>
          <p:nvPr/>
        </p:nvSpPr>
        <p:spPr>
          <a:xfrm>
            <a:off x="609600" y="5514975"/>
            <a:ext cx="6191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AFD P99（RPS 2/3/4）：6.98 / 11.06 / 20.28 秒</a:t>
            </a:r>
          </a:p>
          <a:p>
            <a:pPr>
              <a:buNone/>
              <a:def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RPS=4：P99 最低为 DP8TP2（15.90 秒）</a:t>
            </a:r>
          </a:p>
        </p:txBody>
      </p:sp>
      <p:sp>
        <p:nvSpPr>
          <p:cNvPr id="19" name="settings-20">
            <a:extLst>
              <a:ext uri="{FF2B5EF4-FFF2-40B4-BE49-F238E27FC236}">
                <a16:creationId xmlns:a16="http://schemas.microsoft.com/office/drawing/2014/main" id="{6755B7FD-834F-43CF-9C6E-976949210F69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10972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buNone/>
              <a:defRPr sz="8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AFD MBT=64K（本次），EP16 两种布局均为 MBT=8K。各取三轮分位数均值，红色粗体为同 RPS / 分位最小值。</a:t>
            </a:r>
          </a:p>
        </p:txBody>
      </p:sp>
      <p:sp>
        <p:nvSpPr>
          <p:cNvPr id="20" name="source-20">
            <a:extLst>
              <a:ext uri="{FF2B5EF4-FFF2-40B4-BE49-F238E27FC236}">
                <a16:creationId xmlns:a16="http://schemas.microsoft.com/office/drawing/2014/main" id="{54D028FA-4095-44C8-8A59-4E8096C692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10972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buNone/>
              <a:defRPr sz="825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来源：AFD 为本次 20260908-rps234 批次，EP16 沿用上一版 2026-09-07/08 批次。跨批次、MBT 与节点比较。</a:t>
            </a:r>
          </a:p>
        </p:txBody>
      </p:sp>
      <p:sp>
        <p:nvSpPr>
          <p:cNvPr id="21" name="page-20">
            <a:extLst>
              <a:ext uri="{FF2B5EF4-FFF2-40B4-BE49-F238E27FC236}">
                <a16:creationId xmlns:a16="http://schemas.microsoft.com/office/drawing/2014/main" id="{E2D9AA41-FC52-4DC4-9DA0-2E2FA83D21A1}"/>
              </a:ext>
            </a:extLst>
          </p:cNvPr>
          <p:cNvSpPr>
            <a:spLocks noGrp="1"/>
          </p:cNvSpPr>
          <p:nvPr/>
        </p:nvSpPr>
        <p:spPr>
          <a:xfrm>
            <a:off x="11315700" y="655320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buNone/>
              <a:def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="609600" y="1790700"/>
          <a:ext cx="1981200" cy="1685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6" name="Chart"/>
          <p:cNvGraphicFramePr/>
          <p:nvPr/>
        </p:nvGraphicFramePr>
        <p:xfrm>
          <a:off x="2705100" y="1790700"/>
          <a:ext cx="1981200" cy="1685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7" name="Chart"/>
          <p:cNvGraphicFramePr/>
          <p:nvPr/>
        </p:nvGraphicFramePr>
        <p:xfrm>
          <a:off x="4800600" y="1790700"/>
          <a:ext cx="1981200" cy="1685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8" name="Chart"/>
          <p:cNvGraphicFramePr/>
          <p:nvPr/>
        </p:nvGraphicFramePr>
        <p:xfrm>
          <a:off x="933450" y="3629025"/>
          <a:ext cx="2686050" cy="1666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9" name="Chart"/>
          <p:cNvGraphicFramePr/>
          <p:nvPr/>
        </p:nvGraphicFramePr>
        <p:xfrm>
          <a:off x="3790950" y="3629025"/>
          <a:ext cx="2686050" cy="1666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8" name="矩形 27">
            <a:extLst>
              <a:ext uri="{FF2B5EF4-FFF2-40B4-BE49-F238E27FC236}">
                <a16:creationId xmlns:a16="http://schemas.microsoft.com/office/drawing/2014/main" id="{2DBD64E8-9A5B-436D-8814-4B5F1E8F522C}"/>
              </a:ext>
            </a:extLst>
          </p:cNvPr>
          <p:cNvSpPr>
            <a:spLocks noGrp="1"/>
          </p:cNvSpPr>
          <p:nvPr/>
        </p:nvSpPr>
        <p:spPr>
          <a:xfrm>
            <a:off x="838200" y="5286375"/>
            <a:ext cx="180975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75" b="1">
                <a:solidFill>
                  <a:srgbClr val="F2A3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2A300"/>
                </a:solidFill>
                <a:latin typeface="微软雅黑"/>
                <a:ea typeface="微软雅黑"/>
                <a:cs typeface="微软雅黑"/>
              </a:rPr>
              <a:t>AFD 64K（本次）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4A0DEE0-A560-4C26-8682-BF28C2FE6C88}"/>
              </a:ext>
            </a:extLst>
          </p:cNvPr>
          <p:cNvSpPr>
            <a:spLocks noGrp="1"/>
          </p:cNvSpPr>
          <p:nvPr/>
        </p:nvSpPr>
        <p:spPr>
          <a:xfrm>
            <a:off x="2809875" y="5286375"/>
            <a:ext cx="1762125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75" b="1">
                <a:solidFill>
                  <a:srgbClr val="548235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548235"/>
                </a:solidFill>
                <a:latin typeface="微软雅黑"/>
                <a:ea typeface="微软雅黑"/>
                <a:cs typeface="微软雅黑"/>
              </a:rPr>
              <a:t>EP16 DP4TP4 8K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1DAF0D8-1D0B-47C4-AE0B-61E32C08A8C5}"/>
              </a:ext>
            </a:extLst>
          </p:cNvPr>
          <p:cNvSpPr>
            <a:spLocks noGrp="1"/>
          </p:cNvSpPr>
          <p:nvPr/>
        </p:nvSpPr>
        <p:spPr>
          <a:xfrm>
            <a:off x="4667250" y="5286375"/>
            <a:ext cx="1762125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75" b="1">
                <a:solidFill>
                  <a:srgbClr val="4472C4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EP16 DP8TP2 8K</a:t>
            </a:r>
          </a:p>
        </p:txBody>
      </p:sp>
      <p:graphicFrame>
        <p:nvGraphicFramePr>
          <p:cNvPr id="53" name="表格 52"/>
          <p:cNvGraphicFramePr/>
          <p:nvPr/>
        </p:nvGraphicFramePr>
        <p:xfrm>
          <a:off x="7029450" y="1724025"/>
          <a:ext cx="4552950" cy="4133850"/>
        </p:xfrm>
        <a:graphic>
          <a:graphicData uri="http://schemas.openxmlformats.org/drawingml/2006/table">
            <a:tbl>
              <a:tblPr/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分位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F2A3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AFD</a:t>
                      </a:r>
                    </a:p>
                    <a:p>
                      <a:pPr algn="ctr"/>
                      <a:r>
                        <a:rPr sz="1163" b="1">
                          <a:solidFill>
                            <a:srgbClr val="F2A3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64K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54823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DP4TP4</a:t>
                      </a:r>
                    </a:p>
                    <a:p>
                      <a:pPr algn="ctr"/>
                      <a:r>
                        <a:rPr sz="1163" b="1">
                          <a:solidFill>
                            <a:srgbClr val="54823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8K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4472C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DP8TP2</a:t>
                      </a:r>
                    </a:p>
                    <a:p>
                      <a:pPr algn="ctr"/>
                      <a:r>
                        <a:rPr sz="1163" b="1">
                          <a:solidFill>
                            <a:srgbClr val="4472C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8K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rowSpan="5"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0.65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1.79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2.57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3.25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3.44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5.29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6.66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4.80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6.62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8.25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6.98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8.89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11.98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 rowSpan="5"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1.02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2.58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3.12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1.97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3.65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4.21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6.58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7.25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8.35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8.42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8.58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10.07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11.06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11.06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13.45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7650">
                <a:tc rowSpan="5"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4.81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5.96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3.73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8.41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8.62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5.15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14.76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15.06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16.80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16.85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12.03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20.28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20.39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15.90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5935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20">
            <a:extLst>
              <a:ext uri="{FF2B5EF4-FFF2-40B4-BE49-F238E27FC236}">
                <a16:creationId xmlns:a16="http://schemas.microsoft.com/office/drawing/2014/main" id="{FFA14405-D340-43A6-BB8C-531C9456EC62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1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ASYNC PREFILL RESULTS</a:t>
            </a:r>
          </a:p>
        </p:txBody>
      </p:sp>
      <p:sp>
        <p:nvSpPr>
          <p:cNvPr id="2" name="title-20">
            <a:extLst>
              <a:ext uri="{FF2B5EF4-FFF2-40B4-BE49-F238E27FC236}">
                <a16:creationId xmlns:a16="http://schemas.microsoft.com/office/drawing/2014/main" id="{033281CE-65BB-46AA-BF34-CA688B40CD1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buNone/>
              <a:defRPr sz="217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AFD DP4TP2 与 EP16 DP4TP4 / DP8TP2：TTFT 对比（16K）</a:t>
            </a:r>
          </a:p>
        </p:txBody>
      </p:sp>
      <p:sp>
        <p:nvSpPr>
          <p:cNvPr id="3" name="title-rule-20">
            <a:extLst>
              <a:ext uri="{FF2B5EF4-FFF2-40B4-BE49-F238E27FC236}">
                <a16:creationId xmlns:a16="http://schemas.microsoft.com/office/drawing/2014/main" id="{C0B8B2A2-12A0-4BAE-A30A-983EDD0E9F07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4" name="metadata-bg-20">
            <a:extLst>
              <a:ext uri="{FF2B5EF4-FFF2-40B4-BE49-F238E27FC236}">
                <a16:creationId xmlns:a16="http://schemas.microsoft.com/office/drawing/2014/main" id="{BFABE51B-0ED6-4B8E-8024-31EA6D0F554F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972800" cy="40005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model-20">
            <a:extLst>
              <a:ext uri="{FF2B5EF4-FFF2-40B4-BE49-F238E27FC236}">
                <a16:creationId xmlns:a16="http://schemas.microsoft.com/office/drawing/2014/main" id="{E7259284-C338-474A-A375-3E38E771E4F7}"/>
              </a:ext>
            </a:extLst>
          </p:cNvPr>
          <p:cNvSpPr>
            <a:spLocks noGrp="1"/>
          </p:cNvSpPr>
          <p:nvPr/>
        </p:nvSpPr>
        <p:spPr>
          <a:xfrm>
            <a:off x="800100" y="10953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模型：dsv4-flash</a:t>
            </a:r>
          </a:p>
        </p:txBody>
      </p:sp>
      <p:sp>
        <p:nvSpPr>
          <p:cNvPr id="6" name="comparison-20">
            <a:extLst>
              <a:ext uri="{FF2B5EF4-FFF2-40B4-BE49-F238E27FC236}">
                <a16:creationId xmlns:a16="http://schemas.microsoft.com/office/drawing/2014/main" id="{894CD9BA-1AF3-4D4D-A71A-99DFC06BA609}"/>
              </a:ext>
            </a:extLst>
          </p:cNvPr>
          <p:cNvSpPr>
            <a:spLocks noGrp="1"/>
          </p:cNvSpPr>
          <p:nvPr/>
        </p:nvSpPr>
        <p:spPr>
          <a:xfrm>
            <a:off x="3476625" y="1095375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buNone/>
              <a:defRPr sz="1125" b="0">
                <a:solidFill>
                  <a:srgbClr val="528A0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8A00"/>
                </a:solidFill>
                <a:latin typeface="微软雅黑"/>
                <a:ea typeface="微软雅黑"/>
                <a:cs typeface="微软雅黑"/>
              </a:rPr>
              <a:t>AFD DP4TP2 + EP8（64K）对比 EP16 两种布局（16K）</a:t>
            </a:r>
          </a:p>
        </p:txBody>
      </p:sp>
      <p:sp>
        <p:nvSpPr>
          <p:cNvPr id="7" name="hardware-20">
            <a:extLst>
              <a:ext uri="{FF2B5EF4-FFF2-40B4-BE49-F238E27FC236}">
                <a16:creationId xmlns:a16="http://schemas.microsoft.com/office/drawing/2014/main" id="{7359AA34-39A4-4107-A104-738C82D3698C}"/>
              </a:ext>
            </a:extLst>
          </p:cNvPr>
          <p:cNvSpPr>
            <a:spLocks noGrp="1"/>
          </p:cNvSpPr>
          <p:nvPr/>
        </p:nvSpPr>
        <p:spPr>
          <a:xfrm>
            <a:off x="9144000" y="1095375"/>
            <a:ext cx="2247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rPr>
              <a:t>硬件：Ascend 910C</a:t>
            </a:r>
          </a:p>
        </p:txBody>
      </p:sp>
      <p:sp>
        <p:nvSpPr>
          <p:cNvPr id="8" name="chart-heading-20">
            <a:extLst>
              <a:ext uri="{FF2B5EF4-FFF2-40B4-BE49-F238E27FC236}">
                <a16:creationId xmlns:a16="http://schemas.microsoft.com/office/drawing/2014/main" id="{011BB592-15CF-45FD-81D3-0AB4CCAEA58E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619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buNone/>
              <a:def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不同 RPS 下的 TTFT 分位点（秒）</a:t>
            </a:r>
          </a:p>
        </p:txBody>
      </p:sp>
      <p:sp>
        <p:nvSpPr>
          <p:cNvPr id="9" name="table-heading-20">
            <a:extLst>
              <a:ext uri="{FF2B5EF4-FFF2-40B4-BE49-F238E27FC236}">
                <a16:creationId xmlns:a16="http://schemas.microsoft.com/office/drawing/2014/main" id="{E16DD1E4-A415-4929-B3A7-7DD05FFC9ECB}"/>
              </a:ext>
            </a:extLst>
          </p:cNvPr>
          <p:cNvSpPr>
            <a:spLocks noGrp="1"/>
          </p:cNvSpPr>
          <p:nvPr/>
        </p:nvSpPr>
        <p:spPr>
          <a:xfrm>
            <a:off x="7029450" y="1466850"/>
            <a:ext cx="4552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ctr">
              <a:buNone/>
              <a:def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TTFT 明细（秒）</a:t>
            </a:r>
          </a:p>
        </p:txBody>
      </p:sp>
      <p:sp>
        <p:nvSpPr>
          <p:cNvPr id="18" name="conclusion-20">
            <a:extLst>
              <a:ext uri="{FF2B5EF4-FFF2-40B4-BE49-F238E27FC236}">
                <a16:creationId xmlns:a16="http://schemas.microsoft.com/office/drawing/2014/main" id="{80EC9D6B-7066-4080-9BA4-85E6F97102F6}"/>
              </a:ext>
            </a:extLst>
          </p:cNvPr>
          <p:cNvSpPr>
            <a:spLocks noGrp="1"/>
          </p:cNvSpPr>
          <p:nvPr/>
        </p:nvSpPr>
        <p:spPr>
          <a:xfrm>
            <a:off x="609600" y="5514975"/>
            <a:ext cx="6191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AFD P99（RPS 2/3/4）：6.98 / 11.06 / 20.28 秒</a:t>
            </a:r>
          </a:p>
          <a:p>
            <a:pPr>
              <a:buNone/>
              <a:def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RPS=4：P99 最低为 DP4TP4（18.25 秒）</a:t>
            </a:r>
          </a:p>
        </p:txBody>
      </p:sp>
      <p:sp>
        <p:nvSpPr>
          <p:cNvPr id="19" name="settings-20">
            <a:extLst>
              <a:ext uri="{FF2B5EF4-FFF2-40B4-BE49-F238E27FC236}">
                <a16:creationId xmlns:a16="http://schemas.microsoft.com/office/drawing/2014/main" id="{6755B7FD-834F-43CF-9C6E-976949210F69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10972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buNone/>
              <a:defRPr sz="8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AFD MBT=64K（本次），EP16 两种布局均为 MBT=16K。各取三轮分位数均值，红色粗体为同 RPS / 分位最小值。</a:t>
            </a:r>
          </a:p>
        </p:txBody>
      </p:sp>
      <p:sp>
        <p:nvSpPr>
          <p:cNvPr id="20" name="source-20">
            <a:extLst>
              <a:ext uri="{FF2B5EF4-FFF2-40B4-BE49-F238E27FC236}">
                <a16:creationId xmlns:a16="http://schemas.microsoft.com/office/drawing/2014/main" id="{54D028FA-4095-44C8-8A59-4E8096C692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10972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buNone/>
              <a:defRPr sz="825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来源：AFD 为本次 20260908-rps234 批次，EP16 沿用上一版 2026-09-07/08 批次。跨批次、MBT 与节点比较。</a:t>
            </a:r>
          </a:p>
        </p:txBody>
      </p:sp>
      <p:sp>
        <p:nvSpPr>
          <p:cNvPr id="21" name="page-20">
            <a:extLst>
              <a:ext uri="{FF2B5EF4-FFF2-40B4-BE49-F238E27FC236}">
                <a16:creationId xmlns:a16="http://schemas.microsoft.com/office/drawing/2014/main" id="{E2D9AA41-FC52-4DC4-9DA0-2E2FA83D21A1}"/>
              </a:ext>
            </a:extLst>
          </p:cNvPr>
          <p:cNvSpPr>
            <a:spLocks noGrp="1"/>
          </p:cNvSpPr>
          <p:nvPr/>
        </p:nvSpPr>
        <p:spPr>
          <a:xfrm>
            <a:off x="11315700" y="655320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r">
              <a:buNone/>
              <a:def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="609600" y="1790700"/>
          <a:ext cx="1981200" cy="1685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6" name="Chart"/>
          <p:cNvGraphicFramePr/>
          <p:nvPr/>
        </p:nvGraphicFramePr>
        <p:xfrm>
          <a:off x="2705100" y="1790700"/>
          <a:ext cx="1981200" cy="1685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7" name="Chart"/>
          <p:cNvGraphicFramePr/>
          <p:nvPr/>
        </p:nvGraphicFramePr>
        <p:xfrm>
          <a:off x="4800600" y="1790700"/>
          <a:ext cx="1981200" cy="1685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8" name="Chart"/>
          <p:cNvGraphicFramePr/>
          <p:nvPr/>
        </p:nvGraphicFramePr>
        <p:xfrm>
          <a:off x="933450" y="3629025"/>
          <a:ext cx="2686050" cy="1666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9" name="Chart"/>
          <p:cNvGraphicFramePr/>
          <p:nvPr/>
        </p:nvGraphicFramePr>
        <p:xfrm>
          <a:off x="3790950" y="3629025"/>
          <a:ext cx="2686050" cy="1666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8" name="矩形 27">
            <a:extLst>
              <a:ext uri="{FF2B5EF4-FFF2-40B4-BE49-F238E27FC236}">
                <a16:creationId xmlns:a16="http://schemas.microsoft.com/office/drawing/2014/main" id="{7006D519-1B3C-46B8-A5E8-262FCE0B6289}"/>
              </a:ext>
            </a:extLst>
          </p:cNvPr>
          <p:cNvSpPr>
            <a:spLocks noGrp="1"/>
          </p:cNvSpPr>
          <p:nvPr/>
        </p:nvSpPr>
        <p:spPr>
          <a:xfrm>
            <a:off x="838200" y="5286375"/>
            <a:ext cx="180975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75" b="1">
                <a:solidFill>
                  <a:srgbClr val="F2A3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2A300"/>
                </a:solidFill>
                <a:latin typeface="微软雅黑"/>
                <a:ea typeface="微软雅黑"/>
                <a:cs typeface="微软雅黑"/>
              </a:rPr>
              <a:t>AFD 64K（本次）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5B6D096-6752-4332-850D-D0BA9A20A490}"/>
              </a:ext>
            </a:extLst>
          </p:cNvPr>
          <p:cNvSpPr>
            <a:spLocks noGrp="1"/>
          </p:cNvSpPr>
          <p:nvPr/>
        </p:nvSpPr>
        <p:spPr>
          <a:xfrm>
            <a:off x="2809875" y="5286375"/>
            <a:ext cx="1762125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75" b="1">
                <a:solidFill>
                  <a:srgbClr val="548235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548235"/>
                </a:solidFill>
                <a:latin typeface="微软雅黑"/>
                <a:ea typeface="微软雅黑"/>
                <a:cs typeface="微软雅黑"/>
              </a:rPr>
              <a:t>EP16 DP4TP4 16K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B6E3CA1-1691-4465-B48F-AF3050975481}"/>
              </a:ext>
            </a:extLst>
          </p:cNvPr>
          <p:cNvSpPr>
            <a:spLocks noGrp="1"/>
          </p:cNvSpPr>
          <p:nvPr/>
        </p:nvSpPr>
        <p:spPr>
          <a:xfrm>
            <a:off x="4667250" y="5286375"/>
            <a:ext cx="1762125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75" b="1">
                <a:solidFill>
                  <a:srgbClr val="4472C4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EP16 DP8TP2 16K</a:t>
            </a:r>
          </a:p>
        </p:txBody>
      </p:sp>
      <p:graphicFrame>
        <p:nvGraphicFramePr>
          <p:cNvPr id="53" name="表格 52"/>
          <p:cNvGraphicFramePr/>
          <p:nvPr/>
        </p:nvGraphicFramePr>
        <p:xfrm>
          <a:off x="7029450" y="1724025"/>
          <a:ext cx="4552950" cy="4133850"/>
        </p:xfrm>
        <a:graphic>
          <a:graphicData uri="http://schemas.openxmlformats.org/drawingml/2006/table">
            <a:tbl>
              <a:tblPr/>
              <a:tblGrid>
                <a:gridCol w="47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分位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F2A3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AFD</a:t>
                      </a:r>
                    </a:p>
                    <a:p>
                      <a:pPr algn="ctr"/>
                      <a:r>
                        <a:rPr sz="1163" b="1">
                          <a:solidFill>
                            <a:srgbClr val="F2A3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64K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54823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DP4TP4</a:t>
                      </a:r>
                    </a:p>
                    <a:p>
                      <a:pPr algn="ctr"/>
                      <a:r>
                        <a:rPr sz="1163" b="1">
                          <a:solidFill>
                            <a:srgbClr val="54823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16K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63" b="1">
                          <a:solidFill>
                            <a:srgbClr val="4472C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DP8TP2</a:t>
                      </a:r>
                    </a:p>
                    <a:p>
                      <a:pPr algn="ctr"/>
                      <a:r>
                        <a:rPr sz="1163" b="1">
                          <a:solidFill>
                            <a:srgbClr val="4472C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16K</a:t>
                      </a:r>
                    </a:p>
                  </a:txBody>
                  <a:tcPr marL="28575" marR="28575" marT="9525" marB="9525" anchor="ctr"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rowSpan="5"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0.65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3.55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5.43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4.69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7.06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3.44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7.84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11.34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4.80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9.16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13.31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6.98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12.01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16.57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 rowSpan="5"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1.02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4.69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7.35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1.97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5.82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8.87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6.58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9.60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14.12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8.42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11.05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16.09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11.06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14.08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19.75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7650">
                <a:tc rowSpan="5"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4.81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6.09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7.48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8.41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8.40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9.21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14.76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13.61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14.69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16.80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15.12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16.66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9525" marB="95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20.28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18.25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1111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20.54</a:t>
                      </a:r>
                    </a:p>
                  </a:txBody>
                  <a:tcPr marL="28575" marR="28575" marT="9525" marB="95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1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SYNC PREFILL SUPPLEMENT">
            <a:extLst>
              <a:ext uri="{FF2B5EF4-FFF2-40B4-BE49-F238E27FC236}">
                <a16:creationId xmlns:a16="http://schemas.microsoft.com/office/drawing/2014/main" id="{B7848AF1-AB62-4943-B5C1-5F38AA9C7300}"/>
              </a:ext>
            </a:extLst>
          </p:cNvPr>
          <p:cNvSpPr>
            <a:spLocks noGrp="1"/>
          </p:cNvSpPr>
          <p:nvPr/>
        </p:nvSpPr>
        <p:spPr>
          <a:xfrm>
            <a:off x="609600" y="228600"/>
            <a:ext cx="66675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ASYNC PREFILL RESULTS</a:t>
            </a:r>
          </a:p>
        </p:txBody>
      </p:sp>
      <p:sp>
        <p:nvSpPr>
          <p:cNvPr id="2" name="AFD DP4TP2 + FFN EP8：不同 MBT 与 RPS 的">
            <a:extLst>
              <a:ext uri="{FF2B5EF4-FFF2-40B4-BE49-F238E27FC236}">
                <a16:creationId xmlns:a16="http://schemas.microsoft.com/office/drawing/2014/main" id="{A3975760-FD46-4277-8474-1665EA18DCC6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AFD DP4TP2 + FFN EP8：不同 MBT 与 RPS 的 TTFT</a:t>
            </a:r>
          </a:p>
        </p:txBody>
      </p:sp>
      <p:sp>
        <p:nvSpPr>
          <p:cNvPr id="3" name="补充实验：单机 16 die，dsv4-flash，同一 1,536 ">
            <a:extLst>
              <a:ext uri="{FF2B5EF4-FFF2-40B4-BE49-F238E27FC236}">
                <a16:creationId xmlns:a16="http://schemas.microsoft.com/office/drawing/2014/main" id="{54AECD26-3E6B-4AE4-86B9-06BC050EE852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9728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本次实验：单机 16 die，dsv4-flash，同一 1,536 请求序列，输出 1 token</a:t>
            </a:r>
          </a:p>
        </p:txBody>
      </p:sp>
      <p:sp>
        <p:nvSpPr>
          <p:cNvPr id="4" name="23">
            <a:extLst>
              <a:ext uri="{FF2B5EF4-FFF2-40B4-BE49-F238E27FC236}">
                <a16:creationId xmlns:a16="http://schemas.microsoft.com/office/drawing/2014/main" id="{BE0366D6-4BEE-4144-B7D1-B7291D655C89}"/>
              </a:ext>
            </a:extLst>
          </p:cNvPr>
          <p:cNvSpPr>
            <a:spLocks noGrp="1"/>
          </p:cNvSpPr>
          <p:nvPr/>
        </p:nvSpPr>
        <p:spPr>
          <a:xfrm>
            <a:off x="11239500" y="6524625"/>
            <a:ext cx="333375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  <p:sp>
        <p:nvSpPr>
          <p:cNvPr id="5" name="平均 TTFT（秒）">
            <a:extLst>
              <a:ext uri="{FF2B5EF4-FFF2-40B4-BE49-F238E27FC236}">
                <a16:creationId xmlns:a16="http://schemas.microsoft.com/office/drawing/2014/main" id="{DB663521-9BB3-44D0-8FCE-95EE36ABEBC3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58102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平均 TTFT（秒）</a:t>
            </a:r>
          </a:p>
        </p:txBody>
      </p:sp>
      <p:sp>
        <p:nvSpPr>
          <p:cNvPr id="7" name="每格：均值 / P99（秒）">
            <a:extLst>
              <a:ext uri="{FF2B5EF4-FFF2-40B4-BE49-F238E27FC236}">
                <a16:creationId xmlns:a16="http://schemas.microsoft.com/office/drawing/2014/main" id="{8C19EF28-557A-471C-8FE4-CEBDD3492E1B}"/>
              </a:ext>
            </a:extLst>
          </p:cNvPr>
          <p:cNvSpPr>
            <a:spLocks noGrp="1"/>
          </p:cNvSpPr>
          <p:nvPr/>
        </p:nvSpPr>
        <p:spPr>
          <a:xfrm>
            <a:off x="6667500" y="1524000"/>
            <a:ext cx="48577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每格：均值 / P99（秒）</a:t>
            </a:r>
          </a:p>
        </p:txBody>
      </p:sp>
      <p:graphicFrame>
        <p:nvGraphicFramePr>
          <p:cNvPr id="20" name="表格 17"/>
          <p:cNvGraphicFramePr/>
          <p:nvPr/>
        </p:nvGraphicFramePr>
        <p:xfrm>
          <a:off x="6667500" y="1952625"/>
          <a:ext cx="4905375" cy="2809875"/>
        </p:xfrm>
        <a:graphic>
          <a:graphicData uri="http://schemas.openxmlformats.org/drawingml/2006/table">
            <a:tbl>
              <a:tblPr/>
              <a:tblGrid>
                <a:gridCol w="70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0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19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MBT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2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3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4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1.97 / 7.97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4.00 / 13.68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32.12 / 59.81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1.54 / 7.05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2.63 / 9.98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10.16 / 21.35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1.67 / 7.07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2.77 / 11.01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7.54 / 18.52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1.62 / 6.98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2.90 / 11.06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8.56 / 20.28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PS 2/3：16K 的平均 TTFT 最低&#10;RPS 4：32K 的">
            <a:extLst>
              <a:ext uri="{FF2B5EF4-FFF2-40B4-BE49-F238E27FC236}">
                <a16:creationId xmlns:a16="http://schemas.microsoft.com/office/drawing/2014/main" id="{8EA252A9-EC05-4371-A540-B6AAE087BD3E}"/>
              </a:ext>
            </a:extLst>
          </p:cNvPr>
          <p:cNvSpPr>
            <a:spLocks noGrp="1"/>
          </p:cNvSpPr>
          <p:nvPr/>
        </p:nvSpPr>
        <p:spPr>
          <a:xfrm>
            <a:off x="6667500" y="5000625"/>
            <a:ext cx="4905375" cy="723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RPS 2/3：16K 的平均 TTFT 最低</a:t>
            </a:r>
          </a:p>
          <a:p>
            <a:pPr>
              <a:buNone/>
              <a:defRPr sz="157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RPS 4：32K 的平均值与 P99 最低</a:t>
            </a:r>
          </a:p>
        </p:txBody>
      </p:sp>
      <p:sp>
        <p:nvSpPr>
          <p:cNvPr id="10" name="8K/16K/32K 各 1 轮，64K 为 3 轮均值，节点不同。此">
            <a:extLst>
              <a:ext uri="{FF2B5EF4-FFF2-40B4-BE49-F238E27FC236}">
                <a16:creationId xmlns:a16="http://schemas.microsoft.com/office/drawing/2014/main" id="{344D3376-410F-47BA-9737-29D4B6638869}"/>
              </a:ext>
            </a:extLst>
          </p:cNvPr>
          <p:cNvSpPr>
            <a:spLocks noGrp="1"/>
          </p:cNvSpPr>
          <p:nvPr/>
        </p:nvSpPr>
        <p:spPr>
          <a:xfrm>
            <a:off x="609600" y="6124575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本次 09-08/09 批次：8K/16K/32K 各 1 轮，64K 为 3 轮均值。节点不同，64K 与前页 AFD 数据一致。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="609600" y="1924050"/>
          <a:ext cx="5715000" cy="3476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25649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SYNC PREFILL SUPPLEMENT">
            <a:extLst>
              <a:ext uri="{FF2B5EF4-FFF2-40B4-BE49-F238E27FC236}">
                <a16:creationId xmlns:a16="http://schemas.microsoft.com/office/drawing/2014/main" id="{5A3526C9-CFA4-4EC3-892A-3BF3518A1CD6}"/>
              </a:ext>
            </a:extLst>
          </p:cNvPr>
          <p:cNvSpPr>
            <a:spLocks noGrp="1"/>
          </p:cNvSpPr>
          <p:nvPr/>
        </p:nvSpPr>
        <p:spPr>
          <a:xfrm>
            <a:off x="609600" y="228600"/>
            <a:ext cx="66675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ASYNC PREFILL RESULTS</a:t>
            </a:r>
          </a:p>
        </p:txBody>
      </p:sp>
      <p:sp>
        <p:nvSpPr>
          <p:cNvPr id="2" name="MBT 调整收益：以同一 RPS 的 AFD 64K 为基准">
            <a:extLst>
              <a:ext uri="{FF2B5EF4-FFF2-40B4-BE49-F238E27FC236}">
                <a16:creationId xmlns:a16="http://schemas.microsoft.com/office/drawing/2014/main" id="{309C46C5-AFC1-403A-96F0-5B33F6394D66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MBT 调整收益：以同一 RPS 的 AFD 64K 为基准</a:t>
            </a:r>
          </a:p>
        </p:txBody>
      </p:sp>
      <p:sp>
        <p:nvSpPr>
          <p:cNvPr id="3" name="收益 = 1 − 当前 MBT 的 TTFT / 64K 的 TTFT">
            <a:extLst>
              <a:ext uri="{FF2B5EF4-FFF2-40B4-BE49-F238E27FC236}">
                <a16:creationId xmlns:a16="http://schemas.microsoft.com/office/drawing/2014/main" id="{FC04F203-B735-45F5-A5C7-9631894B48F8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9728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收益 = 1 − 当前 MBT 的 TTFT / 64K 的 TTFT。正值表示延迟降低，负值表示增加</a:t>
            </a:r>
          </a:p>
        </p:txBody>
      </p:sp>
      <p:sp>
        <p:nvSpPr>
          <p:cNvPr id="4" name="24">
            <a:extLst>
              <a:ext uri="{FF2B5EF4-FFF2-40B4-BE49-F238E27FC236}">
                <a16:creationId xmlns:a16="http://schemas.microsoft.com/office/drawing/2014/main" id="{A6A14DCC-8D02-48D8-BCCB-3B908987A413}"/>
              </a:ext>
            </a:extLst>
          </p:cNvPr>
          <p:cNvSpPr>
            <a:spLocks noGrp="1"/>
          </p:cNvSpPr>
          <p:nvPr/>
        </p:nvSpPr>
        <p:spPr>
          <a:xfrm>
            <a:off x="11239500" y="6524625"/>
            <a:ext cx="333375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21</a:t>
            </a:r>
          </a:p>
        </p:txBody>
      </p:sp>
      <p:sp>
        <p:nvSpPr>
          <p:cNvPr id="5" name="每格：平均 TTFT 降幅 / P99 降幅">
            <a:extLst>
              <a:ext uri="{FF2B5EF4-FFF2-40B4-BE49-F238E27FC236}">
                <a16:creationId xmlns:a16="http://schemas.microsoft.com/office/drawing/2014/main" id="{FC21A4BF-45B9-4FCD-9103-360D895DB210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47750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每格：平均 TTFT 降幅 / P99 降幅</a:t>
            </a:r>
          </a:p>
        </p:txBody>
      </p:sp>
      <p:graphicFrame>
        <p:nvGraphicFramePr>
          <p:cNvPr id="17" name="表格 14"/>
          <p:cNvGraphicFramePr/>
          <p:nvPr/>
        </p:nvGraphicFramePr>
        <p:xfrm>
          <a:off x="609600" y="2000250"/>
          <a:ext cx="10972800" cy="247650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81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81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81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MBT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2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3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4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−21.8% / −14.2%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−38.3% / −23.7%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−275.4% / −194.8%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+5.2% / −1.0%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+9.3% / +9.7%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−18.7% / −5.3%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−3.1% / −1.3%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+4.5% / +0.4%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+11.8% / +8.7%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+0.0% / +0.0%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+0.0% / +0.0%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+0.0% / +0.0%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PS=4：32K 相比 64K，平均 TTFT 降低 11.8%，P">
            <a:extLst>
              <a:ext uri="{FF2B5EF4-FFF2-40B4-BE49-F238E27FC236}">
                <a16:creationId xmlns:a16="http://schemas.microsoft.com/office/drawing/2014/main" id="{D6F4C655-51F0-4A16-95A1-4661A6D8A3FA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RPS=4：32K 相比 64K，平均 TTFT 降低 11.8%，P99 降低 8.7%</a:t>
            </a:r>
          </a:p>
        </p:txBody>
      </p:sp>
      <p:sp>
        <p:nvSpPr>
          <p:cNvPr id="8" name="8K 在 RPS=4 的实际 QPS 仅 3.465，平均 TTFT ">
            <a:extLst>
              <a:ext uri="{FF2B5EF4-FFF2-40B4-BE49-F238E27FC236}">
                <a16:creationId xmlns:a16="http://schemas.microsoft.com/office/drawing/2014/main" id="{E4E7AFB2-84FE-4253-A5BD-407E2702490C}"/>
              </a:ext>
            </a:extLst>
          </p:cNvPr>
          <p:cNvSpPr>
            <a:spLocks noGrp="1"/>
          </p:cNvSpPr>
          <p:nvPr/>
        </p:nvSpPr>
        <p:spPr>
          <a:xfrm>
            <a:off x="609600" y="5267325"/>
            <a:ext cx="1095375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8K 在 RPS=4 的实际 QPS 仅 3.465，平均 TTFT 达 32.12 秒。</a:t>
            </a:r>
          </a:p>
          <a:p>
            <a:pPr>
              <a:buNone/>
              <a:def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当前数据支持负载相关的 MBT 选择，尚不能认定单轮最优值具有稳定优势。</a:t>
            </a:r>
          </a:p>
        </p:txBody>
      </p:sp>
      <p:sp>
        <p:nvSpPr>
          <p:cNvPr id="9" name="8K/16K/32K 各 1 轮，64K 为 3 轮均值。这里只比较 ">
            <a:extLst>
              <a:ext uri="{FF2B5EF4-FFF2-40B4-BE49-F238E27FC236}">
                <a16:creationId xmlns:a16="http://schemas.microsoft.com/office/drawing/2014/main" id="{70CC067E-C37D-4726-AEF8-EC1EF871366A}"/>
              </a:ext>
            </a:extLst>
          </p:cNvPr>
          <p:cNvSpPr>
            <a:spLocks noGrp="1"/>
          </p:cNvSpPr>
          <p:nvPr/>
        </p:nvSpPr>
        <p:spPr>
          <a:xfrm>
            <a:off x="609600" y="6124575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本次 09-08/09 批次：8K/16K/32K 各 1 轮，64K 为 3 轮均值。比较 AFD 内部参数收益，节点和轮数不同。</a:t>
            </a:r>
          </a:p>
        </p:txBody>
      </p:sp>
    </p:spTree>
    <p:extLst>
      <p:ext uri="{BB962C8B-B14F-4D97-AF65-F5344CB8AC3E}">
        <p14:creationId xmlns:p14="http://schemas.microsoft.com/office/powerpoint/2010/main" val="82835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SYNC PREFILL SUPPLEMENT">
            <a:extLst>
              <a:ext uri="{FF2B5EF4-FFF2-40B4-BE49-F238E27FC236}">
                <a16:creationId xmlns:a16="http://schemas.microsoft.com/office/drawing/2014/main" id="{D682754E-EAFF-4B91-B44F-2012B6FFCFB4}"/>
              </a:ext>
            </a:extLst>
          </p:cNvPr>
          <p:cNvSpPr>
            <a:spLocks noGrp="1"/>
          </p:cNvSpPr>
          <p:nvPr/>
        </p:nvSpPr>
        <p:spPr>
          <a:xfrm>
            <a:off x="609600" y="228600"/>
            <a:ext cx="66675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ASYNC PREFILL RESULTS</a:t>
            </a:r>
          </a:p>
        </p:txBody>
      </p:sp>
      <p:sp>
        <p:nvSpPr>
          <p:cNvPr id="2" name="64K：RPS 从 3 增至 4，三轮都出现 TTFT 上升">
            <a:extLst>
              <a:ext uri="{FF2B5EF4-FFF2-40B4-BE49-F238E27FC236}">
                <a16:creationId xmlns:a16="http://schemas.microsoft.com/office/drawing/2014/main" id="{1AFC6AC8-2F2E-455C-B2D5-0079B72DE2AB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64K：RPS 从 3 增至 4，三轮都出现 TTFT 上升</a:t>
            </a:r>
          </a:p>
        </p:txBody>
      </p:sp>
      <p:sp>
        <p:nvSpPr>
          <p:cNvPr id="3" name="同一数据集与输入顺序，输出 1 token。RPS=3 为 4,608">
            <a:extLst>
              <a:ext uri="{FF2B5EF4-FFF2-40B4-BE49-F238E27FC236}">
                <a16:creationId xmlns:a16="http://schemas.microsoft.com/office/drawing/2014/main" id="{08609CF5-423E-4E9F-88B2-775233F2347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9728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同一数据集与输入顺序，输出 1 token。RPS=3 为 4,608 成功，RPS=4 为 4,607 成功、1 失败</a:t>
            </a:r>
          </a:p>
        </p:txBody>
      </p:sp>
      <p:sp>
        <p:nvSpPr>
          <p:cNvPr id="4" name="26">
            <a:extLst>
              <a:ext uri="{FF2B5EF4-FFF2-40B4-BE49-F238E27FC236}">
                <a16:creationId xmlns:a16="http://schemas.microsoft.com/office/drawing/2014/main" id="{224C2E61-18E2-4F8B-A6C1-6CBF96DB3783}"/>
              </a:ext>
            </a:extLst>
          </p:cNvPr>
          <p:cNvSpPr>
            <a:spLocks noGrp="1"/>
          </p:cNvSpPr>
          <p:nvPr/>
        </p:nvSpPr>
        <p:spPr>
          <a:xfrm>
            <a:off x="11239500" y="6524625"/>
            <a:ext cx="333375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23</a:t>
            </a:r>
          </a:p>
        </p:txBody>
      </p:sp>
      <p:sp>
        <p:nvSpPr>
          <p:cNvPr id="5" name="三轮均值：平均 2.90s / 8.56s，P50 1.97s / 8">
            <a:extLst>
              <a:ext uri="{FF2B5EF4-FFF2-40B4-BE49-F238E27FC236}">
                <a16:creationId xmlns:a16="http://schemas.microsoft.com/office/drawing/2014/main" id="{C46E32EE-51C4-4AB4-870E-E81CCFB8F1D9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三轮均值：平均 2.90s / 8.56s，P50 1.97s / 8.41s，P99 11.06s / 20.28s</a:t>
            </a:r>
          </a:p>
        </p:txBody>
      </p:sp>
      <p:sp>
        <p:nvSpPr>
          <p:cNvPr id="7" name="逐轮平均 TTFT（秒）">
            <a:extLst>
              <a:ext uri="{FF2B5EF4-FFF2-40B4-BE49-F238E27FC236}">
                <a16:creationId xmlns:a16="http://schemas.microsoft.com/office/drawing/2014/main" id="{0051AAC2-D0CE-4885-BE07-71CC028EC4B3}"/>
              </a:ext>
            </a:extLst>
          </p:cNvPr>
          <p:cNvSpPr>
            <a:spLocks noGrp="1"/>
          </p:cNvSpPr>
          <p:nvPr/>
        </p:nvSpPr>
        <p:spPr>
          <a:xfrm>
            <a:off x="6572250" y="2019300"/>
            <a:ext cx="495300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逐轮平均 TTFT（秒）</a:t>
            </a:r>
          </a:p>
        </p:txBody>
      </p:sp>
      <p:graphicFrame>
        <p:nvGraphicFramePr>
          <p:cNvPr id="21" name="表格 18"/>
          <p:cNvGraphicFramePr/>
          <p:nvPr/>
        </p:nvGraphicFramePr>
        <p:xfrm>
          <a:off x="6572250" y="2466975"/>
          <a:ext cx="5000625" cy="2124076"/>
        </p:xfrm>
        <a:graphic>
          <a:graphicData uri="http://schemas.openxmlformats.org/drawingml/2006/table">
            <a:tbl>
              <a:tblPr/>
              <a:tblGrid>
                <a:gridCol w="90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10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轮次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3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4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倍数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0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2.96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9.84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3.32×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10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2.79×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7.76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2.73×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平均 TTFT 增至 2.95 倍&#10;实际 QPS 仅从 2.980 增">
            <a:extLst>
              <a:ext uri="{FF2B5EF4-FFF2-40B4-BE49-F238E27FC236}">
                <a16:creationId xmlns:a16="http://schemas.microsoft.com/office/drawing/2014/main" id="{49340AA9-18FA-4EBD-811A-A95B18A1840A}"/>
              </a:ext>
            </a:extLst>
          </p:cNvPr>
          <p:cNvSpPr>
            <a:spLocks noGrp="1"/>
          </p:cNvSpPr>
          <p:nvPr/>
        </p:nvSpPr>
        <p:spPr>
          <a:xfrm>
            <a:off x="6572250" y="4857750"/>
            <a:ext cx="5000625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平均 TTFT 增至 2.95 倍</a:t>
            </a:r>
          </a:p>
          <a:p>
            <a:pPr>
              <a:buNone/>
              <a:defRPr sz="16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实际 QPS 仅从 2.980 增至 3.947</a:t>
            </a:r>
          </a:p>
        </p:txBody>
      </p:sp>
      <p:sp>
        <p:nvSpPr>
          <p:cNvPr id="10" name="延迟上升跨三轮复现，不由单个失败请求或单次异常测量造成">
            <a:extLst>
              <a:ext uri="{FF2B5EF4-FFF2-40B4-BE49-F238E27FC236}">
                <a16:creationId xmlns:a16="http://schemas.microsoft.com/office/drawing/2014/main" id="{CC269813-9838-4258-9B0C-DA19AE448E96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9537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延迟上升跨三轮复现，不由单个失败请求或单次异常测量造成</a:t>
            </a:r>
          </a:p>
        </p:txBody>
      </p:sp>
      <p:sp>
        <p:nvSpPr>
          <p:cNvPr id="11" name="分位数先逐轮计算再取均值。失败请求不纳入延迟。请求速率提高 33.3%">
            <a:extLst>
              <a:ext uri="{FF2B5EF4-FFF2-40B4-BE49-F238E27FC236}">
                <a16:creationId xmlns:a16="http://schemas.microsoft.com/office/drawing/2014/main" id="{4B350EAA-0313-41F6-8588-4727A604AB84}"/>
              </a:ext>
            </a:extLst>
          </p:cNvPr>
          <p:cNvSpPr>
            <a:spLocks noGrp="1"/>
          </p:cNvSpPr>
          <p:nvPr/>
        </p:nvSpPr>
        <p:spPr>
          <a:xfrm>
            <a:off x="609600" y="6124575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本次 20260908-rps234：分位数先逐轮计算再取均值，失败请求不纳入延迟。RPS 提高 33.3%，输入序列和输出长度一致。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="609600" y="2076450"/>
          <a:ext cx="5429250" cy="30765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326604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SYNC PREFILL SUPPLEMENT">
            <a:extLst>
              <a:ext uri="{FF2B5EF4-FFF2-40B4-BE49-F238E27FC236}">
                <a16:creationId xmlns:a16="http://schemas.microsoft.com/office/drawing/2014/main" id="{1BF4E696-81FA-4C30-B2D7-C2FE2BED6588}"/>
              </a:ext>
            </a:extLst>
          </p:cNvPr>
          <p:cNvSpPr>
            <a:spLocks noGrp="1"/>
          </p:cNvSpPr>
          <p:nvPr/>
        </p:nvSpPr>
        <p:spPr>
          <a:xfrm>
            <a:off x="609600" y="228600"/>
            <a:ext cx="66675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ASYNC PREFILL RESULTS</a:t>
            </a:r>
          </a:p>
        </p:txBody>
      </p:sp>
      <p:sp>
        <p:nvSpPr>
          <p:cNvPr id="2" name="64K 的 metrics：延迟增长不只发生在首次调度之前">
            <a:extLst>
              <a:ext uri="{FF2B5EF4-FFF2-40B4-BE49-F238E27FC236}">
                <a16:creationId xmlns:a16="http://schemas.microsoft.com/office/drawing/2014/main" id="{8570A461-EF27-4927-A6FE-C84370072465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64K 的 metrics：延迟增长不只发生在首次调度之前</a:t>
            </a:r>
          </a:p>
        </p:txBody>
      </p:sp>
      <p:sp>
        <p:nvSpPr>
          <p:cNvPr id="3" name="Attention API 的 before/after histog">
            <a:extLst>
              <a:ext uri="{FF2B5EF4-FFF2-40B4-BE49-F238E27FC236}">
                <a16:creationId xmlns:a16="http://schemas.microsoft.com/office/drawing/2014/main" id="{AFB48993-D54C-42BB-BABC-BEAFF62484A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9728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Attention API 的 before/after histogram 差分，先求每轮 sum/count，再取三轮均值</a:t>
            </a:r>
          </a:p>
        </p:txBody>
      </p:sp>
      <p:sp>
        <p:nvSpPr>
          <p:cNvPr id="4" name="27">
            <a:extLst>
              <a:ext uri="{FF2B5EF4-FFF2-40B4-BE49-F238E27FC236}">
                <a16:creationId xmlns:a16="http://schemas.microsoft.com/office/drawing/2014/main" id="{7CB753E8-A937-44AD-B687-D2AA5A5870C7}"/>
              </a:ext>
            </a:extLst>
          </p:cNvPr>
          <p:cNvSpPr>
            <a:spLocks noGrp="1"/>
          </p:cNvSpPr>
          <p:nvPr/>
        </p:nvSpPr>
        <p:spPr>
          <a:xfrm>
            <a:off x="11239500" y="6524625"/>
            <a:ext cx="333375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24</a:t>
            </a:r>
          </a:p>
        </p:txBody>
      </p:sp>
      <p:graphicFrame>
        <p:nvGraphicFramePr>
          <p:cNvPr id="15" name="表格 12"/>
          <p:cNvGraphicFramePr/>
          <p:nvPr/>
        </p:nvGraphicFramePr>
        <p:xfrm>
          <a:off x="609600" y="1790700"/>
          <a:ext cx="10972800" cy="2133600"/>
        </p:xfrm>
        <a:graphic>
          <a:graphicData uri="http://schemas.openxmlformats.org/drawingml/2006/table">
            <a:tbl>
              <a:tblPr/>
              <a:tblGrid>
                <a:gridCol w="4429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指标（秒）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3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4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增量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首次调度前 queue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0.0005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0.3173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+0.3168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首次调度后 prefill 区间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2.0429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6.0672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+4.0243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API TTFT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2.8759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8.4676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+5.5916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排队均值增加约 0.32 秒，prefill 区间增加约 4.02 秒">
            <a:extLst>
              <a:ext uri="{FF2B5EF4-FFF2-40B4-BE49-F238E27FC236}">
                <a16:creationId xmlns:a16="http://schemas.microsoft.com/office/drawing/2014/main" id="{FD4BB586-9408-428D-97AB-18FA677D150A}"/>
              </a:ext>
            </a:extLst>
          </p:cNvPr>
          <p:cNvSpPr>
            <a:spLocks noGrp="1"/>
          </p:cNvSpPr>
          <p:nvPr/>
        </p:nvSpPr>
        <p:spPr>
          <a:xfrm>
            <a:off x="609600" y="4238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排队均值增加约 0.32 秒，prefill 区间增加约 4.02 秒</a:t>
            </a:r>
          </a:p>
        </p:txBody>
      </p:sp>
      <p:sp>
        <p:nvSpPr>
          <p:cNvPr id="7" name="queue：QUEUED 到首次 SCHEDULED&#10;prefill：">
            <a:extLst>
              <a:ext uri="{FF2B5EF4-FFF2-40B4-BE49-F238E27FC236}">
                <a16:creationId xmlns:a16="http://schemas.microsoft.com/office/drawing/2014/main" id="{B47B7317-1EAF-4DDB-B802-CFC520C2C36C}"/>
              </a:ext>
            </a:extLst>
          </p:cNvPr>
          <p:cNvSpPr>
            <a:spLocks noGrp="1"/>
          </p:cNvSpPr>
          <p:nvPr/>
        </p:nvSpPr>
        <p:spPr>
          <a:xfrm>
            <a:off x="609600" y="4800600"/>
            <a:ext cx="10953750" cy="1009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queue：QUEUED 到首次 SCHEDULED</a:t>
            </a:r>
          </a:p>
          <a:p>
            <a:pPr>
              <a:buNone/>
              <a:defRPr sz="1575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prefill：首次 SCHEDULED 到首个 NEW_TOKEN，包含期间等待和抢占</a:t>
            </a:r>
          </a:p>
          <a:p>
            <a:pPr>
              <a:buNone/>
              <a:defRPr sz="1575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因此，prefill 增长不能直接解释为 Attention、FFN 或通信中的某一项变慢</a:t>
            </a:r>
          </a:p>
        </p:txBody>
      </p:sp>
      <p:sp>
        <p:nvSpPr>
          <p:cNvPr id="8" name="窗口包含每轮 16 个 warmup，与客户端纯正式请求统计略有差异。">
            <a:extLst>
              <a:ext uri="{FF2B5EF4-FFF2-40B4-BE49-F238E27FC236}">
                <a16:creationId xmlns:a16="http://schemas.microsoft.com/office/drawing/2014/main" id="{7371D443-E05E-4EF0-BAF1-B41E066B5A8C}"/>
              </a:ext>
            </a:extLst>
          </p:cNvPr>
          <p:cNvSpPr>
            <a:spLocks noGrp="1"/>
          </p:cNvSpPr>
          <p:nvPr/>
        </p:nvSpPr>
        <p:spPr>
          <a:xfrm>
            <a:off x="609600" y="6124575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本次 20260908-rps234 metrics。窗口含每轮 16 个 warmup，与客户端正式请求口径不同。各区间不直接相加，也不代表纯算子耗时。</a:t>
            </a:r>
          </a:p>
        </p:txBody>
      </p:sp>
    </p:spTree>
    <p:extLst>
      <p:ext uri="{BB962C8B-B14F-4D97-AF65-F5344CB8AC3E}">
        <p14:creationId xmlns:p14="http://schemas.microsoft.com/office/powerpoint/2010/main" val="13739793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SYNC PREFILL SUPPLEMENT">
            <a:extLst>
              <a:ext uri="{FF2B5EF4-FFF2-40B4-BE49-F238E27FC236}">
                <a16:creationId xmlns:a16="http://schemas.microsoft.com/office/drawing/2014/main" id="{893D657A-4879-44C9-9F6E-C2A5F33DADD9}"/>
              </a:ext>
            </a:extLst>
          </p:cNvPr>
          <p:cNvSpPr>
            <a:spLocks noGrp="1"/>
          </p:cNvSpPr>
          <p:nvPr/>
        </p:nvSpPr>
        <p:spPr>
          <a:xfrm>
            <a:off x="609600" y="228600"/>
            <a:ext cx="66675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1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ASYNC PREFILL RESULTS</a:t>
            </a:r>
          </a:p>
        </p:txBody>
      </p:sp>
      <p:sp>
        <p:nvSpPr>
          <p:cNvPr id="2" name="64K 的请求级证据：短请求也变慢，共同调度与跨步增加">
            <a:extLst>
              <a:ext uri="{FF2B5EF4-FFF2-40B4-BE49-F238E27FC236}">
                <a16:creationId xmlns:a16="http://schemas.microsoft.com/office/drawing/2014/main" id="{AA47EC1D-A6EE-4B0B-8E63-50477496A183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64K 的请求级证据：短请求也变慢，共同调度与跨步增加</a:t>
            </a:r>
          </a:p>
        </p:txBody>
      </p:sp>
      <p:sp>
        <p:nvSpPr>
          <p:cNvPr id="3" name="合并三轮成功请求。长度固定，指标 M(r)=输入长度 / 所有包含该请">
            <a:extLst>
              <a:ext uri="{FF2B5EF4-FFF2-40B4-BE49-F238E27FC236}">
                <a16:creationId xmlns:a16="http://schemas.microsoft.com/office/drawing/2014/main" id="{EE5BC818-C16F-4FC5-9C78-B46DD60E5CBC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09728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M(r) = 请求 r 的输入 token 数 ÷ Σ（包含 r 的每个 step 的 batch 总 token 数）</a:t>
            </a:r>
          </a:p>
          <a:p>
            <a:pPr>
              <a:buNone/>
              <a:def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按请求所属 DP rank 的 batch 计算；逐请求算出 M(r)，再对三轮成功请求取均值。</a:t>
            </a:r>
          </a:p>
        </p:txBody>
      </p:sp>
      <p:sp>
        <p:nvSpPr>
          <p:cNvPr id="4" name="28">
            <a:extLst>
              <a:ext uri="{FF2B5EF4-FFF2-40B4-BE49-F238E27FC236}">
                <a16:creationId xmlns:a16="http://schemas.microsoft.com/office/drawing/2014/main" id="{F13EDE37-DDF7-44EC-A6E9-B7B392A14C01}"/>
              </a:ext>
            </a:extLst>
          </p:cNvPr>
          <p:cNvSpPr>
            <a:spLocks noGrp="1"/>
          </p:cNvSpPr>
          <p:nvPr/>
        </p:nvSpPr>
        <p:spPr>
          <a:xfrm>
            <a:off x="11239500" y="6524625"/>
            <a:ext cx="333375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  <p:sp>
        <p:nvSpPr>
          <p:cNvPr id="5" name="按输入长度的 P50 TTFT（秒）">
            <a:extLst>
              <a:ext uri="{FF2B5EF4-FFF2-40B4-BE49-F238E27FC236}">
                <a16:creationId xmlns:a16="http://schemas.microsoft.com/office/drawing/2014/main" id="{50C86D8D-6E28-4519-8332-F3832ABA80B2}"/>
              </a:ext>
            </a:extLst>
          </p:cNvPr>
          <p:cNvSpPr>
            <a:spLocks noGrp="1"/>
          </p:cNvSpPr>
          <p:nvPr/>
        </p:nvSpPr>
        <p:spPr>
          <a:xfrm>
            <a:off x="609600" y="1590675"/>
            <a:ext cx="609600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按输入长度的 P50 TTFT（秒）</a:t>
            </a:r>
          </a:p>
        </p:txBody>
      </p:sp>
      <p:graphicFrame>
        <p:nvGraphicFramePr>
          <p:cNvPr id="20" name="表格 16"/>
          <p:cNvGraphicFramePr/>
          <p:nvPr/>
        </p:nvGraphicFramePr>
        <p:xfrm>
          <a:off x="609600" y="2009775"/>
          <a:ext cx="5810250" cy="3048003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542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输入长度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3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4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倍数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42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&lt;2K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8.09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6.57×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42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2–4K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6.50×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42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4–8K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7.49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5.72×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42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8–16K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4.73×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42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16–32K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3.09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9.22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2.98×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42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32–64K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1.91×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chedulerStep 日志统计">
            <a:extLst>
              <a:ext uri="{FF2B5EF4-FFF2-40B4-BE49-F238E27FC236}">
                <a16:creationId xmlns:a16="http://schemas.microsoft.com/office/drawing/2014/main" id="{CACE8672-6EC0-4958-BAB9-D64B6A7CF274}"/>
              </a:ext>
            </a:extLst>
          </p:cNvPr>
          <p:cNvSpPr>
            <a:spLocks noGrp="1"/>
          </p:cNvSpPr>
          <p:nvPr/>
        </p:nvSpPr>
        <p:spPr>
          <a:xfrm>
            <a:off x="6762750" y="1590675"/>
            <a:ext cx="481012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SchedulerStep 日志统计</a:t>
            </a:r>
          </a:p>
        </p:txBody>
      </p:sp>
      <p:graphicFrame>
        <p:nvGraphicFramePr>
          <p:cNvPr id="22" name="表格 18"/>
          <p:cNvGraphicFramePr/>
          <p:nvPr/>
        </p:nvGraphicFramePr>
        <p:xfrm>
          <a:off x="6762750" y="2009775"/>
          <a:ext cx="4810125" cy="2152652"/>
        </p:xfrm>
        <a:graphic>
          <a:graphicData uri="http://schemas.openxmlformats.org/drawingml/2006/table">
            <a:tbl>
              <a:tblPr/>
              <a:tblGrid>
                <a:gridCol w="2333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1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3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 4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1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跨步请求数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1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跨步请求占比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1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M(r) 均值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73.18%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29.57%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更低的 M(r) 表示相关 batch 中&#10;其他请求 token 的相">
            <a:extLst>
              <a:ext uri="{FF2B5EF4-FFF2-40B4-BE49-F238E27FC236}">
                <a16:creationId xmlns:a16="http://schemas.microsoft.com/office/drawing/2014/main" id="{A0FAF2DB-6442-4BFF-BF2F-DE15D421D91F}"/>
              </a:ext>
            </a:extLst>
          </p:cNvPr>
          <p:cNvSpPr>
            <a:spLocks noGrp="1"/>
          </p:cNvSpPr>
          <p:nvPr/>
        </p:nvSpPr>
        <p:spPr>
          <a:xfrm>
            <a:off x="6762750" y="4457700"/>
            <a:ext cx="4810125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计算示例：请求输入长度为 4K</a:t>
            </a:r>
          </a:p>
          <a:p>
            <a:pPr>
              <a:buNone/>
              <a:defRPr sz="135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单步 batch=16K：4K ÷ 16K = 25%</a:t>
            </a:r>
          </a:p>
          <a:p>
            <a:pPr>
              <a:buNone/>
              <a:defRPr sz="135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跨步 batch=16K、8K：4K ÷ (16K+8K) = 16.7%</a:t>
            </a:r>
          </a:p>
          <a:p>
            <a:pPr>
              <a:buNone/>
              <a:defRPr sz="135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每个包含该请求的 step，计入完整 batch 总量</a:t>
            </a:r>
          </a:p>
        </p:txBody>
      </p:sp>
      <p:sp>
        <p:nvSpPr>
          <p:cNvPr id="10" name="证据支持请求间共同调度增多、跨步增多与延迟上升同时出现；具体瓶颈仍需逐">
            <a:extLst>
              <a:ext uri="{FF2B5EF4-FFF2-40B4-BE49-F238E27FC236}">
                <a16:creationId xmlns:a16="http://schemas.microsoft.com/office/drawing/2014/main" id="{769ED8FA-CDB2-42D7-91EF-BD94CEDBA1D0}"/>
              </a:ext>
            </a:extLst>
          </p:cNvPr>
          <p:cNvSpPr>
            <a:spLocks noGrp="1"/>
          </p:cNvSpPr>
          <p:nvPr/>
        </p:nvSpPr>
        <p:spPr>
          <a:xfrm>
            <a:off x="609600" y="5514975"/>
            <a:ext cx="109537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证据支持请求间共同调度增多、跨步增多与延迟上升同时出现；具体瓶颈仍需逐步耗时分析</a:t>
            </a:r>
          </a:p>
        </p:txBody>
      </p:sp>
      <p:sp>
        <p:nvSpPr>
          <p:cNvPr id="11" name="K=1024，区间左闭右开。此页为合并请求分位数。日志已排除 warm">
            <a:extLst>
              <a:ext uri="{FF2B5EF4-FFF2-40B4-BE49-F238E27FC236}">
                <a16:creationId xmlns:a16="http://schemas.microsoft.com/office/drawing/2014/main" id="{42E10E81-3009-4E55-9E3D-E534268848A5}"/>
              </a:ext>
            </a:extLst>
          </p:cNvPr>
          <p:cNvSpPr>
            <a:spLocks noGrp="1"/>
          </p:cNvSpPr>
          <p:nvPr/>
        </p:nvSpPr>
        <p:spPr>
          <a:xfrm>
            <a:off x="609600" y="6124575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本次 20260908-rps234。M(r) 不含耗时，不能解释为空泡率。K=1024，长度区间左闭右开。</a:t>
            </a:r>
          </a:p>
          <a:p>
            <a:pPr>
              <a:buNone/>
              <a:def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777777"/>
                </a:solidFill>
                <a:latin typeface="微软雅黑"/>
                <a:ea typeface="微软雅黑"/>
                <a:cs typeface="微软雅黑"/>
              </a:rPr>
              <a:t>TTFT 合并三轮成功请求取分位数；SchedulerStep 已排除 warmup，逐请求核对 chunk token 之和等于输入长度。</a:t>
            </a:r>
          </a:p>
        </p:txBody>
      </p:sp>
    </p:spTree>
    <p:extLst>
      <p:ext uri="{BB962C8B-B14F-4D97-AF65-F5344CB8AC3E}">
        <p14:creationId xmlns:p14="http://schemas.microsoft.com/office/powerpoint/2010/main" val="17876180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17">
            <a:extLst>
              <a:ext uri="{FF2B5EF4-FFF2-40B4-BE49-F238E27FC236}">
                <a16:creationId xmlns:a16="http://schemas.microsoft.com/office/drawing/2014/main" id="{0D3768A1-BD99-41B9-9FB9-CE3753329B63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ASYNC PREFILL RESULTS</a:t>
            </a:r>
          </a:p>
        </p:txBody>
      </p:sp>
      <p:sp>
        <p:nvSpPr>
          <p:cNvPr id="2" name="title-17">
            <a:extLst>
              <a:ext uri="{FF2B5EF4-FFF2-40B4-BE49-F238E27FC236}">
                <a16:creationId xmlns:a16="http://schemas.microsoft.com/office/drawing/2014/main" id="{4A940E7D-4EB6-4EFB-B7BB-EA679604AF5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AFD DP6TP4 与双 EP16 + Router：TTFT 分位对比（对照 MBT 4K）</a:t>
            </a:r>
          </a:p>
        </p:txBody>
      </p:sp>
      <p:sp>
        <p:nvSpPr>
          <p:cNvPr id="3" name="title-rule-17">
            <a:extLst>
              <a:ext uri="{FF2B5EF4-FFF2-40B4-BE49-F238E27FC236}">
                <a16:creationId xmlns:a16="http://schemas.microsoft.com/office/drawing/2014/main" id="{B8004A69-C6F4-4D33-93D1-D40D1415CD2D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4" name="metadata-bg-17">
            <a:extLst>
              <a:ext uri="{FF2B5EF4-FFF2-40B4-BE49-F238E27FC236}">
                <a16:creationId xmlns:a16="http://schemas.microsoft.com/office/drawing/2014/main" id="{92312FF3-D753-4DA2-953F-9D7FF43FBF9E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972800" cy="40005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model-17">
            <a:extLst>
              <a:ext uri="{FF2B5EF4-FFF2-40B4-BE49-F238E27FC236}">
                <a16:creationId xmlns:a16="http://schemas.microsoft.com/office/drawing/2014/main" id="{293190B1-48B8-415C-81C3-FB6671F64ACF}"/>
              </a:ext>
            </a:extLst>
          </p:cNvPr>
          <p:cNvSpPr>
            <a:spLocks noGrp="1"/>
          </p:cNvSpPr>
          <p:nvPr/>
        </p:nvSpPr>
        <p:spPr>
          <a:xfrm>
            <a:off x="800100" y="10953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模型：dsv4-flash</a:t>
            </a:r>
          </a:p>
        </p:txBody>
      </p:sp>
      <p:sp>
        <p:nvSpPr>
          <p:cNvPr id="6" name="comparison-17">
            <a:extLst>
              <a:ext uri="{FF2B5EF4-FFF2-40B4-BE49-F238E27FC236}">
                <a16:creationId xmlns:a16="http://schemas.microsoft.com/office/drawing/2014/main" id="{E06A990F-D0A1-42CB-BE6B-C99A314E83EF}"/>
              </a:ext>
            </a:extLst>
          </p:cNvPr>
          <p:cNvSpPr>
            <a:spLocks noGrp="1"/>
          </p:cNvSpPr>
          <p:nvPr/>
        </p:nvSpPr>
        <p:spPr>
          <a:xfrm>
            <a:off x="3143250" y="109537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4F8A1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4F8A10"/>
                </a:solidFill>
                <a:latin typeface="微软雅黑"/>
                <a:ea typeface="微软雅黑"/>
                <a:cs typeface="微软雅黑"/>
              </a:rPr>
              <a:t>对比：AFD DP6TP4 + EP8（PR #320） vs. 2×DP4TP4 EP16 + Router</a:t>
            </a:r>
          </a:p>
        </p:txBody>
      </p:sp>
      <p:sp>
        <p:nvSpPr>
          <p:cNvPr id="7" name="hardware-17">
            <a:extLst>
              <a:ext uri="{FF2B5EF4-FFF2-40B4-BE49-F238E27FC236}">
                <a16:creationId xmlns:a16="http://schemas.microsoft.com/office/drawing/2014/main" id="{DC718C29-9817-42D2-B6C0-D202DA39DA82}"/>
              </a:ext>
            </a:extLst>
          </p:cNvPr>
          <p:cNvSpPr>
            <a:spLocks noGrp="1"/>
          </p:cNvSpPr>
          <p:nvPr/>
        </p:nvSpPr>
        <p:spPr>
          <a:xfrm>
            <a:off x="9144000" y="1095375"/>
            <a:ext cx="2247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rPr>
              <a:t>硬件：Ascend 910C</a:t>
            </a:r>
          </a:p>
        </p:txBody>
      </p:sp>
      <p:sp>
        <p:nvSpPr>
          <p:cNvPr id="8" name="chart-heading-17">
            <a:extLst>
              <a:ext uri="{FF2B5EF4-FFF2-40B4-BE49-F238E27FC236}">
                <a16:creationId xmlns:a16="http://schemas.microsoft.com/office/drawing/2014/main" id="{B9214888-08CB-4123-8011-3E8D9A6EDD40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7162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不同 RPS 下的 TTFT 分位点（纵轴：秒）</a:t>
            </a:r>
          </a:p>
        </p:txBody>
      </p:sp>
      <p:sp>
        <p:nvSpPr>
          <p:cNvPr id="9" name="table-heading-17">
            <a:extLst>
              <a:ext uri="{FF2B5EF4-FFF2-40B4-BE49-F238E27FC236}">
                <a16:creationId xmlns:a16="http://schemas.microsoft.com/office/drawing/2014/main" id="{E2186602-565F-4259-9209-3FD5896CC801}"/>
              </a:ext>
            </a:extLst>
          </p:cNvPr>
          <p:cNvSpPr>
            <a:spLocks noGrp="1"/>
          </p:cNvSpPr>
          <p:nvPr/>
        </p:nvSpPr>
        <p:spPr>
          <a:xfrm>
            <a:off x="7772400" y="14668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TTFT 明细（秒）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="609600" y="1724025"/>
          <a:ext cx="223837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"/>
          <p:cNvGraphicFramePr/>
          <p:nvPr/>
        </p:nvGraphicFramePr>
        <p:xfrm>
          <a:off x="3019425" y="1724025"/>
          <a:ext cx="223837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="5429250" y="1724025"/>
          <a:ext cx="223837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4" name="Chart"/>
          <p:cNvGraphicFramePr/>
          <p:nvPr/>
        </p:nvGraphicFramePr>
        <p:xfrm>
          <a:off x="990600" y="3524250"/>
          <a:ext cx="3048000" cy="1809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="4238625" y="3524250"/>
          <a:ext cx="3048000" cy="1809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6" name="ttft-table-17"/>
          <p:cNvGraphicFramePr/>
          <p:nvPr/>
        </p:nvGraphicFramePr>
        <p:xfrm>
          <a:off x="7772400" y="1724025"/>
          <a:ext cx="3810000" cy="4191008"/>
        </p:xfrm>
        <a:graphic>
          <a:graphicData uri="http://schemas.openxmlformats.org/drawingml/2006/table">
            <a:tbl>
              <a:tblPr/>
              <a:tblGrid>
                <a:gridCol w="53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3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3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93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分位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AFD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对照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938">
                <a:tc rowSpan="5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1.24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1.09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1.75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1.75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4.06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4.52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5.26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5.76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7.13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8.15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938">
                <a:tc rowSpan="5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1.79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3.36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2.96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7.18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6.78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8.51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8.29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11.27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10.82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938">
                <a:tc rowSpan="5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8.18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12.12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10.96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17.85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17.82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28.61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20.01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30.99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24.96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35.73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8" name="conclusion-17">
            <a:extLst>
              <a:ext uri="{FF2B5EF4-FFF2-40B4-BE49-F238E27FC236}">
                <a16:creationId xmlns:a16="http://schemas.microsoft.com/office/drawing/2014/main" id="{907CF657-EDBF-42BD-A46D-41EBB2F4D8D4}"/>
              </a:ext>
            </a:extLst>
          </p:cNvPr>
          <p:cNvSpPr>
            <a:spLocks noGrp="1"/>
          </p:cNvSpPr>
          <p:nvPr/>
        </p:nvSpPr>
        <p:spPr>
          <a:xfrm>
            <a:off x="609600" y="5486400"/>
            <a:ext cx="69532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AFD 的 P99 在 RPS 4/8 分别低 13%/30%；RPS 6 时高 4%。</a:t>
            </a:r>
          </a:p>
        </p:txBody>
      </p:sp>
      <p:sp>
        <p:nvSpPr>
          <p:cNvPr id="19" name="settings-17">
            <a:extLst>
              <a:ext uri="{FF2B5EF4-FFF2-40B4-BE49-F238E27FC236}">
                <a16:creationId xmlns:a16="http://schemas.microsoft.com/office/drawing/2014/main" id="{9F92EBF5-9B4B-481C-ABA9-6F44C7B77BD5}"/>
              </a:ext>
            </a:extLst>
          </p:cNvPr>
          <p:cNvSpPr>
            <a:spLocks noGrp="1"/>
          </p:cNvSpPr>
          <p:nvPr/>
        </p:nvSpPr>
        <p:spPr>
          <a:xfrm>
            <a:off x="609600" y="593407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测试设置：AFD MBT=64K、PR #320 repeat 1/2/3 均值；对照 MBT=4K、重复实验均值；表内单位：秒，红色粗体为同 RPS/分位点最优</a:t>
            </a:r>
          </a:p>
        </p:txBody>
      </p:sp>
      <p:sp>
        <p:nvSpPr>
          <p:cNvPr id="20" name="source-17">
            <a:extLst>
              <a:ext uri="{FF2B5EF4-FFF2-40B4-BE49-F238E27FC236}">
                <a16:creationId xmlns:a16="http://schemas.microsoft.com/office/drawing/2014/main" id="{8BED04DD-B3AD-4D8C-9EBB-50EBD89A421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7239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00" b="0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600" b="0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来源：dsv4-flash 最新实验结果（2026-09-08）</a:t>
            </a:r>
          </a:p>
        </p:txBody>
      </p:sp>
      <p:sp>
        <p:nvSpPr>
          <p:cNvPr id="21" name="page-17">
            <a:extLst>
              <a:ext uri="{FF2B5EF4-FFF2-40B4-BE49-F238E27FC236}">
                <a16:creationId xmlns:a16="http://schemas.microsoft.com/office/drawing/2014/main" id="{81EA0DAA-226F-41D6-BF7B-89A2F5FCBE33}"/>
              </a:ext>
            </a:extLst>
          </p:cNvPr>
          <p:cNvSpPr>
            <a:spLocks noGrp="1"/>
          </p:cNvSpPr>
          <p:nvPr/>
        </p:nvSpPr>
        <p:spPr>
          <a:xfrm>
            <a:off x="11315700" y="655320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675" b="0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675" b="0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719850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18">
            <a:extLst>
              <a:ext uri="{FF2B5EF4-FFF2-40B4-BE49-F238E27FC236}">
                <a16:creationId xmlns:a16="http://schemas.microsoft.com/office/drawing/2014/main" id="{F2C4C278-A124-443A-A8E1-9383C99425AE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ASYNC PREFILL RESULTS</a:t>
            </a:r>
          </a:p>
        </p:txBody>
      </p:sp>
      <p:sp>
        <p:nvSpPr>
          <p:cNvPr id="2" name="title-18">
            <a:extLst>
              <a:ext uri="{FF2B5EF4-FFF2-40B4-BE49-F238E27FC236}">
                <a16:creationId xmlns:a16="http://schemas.microsoft.com/office/drawing/2014/main" id="{6F84FD28-6329-4B6B-A1B5-65D9AA10198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AFD DP6TP4 与双 EP16 + Router：TTFT 分位对比（对照 MBT 8K）</a:t>
            </a:r>
          </a:p>
        </p:txBody>
      </p:sp>
      <p:sp>
        <p:nvSpPr>
          <p:cNvPr id="3" name="title-rule-18">
            <a:extLst>
              <a:ext uri="{FF2B5EF4-FFF2-40B4-BE49-F238E27FC236}">
                <a16:creationId xmlns:a16="http://schemas.microsoft.com/office/drawing/2014/main" id="{F713F5C3-13EF-49E9-B294-7C1F1B35DFD7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4" name="metadata-bg-18">
            <a:extLst>
              <a:ext uri="{FF2B5EF4-FFF2-40B4-BE49-F238E27FC236}">
                <a16:creationId xmlns:a16="http://schemas.microsoft.com/office/drawing/2014/main" id="{FE6EF45F-1403-4667-A9EF-C6D54C54002A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972800" cy="40005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model-18">
            <a:extLst>
              <a:ext uri="{FF2B5EF4-FFF2-40B4-BE49-F238E27FC236}">
                <a16:creationId xmlns:a16="http://schemas.microsoft.com/office/drawing/2014/main" id="{7D94F177-2631-44AE-968B-C71AF0E50119}"/>
              </a:ext>
            </a:extLst>
          </p:cNvPr>
          <p:cNvSpPr>
            <a:spLocks noGrp="1"/>
          </p:cNvSpPr>
          <p:nvPr/>
        </p:nvSpPr>
        <p:spPr>
          <a:xfrm>
            <a:off x="800100" y="10953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模型：dsv4-flash</a:t>
            </a:r>
          </a:p>
        </p:txBody>
      </p:sp>
      <p:sp>
        <p:nvSpPr>
          <p:cNvPr id="6" name="comparison-18">
            <a:extLst>
              <a:ext uri="{FF2B5EF4-FFF2-40B4-BE49-F238E27FC236}">
                <a16:creationId xmlns:a16="http://schemas.microsoft.com/office/drawing/2014/main" id="{8010A12F-292D-4116-B34D-E6BA50C6A1A2}"/>
              </a:ext>
            </a:extLst>
          </p:cNvPr>
          <p:cNvSpPr>
            <a:spLocks noGrp="1"/>
          </p:cNvSpPr>
          <p:nvPr/>
        </p:nvSpPr>
        <p:spPr>
          <a:xfrm>
            <a:off x="3143250" y="109537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4F8A1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4F8A10"/>
                </a:solidFill>
                <a:latin typeface="微软雅黑"/>
                <a:ea typeface="微软雅黑"/>
                <a:cs typeface="微软雅黑"/>
              </a:rPr>
              <a:t>对比：AFD DP6TP4 + EP8（PR #320） vs. 2×DP4TP4 EP16 + Router</a:t>
            </a:r>
          </a:p>
        </p:txBody>
      </p:sp>
      <p:sp>
        <p:nvSpPr>
          <p:cNvPr id="7" name="hardware-18">
            <a:extLst>
              <a:ext uri="{FF2B5EF4-FFF2-40B4-BE49-F238E27FC236}">
                <a16:creationId xmlns:a16="http://schemas.microsoft.com/office/drawing/2014/main" id="{E7153B51-32BB-42F6-9EFB-F38B9229A00D}"/>
              </a:ext>
            </a:extLst>
          </p:cNvPr>
          <p:cNvSpPr>
            <a:spLocks noGrp="1"/>
          </p:cNvSpPr>
          <p:nvPr/>
        </p:nvSpPr>
        <p:spPr>
          <a:xfrm>
            <a:off x="9144000" y="1095375"/>
            <a:ext cx="2247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rPr>
              <a:t>硬件：Ascend 910C</a:t>
            </a:r>
          </a:p>
        </p:txBody>
      </p:sp>
      <p:sp>
        <p:nvSpPr>
          <p:cNvPr id="8" name="chart-heading-18">
            <a:extLst>
              <a:ext uri="{FF2B5EF4-FFF2-40B4-BE49-F238E27FC236}">
                <a16:creationId xmlns:a16="http://schemas.microsoft.com/office/drawing/2014/main" id="{31D45F62-5FD5-41B1-BDBA-C2A517C95837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7162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不同 RPS 下的 TTFT 分位点（纵轴：秒）</a:t>
            </a:r>
          </a:p>
        </p:txBody>
      </p:sp>
      <p:sp>
        <p:nvSpPr>
          <p:cNvPr id="9" name="table-heading-18">
            <a:extLst>
              <a:ext uri="{FF2B5EF4-FFF2-40B4-BE49-F238E27FC236}">
                <a16:creationId xmlns:a16="http://schemas.microsoft.com/office/drawing/2014/main" id="{103F53E9-19D1-437C-AF26-489748BEFE13}"/>
              </a:ext>
            </a:extLst>
          </p:cNvPr>
          <p:cNvSpPr>
            <a:spLocks noGrp="1"/>
          </p:cNvSpPr>
          <p:nvPr/>
        </p:nvSpPr>
        <p:spPr>
          <a:xfrm>
            <a:off x="7772400" y="14668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TTFT 明细（秒）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="609600" y="1724025"/>
          <a:ext cx="223837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"/>
          <p:cNvGraphicFramePr/>
          <p:nvPr/>
        </p:nvGraphicFramePr>
        <p:xfrm>
          <a:off x="3019425" y="1724025"/>
          <a:ext cx="223837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="5429250" y="1724025"/>
          <a:ext cx="223837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4" name="Chart"/>
          <p:cNvGraphicFramePr/>
          <p:nvPr/>
        </p:nvGraphicFramePr>
        <p:xfrm>
          <a:off x="990600" y="3524250"/>
          <a:ext cx="3048000" cy="1809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="4238625" y="3524250"/>
          <a:ext cx="3048000" cy="1809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6" name="ttft-table-18"/>
          <p:cNvGraphicFramePr/>
          <p:nvPr/>
        </p:nvGraphicFramePr>
        <p:xfrm>
          <a:off x="7772400" y="1724025"/>
          <a:ext cx="3810000" cy="4191008"/>
        </p:xfrm>
        <a:graphic>
          <a:graphicData uri="http://schemas.openxmlformats.org/drawingml/2006/table">
            <a:tbl>
              <a:tblPr/>
              <a:tblGrid>
                <a:gridCol w="53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3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3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93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分位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AFD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对照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938">
                <a:tc rowSpan="5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1.24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1.77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1.75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2.58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4.06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5.21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5.26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6.48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7.13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8.76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938">
                <a:tc rowSpan="5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2.60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3.36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3.61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7.18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7.37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8.51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8.88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11.27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11.46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938">
                <a:tc rowSpan="5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8.18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5.39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10.96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7.42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17.82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12.16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20.01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13.83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24.96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16.79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8" name="conclusion-18">
            <a:extLst>
              <a:ext uri="{FF2B5EF4-FFF2-40B4-BE49-F238E27FC236}">
                <a16:creationId xmlns:a16="http://schemas.microsoft.com/office/drawing/2014/main" id="{CB82F372-B84A-4DEA-BBA6-74B4F60CC2E0}"/>
              </a:ext>
            </a:extLst>
          </p:cNvPr>
          <p:cNvSpPr>
            <a:spLocks noGrp="1"/>
          </p:cNvSpPr>
          <p:nvPr/>
        </p:nvSpPr>
        <p:spPr>
          <a:xfrm>
            <a:off x="609600" y="5486400"/>
            <a:ext cx="69532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AFD 的 P99 在 RPS 4/6 分别低 19%/2%；RPS 8 时高 49%。</a:t>
            </a:r>
          </a:p>
        </p:txBody>
      </p:sp>
      <p:sp>
        <p:nvSpPr>
          <p:cNvPr id="19" name="settings-18">
            <a:extLst>
              <a:ext uri="{FF2B5EF4-FFF2-40B4-BE49-F238E27FC236}">
                <a16:creationId xmlns:a16="http://schemas.microsoft.com/office/drawing/2014/main" id="{C13A926B-A658-4247-8B9F-AB5A8E332B88}"/>
              </a:ext>
            </a:extLst>
          </p:cNvPr>
          <p:cNvSpPr>
            <a:spLocks noGrp="1"/>
          </p:cNvSpPr>
          <p:nvPr/>
        </p:nvSpPr>
        <p:spPr>
          <a:xfrm>
            <a:off x="609600" y="593407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测试设置：AFD MBT=64K、PR #320 repeat 1/2/3 均值；对照 MBT=8K、重复实验均值；表内单位：秒，红色粗体为同 RPS/分位点最优</a:t>
            </a:r>
          </a:p>
        </p:txBody>
      </p:sp>
      <p:sp>
        <p:nvSpPr>
          <p:cNvPr id="20" name="source-18">
            <a:extLst>
              <a:ext uri="{FF2B5EF4-FFF2-40B4-BE49-F238E27FC236}">
                <a16:creationId xmlns:a16="http://schemas.microsoft.com/office/drawing/2014/main" id="{625E4FDC-62AB-4EC1-A7DD-0FBFB9245B1E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7239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00" b="0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600" b="0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来源：dsv4-flash 最新实验结果（2026-09-08）</a:t>
            </a:r>
          </a:p>
        </p:txBody>
      </p:sp>
      <p:sp>
        <p:nvSpPr>
          <p:cNvPr id="21" name="page-18">
            <a:extLst>
              <a:ext uri="{FF2B5EF4-FFF2-40B4-BE49-F238E27FC236}">
                <a16:creationId xmlns:a16="http://schemas.microsoft.com/office/drawing/2014/main" id="{B8B4653B-D98D-4AFF-B9FE-C66792AAB6CE}"/>
              </a:ext>
            </a:extLst>
          </p:cNvPr>
          <p:cNvSpPr>
            <a:spLocks noGrp="1"/>
          </p:cNvSpPr>
          <p:nvPr/>
        </p:nvSpPr>
        <p:spPr>
          <a:xfrm>
            <a:off x="11315700" y="655320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675" b="0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675" b="0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6902881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-19">
            <a:extLst>
              <a:ext uri="{FF2B5EF4-FFF2-40B4-BE49-F238E27FC236}">
                <a16:creationId xmlns:a16="http://schemas.microsoft.com/office/drawing/2014/main" id="{E69D4F3A-EEA3-463F-92AA-80B873264834}"/>
              </a:ext>
            </a:extLst>
          </p:cNvPr>
          <p:cNvSpPr>
            <a:spLocks noGrp="1"/>
          </p:cNvSpPr>
          <p:nvPr/>
        </p:nvSpPr>
        <p:spPr>
          <a:xfrm>
            <a:off x="609600" y="209550"/>
            <a:ext cx="228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825" b="1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ASYNC PREFILL RESULTS</a:t>
            </a:r>
          </a:p>
        </p:txBody>
      </p:sp>
      <p:sp>
        <p:nvSpPr>
          <p:cNvPr id="2" name="title-19">
            <a:extLst>
              <a:ext uri="{FF2B5EF4-FFF2-40B4-BE49-F238E27FC236}">
                <a16:creationId xmlns:a16="http://schemas.microsoft.com/office/drawing/2014/main" id="{7219CEE5-4D23-4BAA-B2ED-5C41034656F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66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AFD DP6TP4 与双 EP16 + Router：TTFT 分位对比（对照 MBT 16K）</a:t>
            </a:r>
          </a:p>
        </p:txBody>
      </p:sp>
      <p:sp>
        <p:nvSpPr>
          <p:cNvPr id="3" name="title-rule-19">
            <a:extLst>
              <a:ext uri="{FF2B5EF4-FFF2-40B4-BE49-F238E27FC236}">
                <a16:creationId xmlns:a16="http://schemas.microsoft.com/office/drawing/2014/main" id="{F8AA21BB-14DC-4860-A664-95B41D17612A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1428750" cy="28575"/>
          </a:xfrm>
          <a:prstGeom prst="rect">
            <a:avLst/>
          </a:prstGeom>
          <a:solidFill>
            <a:srgbClr val="C00000"/>
          </a:solidFill>
          <a:ln w="0">
            <a:solidFill>
              <a:srgbClr val="C00000"/>
            </a:solidFill>
            <a:prstDash val="solid"/>
          </a:ln>
        </p:spPr>
      </p:sp>
      <p:sp>
        <p:nvSpPr>
          <p:cNvPr id="4" name="metadata-bg-19">
            <a:extLst>
              <a:ext uri="{FF2B5EF4-FFF2-40B4-BE49-F238E27FC236}">
                <a16:creationId xmlns:a16="http://schemas.microsoft.com/office/drawing/2014/main" id="{F0BA56CF-F66C-4D89-B3D2-23841D88D459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972800" cy="40005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model-19">
            <a:extLst>
              <a:ext uri="{FF2B5EF4-FFF2-40B4-BE49-F238E27FC236}">
                <a16:creationId xmlns:a16="http://schemas.microsoft.com/office/drawing/2014/main" id="{9C42A91C-CE1C-48D1-B0A3-89BCA0BB8930}"/>
              </a:ext>
            </a:extLst>
          </p:cNvPr>
          <p:cNvSpPr>
            <a:spLocks noGrp="1"/>
          </p:cNvSpPr>
          <p:nvPr/>
        </p:nvSpPr>
        <p:spPr>
          <a:xfrm>
            <a:off x="800100" y="10953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234CA5"/>
                </a:solidFill>
                <a:latin typeface="微软雅黑"/>
                <a:ea typeface="微软雅黑"/>
                <a:cs typeface="微软雅黑"/>
              </a:rPr>
              <a:t>模型：dsv4-flash</a:t>
            </a:r>
          </a:p>
        </p:txBody>
      </p:sp>
      <p:sp>
        <p:nvSpPr>
          <p:cNvPr id="6" name="comparison-19">
            <a:extLst>
              <a:ext uri="{FF2B5EF4-FFF2-40B4-BE49-F238E27FC236}">
                <a16:creationId xmlns:a16="http://schemas.microsoft.com/office/drawing/2014/main" id="{82E15972-E175-4893-8A0C-3C4F27F7165F}"/>
              </a:ext>
            </a:extLst>
          </p:cNvPr>
          <p:cNvSpPr>
            <a:spLocks noGrp="1"/>
          </p:cNvSpPr>
          <p:nvPr/>
        </p:nvSpPr>
        <p:spPr>
          <a:xfrm>
            <a:off x="3143250" y="109537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4F8A1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4F8A10"/>
                </a:solidFill>
                <a:latin typeface="微软雅黑"/>
                <a:ea typeface="微软雅黑"/>
                <a:cs typeface="微软雅黑"/>
              </a:rPr>
              <a:t>对比：AFD DP6TP4 + EP8（PR #320） vs. 2×DP4TP4 EP16 + Router</a:t>
            </a:r>
          </a:p>
        </p:txBody>
      </p:sp>
      <p:sp>
        <p:nvSpPr>
          <p:cNvPr id="7" name="hardware-19">
            <a:extLst>
              <a:ext uri="{FF2B5EF4-FFF2-40B4-BE49-F238E27FC236}">
                <a16:creationId xmlns:a16="http://schemas.microsoft.com/office/drawing/2014/main" id="{67DDBB45-8694-43D2-AFB8-0DAA4F8F695C}"/>
              </a:ext>
            </a:extLst>
          </p:cNvPr>
          <p:cNvSpPr>
            <a:spLocks noGrp="1"/>
          </p:cNvSpPr>
          <p:nvPr/>
        </p:nvSpPr>
        <p:spPr>
          <a:xfrm>
            <a:off x="9144000" y="1095375"/>
            <a:ext cx="2247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06A00"/>
                </a:solidFill>
                <a:latin typeface="微软雅黑"/>
                <a:ea typeface="微软雅黑"/>
                <a:cs typeface="微软雅黑"/>
              </a:rPr>
              <a:t>硬件：Ascend 910C</a:t>
            </a:r>
          </a:p>
        </p:txBody>
      </p:sp>
      <p:sp>
        <p:nvSpPr>
          <p:cNvPr id="8" name="chart-heading-19">
            <a:extLst>
              <a:ext uri="{FF2B5EF4-FFF2-40B4-BE49-F238E27FC236}">
                <a16:creationId xmlns:a16="http://schemas.microsoft.com/office/drawing/2014/main" id="{B70E27E8-10C0-42D3-AD61-7DC90EF97165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7162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不同 RPS 下的 TTFT 分位点（纵轴：秒）</a:t>
            </a:r>
          </a:p>
        </p:txBody>
      </p:sp>
      <p:sp>
        <p:nvSpPr>
          <p:cNvPr id="9" name="table-heading-19">
            <a:extLst>
              <a:ext uri="{FF2B5EF4-FFF2-40B4-BE49-F238E27FC236}">
                <a16:creationId xmlns:a16="http://schemas.microsoft.com/office/drawing/2014/main" id="{6076A876-53C6-45C5-A297-F29C10043072}"/>
              </a:ext>
            </a:extLst>
          </p:cNvPr>
          <p:cNvSpPr>
            <a:spLocks noGrp="1"/>
          </p:cNvSpPr>
          <p:nvPr/>
        </p:nvSpPr>
        <p:spPr>
          <a:xfrm>
            <a:off x="7772400" y="14668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TTFT 明细（秒）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="609600" y="1724025"/>
          <a:ext cx="223837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"/>
          <p:cNvGraphicFramePr/>
          <p:nvPr/>
        </p:nvGraphicFramePr>
        <p:xfrm>
          <a:off x="3019425" y="1724025"/>
          <a:ext cx="223837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="5429250" y="1724025"/>
          <a:ext cx="223837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4" name="Chart"/>
          <p:cNvGraphicFramePr/>
          <p:nvPr/>
        </p:nvGraphicFramePr>
        <p:xfrm>
          <a:off x="990600" y="3524250"/>
          <a:ext cx="3048000" cy="1809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="4238625" y="3524250"/>
          <a:ext cx="3048000" cy="1809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6" name="ttft-table-19"/>
          <p:cNvGraphicFramePr/>
          <p:nvPr/>
        </p:nvGraphicFramePr>
        <p:xfrm>
          <a:off x="7772400" y="1724025"/>
          <a:ext cx="3810000" cy="4191008"/>
        </p:xfrm>
        <a:graphic>
          <a:graphicData uri="http://schemas.openxmlformats.org/drawingml/2006/table">
            <a:tbl>
              <a:tblPr/>
              <a:tblGrid>
                <a:gridCol w="53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3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3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93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RPS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分位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AFD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对照</a:t>
                      </a:r>
                    </a:p>
                  </a:txBody>
                  <a:tcPr marL="28575" marR="28575" marT="19050" marB="19050"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938">
                <a:tc rowSpan="5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1.24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3.57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1.75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4.80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4.06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7.98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5.26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9.51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7.13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12.27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938">
                <a:tc rowSpan="5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4.78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3.36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5.94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7.18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9.99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8.51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11.56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11.27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14.68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938">
                <a:tc rowSpan="5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8.18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5.90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P50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10.96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7.86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P90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17.82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12.65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P95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20.01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14.21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938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P99</a:t>
                      </a:r>
                    </a:p>
                  </a:txBody>
                  <a:tcPr marL="28575" marR="28575" marT="19050" marB="19050" anchor="ctr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24.96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17.25</a:t>
                      </a:r>
                    </a:p>
                  </a:txBody>
                  <a:tcPr marL="28575" marR="28575" marT="19050" marB="190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8" name="conclusion-19">
            <a:extLst>
              <a:ext uri="{FF2B5EF4-FFF2-40B4-BE49-F238E27FC236}">
                <a16:creationId xmlns:a16="http://schemas.microsoft.com/office/drawing/2014/main" id="{0F3D35BB-BE8D-40C3-8B4B-6C5E5DA3CB2F}"/>
              </a:ext>
            </a:extLst>
          </p:cNvPr>
          <p:cNvSpPr>
            <a:spLocks noGrp="1"/>
          </p:cNvSpPr>
          <p:nvPr/>
        </p:nvSpPr>
        <p:spPr>
          <a:xfrm>
            <a:off x="609600" y="5486400"/>
            <a:ext cx="69532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AFD 的 P99 在 RPS 4/6 分别低 42%/23%；RPS 8 时高 45%。</a:t>
            </a:r>
          </a:p>
        </p:txBody>
      </p:sp>
      <p:sp>
        <p:nvSpPr>
          <p:cNvPr id="19" name="settings-19">
            <a:extLst>
              <a:ext uri="{FF2B5EF4-FFF2-40B4-BE49-F238E27FC236}">
                <a16:creationId xmlns:a16="http://schemas.microsoft.com/office/drawing/2014/main" id="{5F013518-E2FD-41B3-9E11-59317428C101}"/>
              </a:ext>
            </a:extLst>
          </p:cNvPr>
          <p:cNvSpPr>
            <a:spLocks noGrp="1"/>
          </p:cNvSpPr>
          <p:nvPr/>
        </p:nvSpPr>
        <p:spPr>
          <a:xfrm>
            <a:off x="609600" y="593407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测试设置：AFD MBT=64K、PR #320 repeat 1/2/3 均值；对照 MBT=16K、重复实验均值；表内单位：秒，红色粗体为同 RPS/分位点最优</a:t>
            </a:r>
          </a:p>
        </p:txBody>
      </p:sp>
      <p:sp>
        <p:nvSpPr>
          <p:cNvPr id="20" name="source-19">
            <a:extLst>
              <a:ext uri="{FF2B5EF4-FFF2-40B4-BE49-F238E27FC236}">
                <a16:creationId xmlns:a16="http://schemas.microsoft.com/office/drawing/2014/main" id="{D9756635-4A74-4D55-B5ED-FCD0DE3C3B0C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7239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00" b="0">
                <a:solidFill>
                  <a:srgbClr val="898989"/>
                </a:solidFill>
                <a:latin typeface="微软雅黑"/>
                <a:ea typeface="微软雅黑"/>
                <a:cs typeface="微软雅黑"/>
              </a:defRPr>
            </a:pPr>
            <a:r>
              <a:rPr sz="600" b="0">
                <a:solidFill>
                  <a:srgbClr val="898989"/>
                </a:solidFill>
                <a:latin typeface="微软雅黑"/>
                <a:ea typeface="微软雅黑"/>
                <a:cs typeface="微软雅黑"/>
              </a:rPr>
              <a:t>来源：dsv4-flash 最新实验结果（2026-09-08）</a:t>
            </a:r>
          </a:p>
        </p:txBody>
      </p:sp>
      <p:sp>
        <p:nvSpPr>
          <p:cNvPr id="21" name="page-19">
            <a:extLst>
              <a:ext uri="{FF2B5EF4-FFF2-40B4-BE49-F238E27FC236}">
                <a16:creationId xmlns:a16="http://schemas.microsoft.com/office/drawing/2014/main" id="{AA533967-E36C-4047-BF90-FF71D0259BBD}"/>
              </a:ext>
            </a:extLst>
          </p:cNvPr>
          <p:cNvSpPr>
            <a:spLocks noGrp="1"/>
          </p:cNvSpPr>
          <p:nvPr/>
        </p:nvSpPr>
        <p:spPr>
          <a:xfrm>
            <a:off x="11315700" y="655320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675" b="0">
                <a:solidFill>
                  <a:srgbClr val="898989"/>
                </a:solidFill>
                <a:latin typeface="Calibri"/>
                <a:ea typeface="Calibri"/>
                <a:cs typeface="Calibri"/>
              </a:defRPr>
            </a:pPr>
            <a:r>
              <a:rPr sz="675" b="0">
                <a:solidFill>
                  <a:srgbClr val="898989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5679152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17254</Words>
  <Application>Microsoft Macintosh PowerPoint</Application>
  <DocSecurity>0</DocSecurity>
  <PresentationFormat>宽屏</PresentationFormat>
  <Paragraphs>1396</Paragraphs>
  <Slides>27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32" baseType="lpstr">
      <vt:lpstr>微软雅黑</vt:lpstr>
      <vt:lpstr>Arial</vt:lpstr>
      <vt:lpstr>Calibri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wentiange</cp:lastModifiedBy>
  <cp:revision>3</cp:revision>
  <dcterms:created xsi:type="dcterms:W3CDTF">2026-09-08T06:14:25Z</dcterms:created>
  <dcterms:modified xsi:type="dcterms:W3CDTF">2026-09-10T02:36:40Z</dcterms:modified>
</cp:coreProperties>
</file>